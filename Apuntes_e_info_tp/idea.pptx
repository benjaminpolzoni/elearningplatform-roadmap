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jxmHazpMuPoEAiOFQHs1iOOZgn5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Ramiro Ibazet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03T00:51:37.157">
    <p:pos x="6000" y="0"/>
    <p:text>Agregar public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FLcsK6k"/>
      </p:ext>
    </p:extLst>
  </p:cm>
  <p:cm authorId="0" idx="2" dt="2026-09-03T00:51:37.157">
    <p:pos x="6000" y="0"/>
    <p:text>routeguard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CFLcsK6o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Presentación técnica completa del API Gateway y Service Discovery para el proyecto.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Introducir la diferencia entre el componente que recibe tráfico y el registro que informa instancias.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https://docs.spring.io/spring-cloud-gateway/reference/spring-cloud-gateway-server-webflux/the-discoveryclient-route-definition-locator.html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https://docs.spring.io/spring-cloud-netflix/reference/spring-cloud-netflix.html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exclusividad del Gateway depende de la red, no solo del código. Mostrar que Eureka no está en el camino del request.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https://kubernetes.io/docs/concepts/services-networking/network-policies/</a:t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Distinguir autorización técnica de autorización funcional. El Gateway sí puede rechazar una ruta interna por política técnica.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https://docs.spring.io/spring-security/reference/servlet/oauth2/resource-server/jwt.html</a:t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Explicar que el catálogo público y el registro de instancias resuelven problemas distintos. La opción elegida es dinámica, pero gobernada.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https://docs.spring.io/spring-cloud-gateway/reference/spring-cloud-gateway-server-webflux/the-discoveryclient-route-definition-locator.html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https://docs.spring.io/spring-cloud-gateway/reference/appendix.html</a:t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Subrayar la diferencia entre ruta externa, ruta interna y path enviado al backend.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https://docs.spring.io/spring-cloud-gateway/reference/spring-cloud-gateway-server-webflux/the-discoveryclient-route-definition-locator.html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https://docs.spring.io/spring-security/reference/servlet/oauth2/resource-server/jwt.html</a:t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El runtime toma spring.application.name; el repo conserva una convención organizativa.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https://docs.spring.io/spring-cloud-gateway/reference/appendix.html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https://docs.spring.io/spring-cloud-netflix/reference/spring-cloud-netflix.html</a:t>
            </a:r>
            <a:endParaRPr/>
          </a:p>
        </p:txBody>
      </p:sp>
      <p:sp>
        <p:nvSpPr>
          <p:cNvPr id="195" name="Google Shape;19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El orden de filtros debe comprobarse en integración. W3C Trace Context conecta trazas entre procesos.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https://docs.spring.io/spring-security/reference/servlet/oauth2/resource-server/jwt.html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https://opentelemetry.io/docs/concepts/context-propagation/</a:t>
            </a:r>
            <a:endParaRPr/>
          </a:p>
        </p:txBody>
      </p:sp>
      <p:sp>
        <p:nvSpPr>
          <p:cNvPr id="223" name="Google Shape;22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Usar los cuatro escenarios para anticipar las secuencias detalladas y los códigos de error.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https://docs.spring.io/spring-cloud-gateway/reference/spring-cloud-gateway-server-webflux/gatewayfilter-factories/circuitbreaker-filter-factory.html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https://www.rfc-editor.org/info/rfc9457/</a:t>
            </a:r>
            <a:endParaRPr/>
          </a:p>
        </p:txBody>
      </p:sp>
      <p:sp>
        <p:nvSpPr>
          <p:cNvPr id="268" name="Google Shape;26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autenticación finaliza en el Gateway; la autorización funcional permanece en el dueño del dominio.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https://docs.spring.io/spring-security/reference/servlet/oauth2/resource-server/jwt.html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https://opentelemetry.io/docs/concepts/context-propagation/</a:t>
            </a:r>
            <a:endParaRPr/>
          </a:p>
        </p:txBody>
      </p:sp>
      <p:sp>
        <p:nvSpPr>
          <p:cNvPr id="297" name="Google Shape;29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Definir antes de implementar cómo obtiene credenciales cada servicio y cómo se conserva el usuario originador.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https://docs.spring.io/spring-security/reference/servlet/oauth2/resource-server/jwt.html</a:t>
            </a:r>
            <a:endParaRPr/>
          </a:p>
        </p:txBody>
      </p:sp>
      <p:sp>
        <p:nvSpPr>
          <p:cNvPr id="337" name="Google Shape;33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8babdb202_0_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f8babdb202_0_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f8babdb202_0_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Mapa de componentes esperado; los nombres exactos se confirman contra el repositorio antes de cerrar la implementación.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https://docs.spring.io/spring-cloud-gateway/reference/spring-cloud-gateway-server-webflux/the-discoveryclient-route-definition-locator.html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https://docs.spring.io/spring-cloud-gateway/reference/spring-cloud-gateway-server-webflux/http-timeouts-configuration.html</a:t>
            </a:r>
            <a:endParaRPr/>
          </a:p>
        </p:txBody>
      </p:sp>
      <p:sp>
        <p:nvSpPr>
          <p:cNvPr id="385" name="Google Shape;38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El downstream solo confía en headers si la red impide el bypass. Los errores usan un formato estable.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https://docs.spring.io/spring-security/reference/servlet/oauth2/resource-server/jwt.html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https://kubernetes.io/docs/concepts/services-networking/network-policies/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https://www.rfc-editor.org/info/rfc9457/</a:t>
            </a:r>
            <a:endParaRPr/>
          </a:p>
        </p:txBody>
      </p:sp>
      <p:sp>
        <p:nvSpPr>
          <p:cNvPr id="471" name="Google Shape;47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2" name="Google Shape;502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Los endpoints operativos deben quedar en una red o puerto de management y el fallback se invoca internamente.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https://docs.spring.io/spring-cloud-gateway/reference/spring-cloud-gateway-server-webflux/gatewayfilter-factories/circuitbreaker-filter-factory.html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https://docs.spring.io/spring-cloud-gateway/reference/appendix.html</a:t>
            </a:r>
            <a:endParaRPr/>
          </a:p>
        </p:txBody>
      </p:sp>
      <p:sp>
        <p:nvSpPr>
          <p:cNvPr id="503" name="Google Shape;503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6" name="Google Shape;526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Heartbeat renueva el lease; no equivale automáticamente a readiness de Actuator.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https://docs.spring.io/spring-cloud-netflix/reference/spring-cloud-netflix.html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https://docs.spring.io/spring-cloud-netflix/reference/configprops.html</a:t>
            </a:r>
            <a:endParaRPr/>
          </a:p>
        </p:txBody>
      </p:sp>
      <p:sp>
        <p:nvSpPr>
          <p:cNvPr id="527" name="Google Shape;527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1" name="Google Shape;561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Eureka y el Gateway mantienen cachés. La baja puede ser eventual, por eso se conservan timeouts y breaker.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https://docs.spring.io/spring-cloud-netflix/reference/spring-cloud-netflix.html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https://docs.spring.io/spring-cloud-netflix/reference/configprops.html</a:t>
            </a:r>
            <a:endParaRPr/>
          </a:p>
        </p:txBody>
      </p:sp>
      <p:sp>
        <p:nvSpPr>
          <p:cNvPr id="562" name="Google Shape;562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1" name="Google Shape;601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fetch-registry=false es una decisión válida solo si los micros encuentran al Gateway mediante DNS interno u otra dirección estable.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https://docs.spring.io/spring-cloud-netflix/reference/configprops.html</a:t>
            </a:r>
            <a:endParaRPr/>
          </a:p>
        </p:txBody>
      </p:sp>
      <p:sp>
        <p:nvSpPr>
          <p:cNvPr id="602" name="Google Shape;602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7" name="Google Shape;627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propiedad exacta depende de la versión del release train. Fijar versiones antes de copiar configuración.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https://docs.spring.io/spring-cloud-gateway/reference/spring-cloud-gateway-server-webflux/the-discoveryclient-route-definition-locator.html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https://docs.spring.io/spring-cloud-gateway/reference/appendix.html</a:t>
            </a:r>
            <a:endParaRPr/>
          </a:p>
        </p:txBody>
      </p:sp>
      <p:sp>
        <p:nvSpPr>
          <p:cNvPr id="628" name="Google Shape;628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7" name="Google Shape;657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El locator por defecto incluye RewritePath; este proyecto debe fijar y probar el path final que recibe el backend.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https://docs.spring.io/spring-cloud-gateway/reference/spring-cloud-gateway-server-webflux/the-discoveryclient-route-definition-locator.html</a:t>
            </a:r>
            <a:endParaRPr/>
          </a:p>
        </p:txBody>
      </p:sp>
      <p:sp>
        <p:nvSpPr>
          <p:cNvPr id="658" name="Google Shape;658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7" name="Google Shape;697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El retry reejecuta filtros posteriores y puede almacenar bodies; limitarlo a operaciones seguras.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https://docs.spring.io/spring-cloud-gateway/reference/spring-cloud-gateway-server-webflux/http-timeouts-configuration.html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https://docs.spring.io/spring-cloud-gateway/reference/spring-cloud-gateway-server-webflux/gatewayfilter-factories/retry-factory.html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https://docs.spring.io/spring-cloud-gateway/reference/spring-cloud-gateway-server-webflux/gatewayfilter-factories/circuitbreaker-filter-factory.html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https://opentelemetry.io/docs/concepts/context-propagation/</a:t>
            </a:r>
            <a:endParaRPr/>
          </a:p>
        </p:txBody>
      </p:sp>
      <p:sp>
        <p:nvSpPr>
          <p:cNvPr id="698" name="Google Shape;698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4" name="Google Shape;724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Estas pruebas funcionan como contrato de integración para el equipo Gateway y los equipos de microservicios.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https://docs.spring.io/spring-cloud-gateway/reference/spring-cloud-gateway-server-webflux/the-discoveryclient-route-definition-locator.html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https://docs.spring.io/spring-cloud-netflix/reference/configprops.html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https://docs.spring.io/spring-security/reference/servlet/oauth2/resource-server/jwt.html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https://docs.spring.io/spring-cloud-gateway/reference/spring-cloud-gateway-server-webflux/gatewayfilter-factories/retry-factory.html</a:t>
            </a:r>
            <a:endParaRPr/>
          </a:p>
        </p:txBody>
      </p:sp>
      <p:sp>
        <p:nvSpPr>
          <p:cNvPr id="725" name="Google Shape;725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3" name="Google Shape;753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Cerrar con decisiones verificables y con una Definition of Done, no con supuestos.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https://docs.spring.io/spring-cloud-gateway/reference/spring-cloud-gateway-server-webflux/the-discoveryclient-route-definition-locator.html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https://docs.spring.io/spring-cloud-netflix/reference/spring-cloud-netflix.html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https://docs.spring.io/spring-security/reference/servlet/oauth2/resource-server/jwt.html</a:t>
            </a:r>
            <a:endParaRPr/>
          </a:p>
        </p:txBody>
      </p:sp>
      <p:sp>
        <p:nvSpPr>
          <p:cNvPr id="754" name="Google Shape;754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1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22960" y="187452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COMPONENTE DE BORDE  ·  TEMA 01  ·  UTN FRC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API Gateway y Service Discovery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361188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Cómo funciona la única puerta de entrada del sistema, y cómo los microservicios se encuentran entre sí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4892040"/>
            <a:ext cx="1280160" cy="27432"/>
          </a:xfrm>
          <a:prstGeom prst="rect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Pipeline de filtros  ·  Ruteo  ·  Eureka  ·  Resiliencia  ·  Contratos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Dos conceptos previos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Qué problema resuelve cada componente antes de entrar en el diseño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94360" y="1417320"/>
            <a:ext cx="5394960" cy="2377440"/>
          </a:xfrm>
          <a:prstGeom prst="roundRect">
            <a:avLst>
              <a:gd fmla="val 1538" name="adj"/>
            </a:avLst>
          </a:prstGeom>
          <a:solidFill>
            <a:srgbClr val="EAF2F5"/>
          </a:solidFill>
          <a:ln cap="flat" cmpd="sng" w="12700">
            <a:solidFill>
              <a:srgbClr val="BFD8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914400" y="162763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FA8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E8FA8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914400" y="2011680"/>
            <a:ext cx="4754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445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B4450"/>
                </a:solidFill>
                <a:latin typeface="Calibri"/>
                <a:ea typeface="Calibri"/>
                <a:cs typeface="Calibri"/>
                <a:sym typeface="Calibri"/>
              </a:rPr>
              <a:t>Intermediario entre clientes y microservicios. Recibe las peticiones y centraliza autenticación, ruteo, límites, trazabilidad y políticas técnicas antes de reenviarlas.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14400" y="310896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Evita que el cliente conozca cada dirección y que todos los microservicios repitan las mismas tareas transversales.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172200" y="1417320"/>
            <a:ext cx="5394960" cy="2377440"/>
          </a:xfrm>
          <a:prstGeom prst="roundRect">
            <a:avLst>
              <a:gd fmla="val 1538" name="adj"/>
            </a:avLst>
          </a:prstGeom>
          <a:solidFill>
            <a:srgbClr val="EBE7F7"/>
          </a:solidFill>
          <a:ln cap="flat" cmpd="sng" w="12700">
            <a:solidFill>
              <a:srgbClr val="CFC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92240" y="162763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B9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5B4B9E"/>
                </a:solidFill>
                <a:latin typeface="Calibri"/>
                <a:ea typeface="Calibri"/>
                <a:cs typeface="Calibri"/>
                <a:sym typeface="Calibri"/>
              </a:rPr>
              <a:t>SERVICE DISCOVERY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492240" y="2011680"/>
            <a:ext cx="4754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35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A3358"/>
                </a:solidFill>
                <a:latin typeface="Calibri"/>
                <a:ea typeface="Calibri"/>
                <a:cs typeface="Calibri"/>
                <a:sym typeface="Calibri"/>
              </a:rPr>
              <a:t>Registro donde cada microservicio publica su nombre lógico, ubicación y estado. El Gateway consulta ese registro para resolver instancias sin guardar direcciones fijas.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92240" y="310896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Permite que un contenedor cambie de host o IP sin modificar las rutas externas.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94360" y="4069080"/>
            <a:ext cx="10927080" cy="1371600"/>
          </a:xfrm>
          <a:prstGeom prst="roundRect">
            <a:avLst>
              <a:gd fmla="val 2667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60120" y="425196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FA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8FA8"/>
                </a:solidFill>
                <a:latin typeface="Calibri"/>
                <a:ea typeface="Calibri"/>
                <a:cs typeface="Calibri"/>
                <a:sym typeface="Calibri"/>
              </a:rPr>
              <a:t>Una analogía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960120" y="457200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El Gateway es la recepción: única entrada, controla credenciales y dirige. Eureka es el directorio interno que informa dónde está disponible cada oficina.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94360" y="56692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En este proyecto: Spring Cloud Gateway WebFlux como gateway y Netflix Eureka como service discovery.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La puerta única también se impone en la red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El Gateway transporta requests; Eureka solo informa ubicaciones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9436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645920" y="1783080"/>
            <a:ext cx="548640" cy="548640"/>
          </a:xfrm>
          <a:prstGeom prst="ellipse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64592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73152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FA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8FA8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82296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Web, móvil e integraciones externas solo conocen la URL pública del Gateway.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273552" y="251460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47472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526280" y="1783080"/>
            <a:ext cx="548640" cy="548640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52628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61188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7D53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70332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Único puerto publicado. Valida credenciales, aplica políticas técnicas y reenvía.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153912" y="251460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35508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406640" y="1783080"/>
            <a:ext cx="548640" cy="548640"/>
          </a:xfrm>
          <a:prstGeom prst="ellipse">
            <a:avLst/>
          </a:prstGeom>
          <a:solidFill>
            <a:srgbClr val="5B4B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40664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49224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4B9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5B4B9E"/>
                </a:solidFill>
                <a:latin typeface="Calibri"/>
                <a:ea typeface="Calibri"/>
                <a:cs typeface="Calibri"/>
                <a:sym typeface="Calibri"/>
              </a:rPr>
              <a:t>MICROSERVICIOS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58368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Puertos privados. Reciben tráfico del Gateway y autorizan reglas de negocio.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034272" y="251460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23544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0287000" y="1783080"/>
            <a:ext cx="548640" cy="548640"/>
          </a:xfrm>
          <a:prstGeom prst="ellipse">
            <a:avLst/>
          </a:prstGeom>
          <a:solidFill>
            <a:srgbClr val="A8324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028700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37260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324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A83248"/>
                </a:solidFill>
                <a:latin typeface="Calibri"/>
                <a:ea typeface="Calibri"/>
                <a:cs typeface="Calibri"/>
                <a:sym typeface="Calibri"/>
              </a:rPr>
              <a:t>EUREKA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46404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Plano de control: registra instancias. No transporta requests de negocio.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94360" y="3931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Regla de infraestructura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94360" y="4343400"/>
            <a:ext cx="10927080" cy="1371600"/>
          </a:xfrm>
          <a:prstGeom prst="roundRect">
            <a:avLst>
              <a:gd fmla="val 2667" name="adj"/>
            </a:avLst>
          </a:prstGeom>
          <a:solidFill>
            <a:srgbClr val="141B3D"/>
          </a:solidFill>
          <a:ln cap="flat" cmpd="sng" w="12700">
            <a:solidFill>
              <a:srgbClr val="141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914400" y="4408225"/>
            <a:ext cx="10332600" cy="12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00"/>
              <a:buFont typeface="Courier New"/>
              <a:buNone/>
            </a:pPr>
            <a:r>
              <a:rPr lang="en-US" sz="130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Internet → API Gateway → microservicio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micro A → API Gateway → micro 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BLOQUEADO: Internet → micro · micro A → micro B directo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Docker: red privada sin publicar puertos · Kubernetes: ClusterIP + NetworkPolicy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¿Qué hace realmente el API Gateway?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Infraestructura con autorización técnica, pero sin decisiones de dominio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94360" y="1463040"/>
            <a:ext cx="5394960" cy="4114800"/>
          </a:xfrm>
          <a:prstGeom prst="roundRect">
            <a:avLst>
              <a:gd fmla="val 889" name="adj"/>
            </a:avLst>
          </a:prstGeom>
          <a:solidFill>
            <a:srgbClr val="E9F3EE"/>
          </a:solidFill>
          <a:ln cap="flat" cmpd="sng" w="12700">
            <a:solidFill>
              <a:srgbClr val="C3DF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914400" y="16916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E7D53"/>
                </a:solidFill>
                <a:latin typeface="Calibri"/>
                <a:ea typeface="Calibri"/>
                <a:cs typeface="Calibri"/>
                <a:sym typeface="Calibri"/>
              </a:rPr>
              <a:t>SÍ hace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960120" y="2167128"/>
            <a:ext cx="182880" cy="182880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280160" y="210312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Puerta única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017520" y="21031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Es el único componente expuesto; la red bloquea accesos directos.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960120" y="2642616"/>
            <a:ext cx="182880" cy="182880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280160" y="257860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Autenticar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017520" y="257860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Valida firma, issuer, audience, algoritmo y vigencia del JWT.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960120" y="3118104"/>
            <a:ext cx="182880" cy="182880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280160" y="3054096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Rutear dinámico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017520" y="305409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Expone servicios admitidos y resuelve instancias mediante Eureka.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960120" y="3593592"/>
            <a:ext cx="182880" cy="182880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280160" y="3529584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Propagar identidad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017520" y="352958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Reemplaza headers entrantes y propaga usuario o servicio verificado.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960120" y="4069080"/>
            <a:ext cx="182880" cy="182880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280160" y="400507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Proteger rutas internas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017520" y="400507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Iexige token y rol de servicio válido.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960120" y="4544568"/>
            <a:ext cx="182880" cy="182880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280160" y="44805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Proteger (resiliencia)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017520" y="44805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Aplica timeouts, límites, retry idempotente y circuit breaker.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960120" y="5020056"/>
            <a:ext cx="182880" cy="182880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280160" y="495604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Observar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017520" y="495604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Propaga trazas y registra métricas y logs sin secretos.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172200" y="1463040"/>
            <a:ext cx="5394960" cy="4114800"/>
          </a:xfrm>
          <a:prstGeom prst="roundRect">
            <a:avLst>
              <a:gd fmla="val 889" name="adj"/>
            </a:avLst>
          </a:prstGeom>
          <a:solidFill>
            <a:srgbClr val="F7E9EC"/>
          </a:solidFill>
          <a:ln cap="flat" cmpd="sng" w="12700">
            <a:solidFill>
              <a:srgbClr val="EBC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492240" y="16916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3248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A83248"/>
                </a:solidFill>
                <a:latin typeface="Calibri"/>
                <a:ea typeface="Calibri"/>
                <a:cs typeface="Calibri"/>
                <a:sym typeface="Calibri"/>
              </a:rPr>
              <a:t>NO hace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537960" y="2167128"/>
            <a:ext cx="182880" cy="182880"/>
          </a:xfrm>
          <a:prstGeom prst="ellipse">
            <a:avLst/>
          </a:prstGeom>
          <a:solidFill>
            <a:srgbClr val="A8324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858000" y="2103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Autorizar negocio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641080" y="21031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Qué puede hacer cada rol lo decide el microservicio.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537960" y="2715768"/>
            <a:ext cx="182880" cy="182880"/>
          </a:xfrm>
          <a:prstGeom prst="ellipse">
            <a:avLst/>
          </a:prstGeom>
          <a:solidFill>
            <a:srgbClr val="A8324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858000" y="26517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Resolver ownership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641080" y="26517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¿Es su curso o desafío? Lo decide el dueño del dominio.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537960" y="3264408"/>
            <a:ext cx="182880" cy="182880"/>
          </a:xfrm>
          <a:prstGeom prst="ellipse">
            <a:avLst/>
          </a:prstGeom>
          <a:solidFill>
            <a:srgbClr val="A8324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858000" y="320040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Conocer dominios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8641080" y="32004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No sabe qué es un curso, un legajo ni un desafío.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537960" y="3813048"/>
            <a:ext cx="182880" cy="182880"/>
          </a:xfrm>
          <a:prstGeom prst="ellipse">
            <a:avLst/>
          </a:prstGeom>
          <a:solidFill>
            <a:srgbClr val="A8324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858000" y="3749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Emitir tokens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8641080" y="3749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Eso pertenece a users-service; el Gateway solo valida.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537960" y="4361688"/>
            <a:ext cx="182880" cy="182880"/>
          </a:xfrm>
          <a:prstGeom prst="ellipse">
            <a:avLst/>
          </a:prstGeom>
          <a:solidFill>
            <a:srgbClr val="A8324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858000" y="4297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Guardar permisos de dominio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641080" y="429768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No mantiene una base de negocio ni un mapa funcional de roles.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537960" y="4910328"/>
            <a:ext cx="182880" cy="182880"/>
          </a:xfrm>
          <a:prstGeom prst="ellipse">
            <a:avLst/>
          </a:prstGeom>
          <a:solidFill>
            <a:srgbClr val="A8324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858000" y="48463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Guardar sesión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641080" y="48463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La validación es stateless: verifica el token, no una sesión local.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 una decisión necesita datos del dominio, pertenece al micro; si protege la frontera técnica, puede pertenecer al Gateway.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Ruteo estático vs. dinámico gobernado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Eureka resuelve instancias; el Gateway decide qué APIs se exponen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94360" y="1371600"/>
            <a:ext cx="5394960" cy="3931920"/>
          </a:xfrm>
          <a:prstGeom prst="roundRect">
            <a:avLst>
              <a:gd fmla="val 930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914400" y="157276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ESTÁTICO  ·  cada ruta declarada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914400" y="187452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Catálogo central por servicio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914400" y="22402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E7D53"/>
                </a:solidFill>
                <a:latin typeface="Calibri"/>
                <a:ea typeface="Calibri"/>
                <a:cs typeface="Calibri"/>
                <a:sym typeface="Calibri"/>
              </a:rPr>
              <a:t>A FAVOR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914400" y="2487168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4A3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F4A3E"/>
                </a:solidFill>
                <a:latin typeface="Calibri"/>
                <a:ea typeface="Calibri"/>
                <a:cs typeface="Calibri"/>
                <a:sym typeface="Calibri"/>
              </a:rPr>
              <a:t>+   Cada API externa está aprobada explícitamente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914400" y="2743200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4A3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F4A3E"/>
                </a:solidFill>
                <a:latin typeface="Calibri"/>
                <a:ea typeface="Calibri"/>
                <a:cs typeface="Calibri"/>
                <a:sym typeface="Calibri"/>
              </a:rPr>
              <a:t>+   Políticas y paths pueden variar por servicio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914400" y="310896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3248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A83248"/>
                </a:solidFill>
                <a:latin typeface="Calibri"/>
                <a:ea typeface="Calibri"/>
                <a:cs typeface="Calibri"/>
                <a:sym typeface="Calibri"/>
              </a:rPr>
              <a:t>EN CONTRA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914400" y="3355848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53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2532"/>
                </a:solidFill>
                <a:latin typeface="Calibri"/>
                <a:ea typeface="Calibri"/>
                <a:cs typeface="Calibri"/>
                <a:sym typeface="Calibri"/>
              </a:rPr>
              <a:t>−   Alta manual de cada servicio nuevo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914400" y="3611880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53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2532"/>
                </a:solidFill>
                <a:latin typeface="Calibri"/>
                <a:ea typeface="Calibri"/>
                <a:cs typeface="Calibri"/>
                <a:sym typeface="Calibri"/>
              </a:rPr>
              <a:t>−   El catálogo central crece con el proyecto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914400" y="3867912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53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2532"/>
                </a:solidFill>
                <a:latin typeface="Calibri"/>
                <a:ea typeface="Calibri"/>
                <a:cs typeface="Calibri"/>
                <a:sym typeface="Calibri"/>
              </a:rPr>
              <a:t>−   Puede convertirse en cuello de botella del equipo Gateway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914400" y="4123944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53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2532"/>
                </a:solidFill>
                <a:latin typeface="Calibri"/>
                <a:ea typeface="Calibri"/>
                <a:cs typeface="Calibri"/>
                <a:sym typeface="Calibri"/>
              </a:rPr>
              <a:t>−   Repite configuración si todos siguen la misma convención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172200" y="1371600"/>
            <a:ext cx="5394960" cy="3931920"/>
          </a:xfrm>
          <a:prstGeom prst="roundRect">
            <a:avLst>
              <a:gd fmla="val 930" name="adj"/>
            </a:avLst>
          </a:prstGeom>
          <a:solidFill>
            <a:srgbClr val="EAF2F5"/>
          </a:solidFill>
          <a:ln cap="flat" cmpd="sng" w="12700">
            <a:solidFill>
              <a:srgbClr val="2E8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492240" y="157276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FA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E8FA8"/>
                </a:solidFill>
                <a:latin typeface="Calibri"/>
                <a:ea typeface="Calibri"/>
                <a:cs typeface="Calibri"/>
                <a:sym typeface="Calibri"/>
              </a:rPr>
              <a:t>DINÁMICO  ·  nuestra elección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492240" y="187452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El Gateway crea rutas desde servicios admitidos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492240" y="22402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E7D53"/>
                </a:solidFill>
                <a:latin typeface="Calibri"/>
                <a:ea typeface="Calibri"/>
                <a:cs typeface="Calibri"/>
                <a:sym typeface="Calibri"/>
              </a:rPr>
              <a:t>A FAVOR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492240" y="2487168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4A3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F4A3E"/>
                </a:solidFill>
                <a:latin typeface="Calibri"/>
                <a:ea typeface="Calibri"/>
                <a:cs typeface="Calibri"/>
                <a:sym typeface="Calibri"/>
              </a:rPr>
              <a:t>+   Onboarding mediante una convención única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492240" y="2743200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4A3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F4A3E"/>
                </a:solidFill>
                <a:latin typeface="Calibri"/>
                <a:ea typeface="Calibri"/>
                <a:cs typeface="Calibri"/>
                <a:sym typeface="Calibri"/>
              </a:rPr>
              <a:t>+   Eureka aporta las instancias disponibles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492240" y="2999232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4A3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F4A3E"/>
                </a:solidFill>
                <a:latin typeface="Calibri"/>
                <a:ea typeface="Calibri"/>
                <a:cs typeface="Calibri"/>
                <a:sym typeface="Calibri"/>
              </a:rPr>
              <a:t>+   Filtros genéricos se aplican a todos los servicios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6492240" y="3255264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4A3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F4A3E"/>
                </a:solidFill>
                <a:latin typeface="Calibri"/>
                <a:ea typeface="Calibri"/>
                <a:cs typeface="Calibri"/>
                <a:sym typeface="Calibri"/>
              </a:rPr>
              <a:t>+   No hay una ruta escrita por cada microservicio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492240" y="36118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3248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A83248"/>
                </a:solidFill>
                <a:latin typeface="Calibri"/>
                <a:ea typeface="Calibri"/>
                <a:cs typeface="Calibri"/>
                <a:sym typeface="Calibri"/>
              </a:rPr>
              <a:t>RIESGOS A MITIGAR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492240" y="3858768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53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2532"/>
                </a:solidFill>
                <a:latin typeface="Calibri"/>
                <a:ea typeface="Calibri"/>
                <a:cs typeface="Calibri"/>
                <a:sym typeface="Calibri"/>
              </a:rPr>
              <a:t>−   Exposición accidental → allowlist o include-expression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492240" y="4114800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53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2532"/>
                </a:solidFill>
                <a:latin typeface="Calibri"/>
                <a:ea typeface="Calibri"/>
                <a:cs typeface="Calibri"/>
                <a:sym typeface="Calibri"/>
              </a:rPr>
              <a:t>−   API acoplada al serviceId → naming versionado y pruebas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94360" y="5486400"/>
            <a:ext cx="10927080" cy="822960"/>
          </a:xfrm>
          <a:prstGeom prst="roundRect">
            <a:avLst>
              <a:gd fmla="val 4444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Decisión: discovery dinámico gobernado. Eureka informa dónde está cada instancia; el Gateway controla qué servicios se exponen y con qué políticas.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Estándar de rutas y contratos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Discovery locator personalizado: {nombre}-service → /api/{nombre}/**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2354550" y="1410575"/>
            <a:ext cx="3691200" cy="1965900"/>
          </a:xfrm>
          <a:prstGeom prst="roundRect">
            <a:avLst>
              <a:gd fmla="val 1860" name="adj"/>
            </a:avLst>
          </a:prstGeom>
          <a:solidFill>
            <a:srgbClr val="E9F3EE"/>
          </a:solidFill>
          <a:ln cap="flat" cmpd="sng" w="12700">
            <a:solidFill>
              <a:srgbClr val="C3DF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2573511" y="1593455"/>
            <a:ext cx="325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2E7D53"/>
                </a:solidFill>
                <a:latin typeface="Courier New"/>
                <a:ea typeface="Courier New"/>
                <a:cs typeface="Courier New"/>
                <a:sym typeface="Courier New"/>
              </a:rPr>
              <a:t>/api/{nombre}/public/**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2573511" y="2004935"/>
            <a:ext cx="325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4A3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F4A3E"/>
                </a:solidFill>
                <a:latin typeface="Calibri"/>
                <a:ea typeface="Calibri"/>
                <a:cs typeface="Calibri"/>
                <a:sym typeface="Calibri"/>
              </a:rPr>
              <a:t>Pueden ser públicas, autenticadas o internas según la regla del microservicio(usar anotación </a:t>
            </a:r>
            <a:r>
              <a:rPr lang="en-US" sz="1150">
                <a:solidFill>
                  <a:srgbClr val="2F4A3E"/>
                </a:solidFill>
                <a:latin typeface="Calibri"/>
                <a:ea typeface="Calibri"/>
                <a:cs typeface="Calibri"/>
                <a:sym typeface="Calibri"/>
              </a:rPr>
              <a:t>@RolesAllowed)</a:t>
            </a:r>
            <a:r>
              <a:rPr lang="en-US" sz="1150">
                <a:solidFill>
                  <a:srgbClr val="2F4A3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2573511" y="2599295"/>
            <a:ext cx="325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2E7D53"/>
                </a:solidFill>
                <a:latin typeface="Courier New"/>
                <a:ea typeface="Courier New"/>
                <a:cs typeface="Courier New"/>
                <a:sym typeface="Courier New"/>
              </a:rPr>
              <a:t>/api/users/public/auth/login  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94360" y="36576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El {nombre} en la ruta se deriva del serviceId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94360" y="4023360"/>
            <a:ext cx="10927080" cy="914400"/>
          </a:xfrm>
          <a:prstGeom prst="roundRect">
            <a:avLst>
              <a:gd fmla="val 4000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22960" y="41605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B9E"/>
              </a:buClr>
              <a:buSzPts val="1150"/>
              <a:buFont typeface="Courier New"/>
              <a:buNone/>
            </a:pPr>
            <a:r>
              <a:rPr b="1" lang="en-US" sz="1150">
                <a:solidFill>
                  <a:srgbClr val="5B4B9E"/>
                </a:solidFill>
                <a:latin typeface="Courier New"/>
                <a:ea typeface="Courier New"/>
                <a:cs typeface="Courier New"/>
                <a:sym typeface="Courier New"/>
              </a:rPr>
              <a:t>users-service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22960" y="443484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→  /api/users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480560" y="41605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B9E"/>
              </a:buClr>
              <a:buSzPts val="1150"/>
              <a:buFont typeface="Courier New"/>
              <a:buNone/>
            </a:pPr>
            <a:r>
              <a:rPr b="1" lang="en-US" sz="1150">
                <a:solidFill>
                  <a:srgbClr val="5B4B9E"/>
                </a:solidFill>
                <a:latin typeface="Courier New"/>
                <a:ea typeface="Courier New"/>
                <a:cs typeface="Courier New"/>
                <a:sym typeface="Courier New"/>
              </a:rPr>
              <a:t>mailing-service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480560" y="443484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→  /api/mailing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8138160" y="41605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B9E"/>
              </a:buClr>
              <a:buSzPts val="1150"/>
              <a:buFont typeface="Courier New"/>
              <a:buNone/>
            </a:pPr>
            <a:r>
              <a:rPr b="1" lang="en-US" sz="1150">
                <a:solidFill>
                  <a:srgbClr val="5B4B9E"/>
                </a:solidFill>
                <a:latin typeface="Courier New"/>
                <a:ea typeface="Courier New"/>
                <a:cs typeface="Courier New"/>
                <a:sym typeface="Courier New"/>
              </a:rPr>
              <a:t>api-gateway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8138160" y="443484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→  excluido del locator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94360" y="50749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El locator por defecto usa /serviceId/** y RewritePath. Nuestra regla debe declarar el predicate y el path final enviado al backend.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94360" y="5486400"/>
            <a:ext cx="10927080" cy="960120"/>
          </a:xfrm>
          <a:prstGeom prst="roundRect">
            <a:avLst>
              <a:gd fmla="val 3810" name="adj"/>
            </a:avLst>
          </a:prstGeom>
          <a:solidFill>
            <a:srgbClr val="141B3D"/>
          </a:solidFill>
          <a:ln cap="flat" cmpd="sng" w="12700">
            <a:solidFill>
              <a:srgbClr val="141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914400" y="5623560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FA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E8FA8"/>
                </a:solidFill>
                <a:latin typeface="Calibri"/>
                <a:ea typeface="Calibri"/>
                <a:cs typeface="Calibri"/>
                <a:sym typeface="Calibri"/>
              </a:rPr>
              <a:t>Dos excepciones controladas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914400" y="58978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7E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B9C7E8"/>
                </a:solidFill>
                <a:latin typeface="Courier New"/>
                <a:ea typeface="Courier New"/>
                <a:cs typeface="Courier New"/>
                <a:sym typeface="Courier New"/>
              </a:rPr>
              <a:t>/.well-known/jwks.json → endpoint del emisor.   /api/users/auth/token → exige Client Credentials o mTLS; nunca queda abierto.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240750" y="1410575"/>
            <a:ext cx="3691200" cy="1965900"/>
          </a:xfrm>
          <a:prstGeom prst="roundRect">
            <a:avLst>
              <a:gd fmla="val 1860" name="adj"/>
            </a:avLst>
          </a:prstGeom>
          <a:solidFill>
            <a:srgbClr val="E9F3EE"/>
          </a:solidFill>
          <a:ln cap="flat" cmpd="sng" w="12700">
            <a:solidFill>
              <a:srgbClr val="C3DF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459711" y="1593455"/>
            <a:ext cx="325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1600"/>
              <a:buFont typeface="Courier New"/>
              <a:buNone/>
            </a:pPr>
            <a:r>
              <a:rPr b="1" lang="en-US" sz="1600">
                <a:solidFill>
                  <a:srgbClr val="2E7D53"/>
                </a:solidFill>
                <a:latin typeface="Courier New"/>
                <a:ea typeface="Courier New"/>
                <a:cs typeface="Courier New"/>
                <a:sym typeface="Courier New"/>
              </a:rPr>
              <a:t>/api/{nombre}/**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6459711" y="2004935"/>
            <a:ext cx="325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4A3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F4A3E"/>
                </a:solidFill>
                <a:latin typeface="Calibri"/>
                <a:ea typeface="Calibri"/>
                <a:cs typeface="Calibri"/>
                <a:sym typeface="Calibri"/>
              </a:rPr>
              <a:t>Pueden ser públicas, autenticadas o internas según la regla del microservicio(usar anotación @RolesAllowed).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459711" y="2599295"/>
            <a:ext cx="325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2E7D53"/>
                </a:solidFill>
                <a:latin typeface="Courier New"/>
                <a:ea typeface="Courier New"/>
                <a:cs typeface="Courier New"/>
                <a:sym typeface="Courier New"/>
              </a:rPr>
              <a:t>/api/users/me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Un contrato de nombres aplicado en tres lugares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La convención ayuda a ubicar el código; el serviceId es la fuente del ruteo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94350" y="1417325"/>
            <a:ext cx="10972800" cy="1848000"/>
          </a:xfrm>
          <a:prstGeom prst="roundRect">
            <a:avLst>
              <a:gd fmla="val 2000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868680" y="1673352"/>
            <a:ext cx="219456" cy="219456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234440" y="161848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Nombre del repositorio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303520" y="161848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5A6478"/>
                </a:solidFill>
                <a:latin typeface="Courier New"/>
                <a:ea typeface="Courier New"/>
                <a:cs typeface="Courier New"/>
                <a:sym typeface="Courier New"/>
              </a:rPr>
              <a:t>tpi-{nombre}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8229600" y="161848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2E7D53"/>
                </a:solidFill>
                <a:latin typeface="Courier New"/>
                <a:ea typeface="Courier New"/>
                <a:cs typeface="Courier New"/>
                <a:sym typeface="Courier New"/>
              </a:rPr>
              <a:t>→  tpi-users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868680" y="2203704"/>
            <a:ext cx="219456" cy="219456"/>
          </a:xfrm>
          <a:prstGeom prst="ellipse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234440" y="21488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spring.application.name (Eureka)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303520" y="2148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5A6478"/>
                </a:solidFill>
                <a:latin typeface="Courier New"/>
                <a:ea typeface="Courier New"/>
                <a:cs typeface="Courier New"/>
                <a:sym typeface="Courier New"/>
              </a:rPr>
              <a:t>{nombre}-service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8229600" y="21488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FA8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2E8FA8"/>
                </a:solidFill>
                <a:latin typeface="Courier New"/>
                <a:ea typeface="Courier New"/>
                <a:cs typeface="Courier New"/>
                <a:sym typeface="Courier New"/>
              </a:rPr>
              <a:t>→  users-service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868680" y="2734056"/>
            <a:ext cx="219456" cy="219456"/>
          </a:xfrm>
          <a:prstGeom prst="ellipse">
            <a:avLst/>
          </a:prstGeom>
          <a:solidFill>
            <a:srgbClr val="5B4B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234440" y="267919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Prefijo externo del Gateway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303520" y="267919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5A6478"/>
                </a:solidFill>
                <a:latin typeface="Courier New"/>
                <a:ea typeface="Courier New"/>
                <a:cs typeface="Courier New"/>
                <a:sym typeface="Courier New"/>
              </a:rPr>
              <a:t>/api/{nombre}/**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8229600" y="267919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B9E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5B4B9E"/>
                </a:solidFill>
                <a:latin typeface="Courier New"/>
                <a:ea typeface="Courier New"/>
                <a:cs typeface="Courier New"/>
                <a:sym typeface="Courier New"/>
              </a:rPr>
              <a:t>→  /api/users/**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94360" y="3716142"/>
            <a:ext cx="10972800" cy="1051500"/>
          </a:xfrm>
          <a:prstGeom prst="roundRect">
            <a:avLst>
              <a:gd fmla="val 3478" name="adj"/>
            </a:avLst>
          </a:prstGeom>
          <a:solidFill>
            <a:srgbClr val="F7E9EC"/>
          </a:solidFill>
          <a:ln cap="flat" cmpd="sng" w="12700">
            <a:solidFill>
              <a:srgbClr val="EBC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914400" y="3871590"/>
            <a:ext cx="1033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324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A83248"/>
                </a:solidFill>
                <a:latin typeface="Calibri"/>
                <a:ea typeface="Calibri"/>
                <a:cs typeface="Calibri"/>
                <a:sym typeface="Calibri"/>
              </a:rPr>
              <a:t>Qué valor determina la ruta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914400" y="4127622"/>
            <a:ext cx="1033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53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B2532"/>
                </a:solidFill>
                <a:latin typeface="Calibri"/>
                <a:ea typeface="Calibri"/>
                <a:cs typeface="Calibri"/>
                <a:sym typeface="Calibri"/>
              </a:rPr>
              <a:t>DiscoveryLocatorConfig parte de spring.application.name, normaliza mayúsculas y elimina -service. El nombre del repo no participa del ruteo; solo mantiene trazabilidad entre equipos.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94360" y="5018282"/>
            <a:ext cx="10972800" cy="1600200"/>
          </a:xfrm>
          <a:prstGeom prst="roundRect">
            <a:avLst>
              <a:gd fmla="val 2286" name="adj"/>
            </a:avLst>
          </a:prstGeom>
          <a:solidFill>
            <a:srgbClr val="141B3D"/>
          </a:solidFill>
          <a:ln cap="flat" cmpd="sng" w="12700">
            <a:solidFill>
              <a:srgbClr val="141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914400" y="5182874"/>
            <a:ext cx="1033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FA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8FA8"/>
                </a:solidFill>
                <a:latin typeface="Calibri"/>
                <a:ea typeface="Calibri"/>
                <a:cs typeface="Calibri"/>
                <a:sym typeface="Calibri"/>
              </a:rPr>
              <a:t>Cada servicio declara su base path por properties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914400" y="5475482"/>
            <a:ext cx="10332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8FD4E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8FD4E8"/>
                </a:solidFill>
                <a:latin typeface="Courier New"/>
                <a:ea typeface="Courier New"/>
                <a:cs typeface="Courier New"/>
                <a:sym typeface="Courier New"/>
              </a:rPr>
              <a:t>app.api.public-path=/api/public/users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8FD4E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8FD4E8"/>
                </a:solidFill>
                <a:latin typeface="Courier New"/>
                <a:ea typeface="Courier New"/>
                <a:cs typeface="Courier New"/>
                <a:sym typeface="Courier New"/>
              </a:rPr>
              <a:t>app.api.private-path=/api/users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B9C7E8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B9C7E8"/>
                </a:solidFill>
                <a:latin typeface="Courier New"/>
                <a:ea typeface="Courier New"/>
                <a:cs typeface="Courier New"/>
                <a:sym typeface="Courier New"/>
              </a:rPr>
              <a:t>@RequestMapping("${app.api.public-path}"</a:t>
            </a:r>
            <a:r>
              <a:rPr lang="en-US" sz="1050">
                <a:solidFill>
                  <a:srgbClr val="B9C7E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Pipeline de seguridad y trazabilidad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Primero se verifica la identidad; después se propaga y se aplican políticas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94360" y="1417320"/>
            <a:ext cx="10927080" cy="64008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594360" y="1417320"/>
            <a:ext cx="64008" cy="640080"/>
          </a:xfrm>
          <a:prstGeom prst="rect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914400" y="14904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Spring Security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914400" y="176479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2E7D53"/>
                </a:solidFill>
                <a:latin typeface="Courier New"/>
                <a:ea typeface="Courier New"/>
                <a:cs typeface="Courier New"/>
                <a:sym typeface="Courier New"/>
              </a:rPr>
              <a:t>SECURITY WEBFILTERCHAIN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3840480" y="160020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Valida firma, iss, aud, exp y tipo. permitAll solo en rutas documentadas.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943600" y="2039112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594360" y="2167128"/>
            <a:ext cx="10927080" cy="64008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594360" y="2167128"/>
            <a:ext cx="64008" cy="640080"/>
          </a:xfrm>
          <a:prstGeom prst="rect">
            <a:avLst/>
          </a:prstGeom>
          <a:solidFill>
            <a:srgbClr val="5A647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914400" y="22402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Tracing / Correlation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914400" y="251460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5A6478"/>
                </a:solidFill>
                <a:latin typeface="Courier New"/>
                <a:ea typeface="Courier New"/>
                <a:cs typeface="Courier New"/>
                <a:sym typeface="Courier New"/>
              </a:rPr>
              <a:t>GlobalFilter · orden 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3840480" y="2350008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Acepta o crea X-Request-Id y propaga traceparent/tracestate.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5943600" y="2788920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94360" y="2916936"/>
            <a:ext cx="10927080" cy="64008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594360" y="2916936"/>
            <a:ext cx="64008" cy="640080"/>
          </a:xfrm>
          <a:prstGeom prst="rect">
            <a:avLst/>
          </a:prstGeom>
          <a:solidFill>
            <a:srgbClr val="5A647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914400" y="299008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LoggingFilter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914400" y="326440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5A6478"/>
                </a:solidFill>
                <a:latin typeface="Courier New"/>
                <a:ea typeface="Courier New"/>
                <a:cs typeface="Courier New"/>
                <a:sym typeface="Courier New"/>
              </a:rPr>
              <a:t>GlobalFilter · orden 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3840480" y="3099816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Registra método, ruta, estado y duración. No guarda bodies ni tokens.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943600" y="3538728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594360" y="3666744"/>
            <a:ext cx="10927080" cy="64008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594360" y="3666744"/>
            <a:ext cx="64008" cy="640080"/>
          </a:xfrm>
          <a:prstGeom prst="rect">
            <a:avLst/>
          </a:prstGeom>
          <a:solidFill>
            <a:srgbClr val="5B4B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914400" y="37398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InternalRouteGuard/PublicRouteGuard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914400" y="4014216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B9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5B4B9E"/>
                </a:solidFill>
                <a:latin typeface="Courier New"/>
                <a:ea typeface="Courier New"/>
                <a:cs typeface="Courier New"/>
                <a:sym typeface="Courier New"/>
              </a:rPr>
              <a:t>GlobalFilter · orden 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3840480" y="3849624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Exige serviceId, audience y scope suficientes.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5943600" y="4288536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594360" y="4416552"/>
            <a:ext cx="10927080" cy="64008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594360" y="4416552"/>
            <a:ext cx="64008" cy="640080"/>
          </a:xfrm>
          <a:prstGeom prst="rect">
            <a:avLst/>
          </a:prstGeom>
          <a:solidFill>
            <a:srgbClr val="5B4B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914400" y="448970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IdentityPropagationFilter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914400" y="476402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B9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5B4B9E"/>
                </a:solidFill>
                <a:latin typeface="Courier New"/>
                <a:ea typeface="Courier New"/>
                <a:cs typeface="Courier New"/>
                <a:sym typeface="Courier New"/>
              </a:rPr>
              <a:t>GlobalFilter · orden 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840480" y="4599432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Limpia headers y agrega Principal-Type, User-Id o Service-Id verificados.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943600" y="5038344"/>
            <a:ext cx="274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94360" y="5166360"/>
            <a:ext cx="10927080" cy="64008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94360" y="5166360"/>
            <a:ext cx="64008" cy="640080"/>
          </a:xfrm>
          <a:prstGeom prst="rect">
            <a:avLst/>
          </a:prstGeom>
          <a:solidFill>
            <a:srgbClr val="B8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914400" y="52395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RateLimitFilter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914400" y="551383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91F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B8791F"/>
                </a:solidFill>
                <a:latin typeface="Courier New"/>
                <a:ea typeface="Courier New"/>
                <a:cs typeface="Courier New"/>
                <a:sym typeface="Courier New"/>
              </a:rPr>
              <a:t>GlobalFilter · orden 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3840480" y="534924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Clave por usuario, servicio o IP; estado compartido; rechazo 429 + Retry-After.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Spring Security y los GlobalFilter pertenecen a cadenas distintas: el orden efectivo debe verificarse con pruebas de integración.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Cuatro escenarios que debe soportar el Gateway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Cada caso usa el mismo borde, con políticas diferentes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94360" y="1463040"/>
            <a:ext cx="5303520" cy="1965960"/>
          </a:xfrm>
          <a:prstGeom prst="roundRect">
            <a:avLst>
              <a:gd fmla="val 1860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594360" y="1463040"/>
            <a:ext cx="5303520" cy="54864"/>
          </a:xfrm>
          <a:prstGeom prst="rect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E7D53"/>
                </a:solidFill>
                <a:latin typeface="Calibri"/>
                <a:ea typeface="Calibri"/>
                <a:cs typeface="Calibri"/>
                <a:sym typeface="Calibri"/>
              </a:rPr>
              <a:t>1 · Login público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868680" y="205740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POST /api/users/public/auth/login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868680" y="242316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permitAll solo para login. users-service autentica y emite el JWT de usuario.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6217920" y="1463040"/>
            <a:ext cx="5303520" cy="1965960"/>
          </a:xfrm>
          <a:prstGeom prst="roundRect">
            <a:avLst>
              <a:gd fmla="val 1860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6217920" y="1463040"/>
            <a:ext cx="5303520" cy="54864"/>
          </a:xfrm>
          <a:prstGeom prst="rect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6492240" y="16916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FA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E8FA8"/>
                </a:solidFill>
                <a:latin typeface="Calibri"/>
                <a:ea typeface="Calibri"/>
                <a:cs typeface="Calibri"/>
                <a:sym typeface="Calibri"/>
              </a:rPr>
              <a:t>2 · Request de usuario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6492240" y="205740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GET /api/users/me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6492240" y="242316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Valida el JWT, propaga identidad y deja la autorización funcional al micro.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594360" y="3657600"/>
            <a:ext cx="5303520" cy="1965960"/>
          </a:xfrm>
          <a:prstGeom prst="roundRect">
            <a:avLst>
              <a:gd fmla="val 1860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594360" y="3657600"/>
            <a:ext cx="5303520" cy="54864"/>
          </a:xfrm>
          <a:prstGeom prst="rect">
            <a:avLst/>
          </a:prstGeom>
          <a:solidFill>
            <a:srgbClr val="5B4B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868680" y="388620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B9E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5B4B9E"/>
                </a:solidFill>
                <a:latin typeface="Calibri"/>
                <a:ea typeface="Calibri"/>
                <a:cs typeface="Calibri"/>
                <a:sym typeface="Calibri"/>
              </a:rPr>
              <a:t>3 · Request de servicio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868680" y="425196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GET /api/users/profile/{id}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868680" y="461772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Micro A vuelve al Gateway con token técnico. No existe llamada directa A → B.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6217920" y="3657600"/>
            <a:ext cx="5303520" cy="1965960"/>
          </a:xfrm>
          <a:prstGeom prst="roundRect">
            <a:avLst>
              <a:gd fmla="val 1860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6217920" y="3657600"/>
            <a:ext cx="5303520" cy="54864"/>
          </a:xfrm>
          <a:prstGeom prst="rect">
            <a:avLst/>
          </a:prstGeom>
          <a:solidFill>
            <a:srgbClr val="A8324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6492240" y="388620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324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A83248"/>
                </a:solidFill>
                <a:latin typeface="Calibri"/>
                <a:ea typeface="Calibri"/>
                <a:cs typeface="Calibri"/>
                <a:sym typeface="Calibri"/>
              </a:rPr>
              <a:t>4 · Destino con falla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6492240" y="425196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cualquier ruta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6492240" y="461772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Timeout y circuit breaker devuelven 503 o 504 con Problem Details y traceId.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Request autenticado: identidad verificada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El Gateway valida; el microservicio decide si la acción está permitida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59436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1645920" y="1783080"/>
            <a:ext cx="548640" cy="548640"/>
          </a:xfrm>
          <a:prstGeom prst="ellipse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164592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73152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FA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8FA8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82296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Envía el JWT de usuario en Authorization: Bearer.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3273552" y="251460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347472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4526280" y="1783080"/>
            <a:ext cx="548640" cy="548640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452628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361188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7D53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370332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Verifica firma, issuer, audience, algoritmo, exp y JWKS.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6153912" y="251460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635508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7406640" y="1783080"/>
            <a:ext cx="548640" cy="548640"/>
          </a:xfrm>
          <a:prstGeom prst="ellipse">
            <a:avLst/>
          </a:prstGeom>
          <a:solidFill>
            <a:srgbClr val="5B4B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740664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649224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4B9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5B4B9E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658368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Elimina headers externos y agrega identidad y trazabilidad verificadas.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9034272" y="251460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923544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10287000" y="1783080"/>
            <a:ext cx="548640" cy="548640"/>
          </a:xfrm>
          <a:prstGeom prst="ellipse">
            <a:avLst/>
          </a:prstGeom>
          <a:solidFill>
            <a:srgbClr val="A8324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1028700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937260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324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A83248"/>
                </a:solidFill>
                <a:latin typeface="Calibri"/>
                <a:ea typeface="Calibri"/>
                <a:cs typeface="Calibri"/>
                <a:sym typeface="Calibri"/>
              </a:rPr>
              <a:t>MICROSERVICIO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946404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Autoriza rol, pertenencia y ownership; luego ejecuta el caso de uso.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594360" y="3931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Contrato resultante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594360" y="4343400"/>
            <a:ext cx="10927080" cy="1371600"/>
          </a:xfrm>
          <a:prstGeom prst="roundRect">
            <a:avLst>
              <a:gd fmla="val 2667" name="adj"/>
            </a:avLst>
          </a:prstGeom>
          <a:solidFill>
            <a:srgbClr val="141B3D"/>
          </a:solidFill>
          <a:ln cap="flat" cmpd="sng" w="12700">
            <a:solidFill>
              <a:srgbClr val="141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914400" y="45262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Authorization: Bearer &lt;user-jwt&gt;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800"/>
              <a:buFont typeface="Calibri"/>
              <a:buNone/>
            </a:pPr>
            <a:r>
              <a:rPr lang="en-US" sz="1700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→ X-Principal-Type: user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→ X-User-Id / X-User-Roles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→ traceparent + X-Request-Id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401 = token inválido · 403 = autorización funcional rechazada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Micro a micro: servicio y usuario no son lo mismo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La llamada vuelve al Gateway y conserva identidad técnica y, si aplica, la delegada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59436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1645920" y="1783080"/>
            <a:ext cx="548640" cy="548640"/>
          </a:xfrm>
          <a:prstGeom prst="ellipse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164592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73152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FA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8FA8"/>
                </a:solidFill>
                <a:latin typeface="Calibri"/>
                <a:ea typeface="Calibri"/>
                <a:cs typeface="Calibri"/>
                <a:sym typeface="Calibri"/>
              </a:rPr>
              <a:t>MICRO 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82296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Recibe una operación y determina que necesita información del micro B.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3273552" y="251460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347472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4526280" y="1783080"/>
            <a:ext cx="548640" cy="548640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452628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361188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7D53"/>
                </a:solidFill>
                <a:latin typeface="Calibri"/>
                <a:ea typeface="Calibri"/>
                <a:cs typeface="Calibri"/>
                <a:sym typeface="Calibri"/>
              </a:rPr>
              <a:t>CREDENCIAL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370332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Obtiene un token técnico con Client Credentials o mTLS y vencimiento corto.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6153912" y="251460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635508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7406640" y="1783080"/>
            <a:ext cx="548640" cy="548640"/>
          </a:xfrm>
          <a:prstGeom prst="ellipse">
            <a:avLst/>
          </a:prstGeom>
          <a:solidFill>
            <a:srgbClr val="5B4B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740664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649224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4B9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5B4B9E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658368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Valida type, serviceId, audience y scope; bloquea tokens de persona.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9034272" y="251460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923544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10287000" y="1783080"/>
            <a:ext cx="548640" cy="548640"/>
          </a:xfrm>
          <a:prstGeom prst="ellipse">
            <a:avLst/>
          </a:prstGeom>
          <a:solidFill>
            <a:srgbClr val="A8324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1028700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937260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324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A83248"/>
                </a:solidFill>
                <a:latin typeface="Calibri"/>
                <a:ea typeface="Calibri"/>
                <a:cs typeface="Calibri"/>
                <a:sym typeface="Calibri"/>
              </a:rPr>
              <a:t>MICRO 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946404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Autoriza al servicio llamador y registra también al usuario delegado, si existe.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594360" y="3931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Contrato mínimo del token técnico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594360" y="4343400"/>
            <a:ext cx="10927080" cy="1371600"/>
          </a:xfrm>
          <a:prstGeom prst="roundRect">
            <a:avLst>
              <a:gd fmla="val 2667" name="adj"/>
            </a:avLst>
          </a:prstGeom>
          <a:solidFill>
            <a:srgbClr val="141B3D"/>
          </a:solidFill>
          <a:ln cap="flat" cmpd="sng" w="12700">
            <a:solidFill>
              <a:srgbClr val="141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914400" y="45262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sub=challenges-service · type=service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aud=users-service · scope=users.profile.read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on_behalf_of=&lt;user-id&gt; solo cuando corresponde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Nunca: servicio anónimo ni /auth/token abierto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0"/>
            <a:ext cx="10286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3"/>
          <p:cNvSpPr/>
          <p:nvPr/>
        </p:nvSpPr>
        <p:spPr>
          <a:xfrm>
            <a:off x="1148400" y="3377650"/>
            <a:ext cx="1438800" cy="122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Scheduled/Job</a:t>
            </a:r>
            <a:endParaRPr/>
          </a:p>
        </p:txBody>
      </p:sp>
      <p:pic>
        <p:nvPicPr>
          <p:cNvPr id="375" name="Google Shape;37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80" y="0"/>
            <a:ext cx="1212464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g3f8babdb202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Componentes del Gateway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Configuración, filtros y servicios de apoyo; no hay entidades de dominio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594360" y="1371600"/>
            <a:ext cx="3383280" cy="969264"/>
          </a:xfrm>
          <a:prstGeom prst="roundRect">
            <a:avLst>
              <a:gd fmla="val 2830" name="adj"/>
            </a:avLst>
          </a:prstGeom>
          <a:solidFill>
            <a:srgbClr val="FFFFFF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594360" y="1371600"/>
            <a:ext cx="338328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594360" y="14173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GatewayApplication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704088" y="1773936"/>
            <a:ext cx="31638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ARRANQUE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722376" y="1956816"/>
            <a:ext cx="31272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@SpringBootApplication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722376" y="2130552"/>
            <a:ext cx="31272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Spring Cloud Gateway · WebFlux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594360" y="2651760"/>
            <a:ext cx="3383280" cy="1143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9050">
            <a:solidFill>
              <a:srgbClr val="2E8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594360" y="2651760"/>
            <a:ext cx="3383280" cy="347472"/>
          </a:xfrm>
          <a:prstGeom prst="rect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594360" y="269748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SecurityConfig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704088" y="3054096"/>
            <a:ext cx="31638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VALIDA JWT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722376" y="3236976"/>
            <a:ext cx="31272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+ securityWebFilterChain()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722376" y="3410712"/>
            <a:ext cx="31272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+ ReactiveJwtDecoder ← JWKS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722376" y="3584448"/>
            <a:ext cx="31272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iss · aud · exp · type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594360" y="4343400"/>
            <a:ext cx="3383280" cy="969264"/>
          </a:xfrm>
          <a:prstGeom prst="roundRect">
            <a:avLst>
              <a:gd fmla="val 2830" name="adj"/>
            </a:avLst>
          </a:prstGeom>
          <a:solidFill>
            <a:srgbClr val="FFFFFF"/>
          </a:solidFill>
          <a:ln cap="flat" cmpd="sng" w="19050">
            <a:solidFill>
              <a:srgbClr val="2E8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594360" y="4343400"/>
            <a:ext cx="3383280" cy="347472"/>
          </a:xfrm>
          <a:prstGeom prst="rect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594360" y="43891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DiscoveryLocatorConfig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704088" y="4745736"/>
            <a:ext cx="31638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RUTEO GOBERNADO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722376" y="4928616"/>
            <a:ext cx="31272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include/exclude por serviceId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722376" y="5102352"/>
            <a:ext cx="31272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predicate + path forwarding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4251960" y="1371600"/>
            <a:ext cx="3566100" cy="1316700"/>
          </a:xfrm>
          <a:prstGeom prst="roundRect">
            <a:avLst>
              <a:gd fmla="val 2083" name="adj"/>
            </a:avLst>
          </a:prstGeom>
          <a:solidFill>
            <a:srgbClr val="FFFFFF"/>
          </a:solidFill>
          <a:ln cap="flat" cmpd="sng" w="19050">
            <a:solidFill>
              <a:srgbClr val="5B4B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4251960" y="1371600"/>
            <a:ext cx="3566160" cy="347472"/>
          </a:xfrm>
          <a:prstGeom prst="rect">
            <a:avLst/>
          </a:prstGeom>
          <a:solidFill>
            <a:srgbClr val="5B4B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4251960" y="141732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InternalRouteGuard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4361688" y="1773936"/>
            <a:ext cx="33467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AUTORIZACIÓN TÉCNICA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4379976" y="1956816"/>
            <a:ext cx="33101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+ filter(exchange, chain)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4379976" y="2130552"/>
            <a:ext cx="33101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lee el principal validado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4379976" y="2304288"/>
            <a:ext cx="33101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aud/scope insuficiente → 403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4379976" y="2478024"/>
            <a:ext cx="33101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solo /api/servicio/** | entre micros, requiere rol MS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4251960" y="3108960"/>
            <a:ext cx="3566100" cy="1316700"/>
          </a:xfrm>
          <a:prstGeom prst="roundRect">
            <a:avLst>
              <a:gd fmla="val 2083" name="adj"/>
            </a:avLst>
          </a:prstGeom>
          <a:solidFill>
            <a:srgbClr val="FFFFFF"/>
          </a:solidFill>
          <a:ln cap="flat" cmpd="sng" w="19050">
            <a:solidFill>
              <a:srgbClr val="5B4B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4251960" y="3108960"/>
            <a:ext cx="3566100" cy="347400"/>
          </a:xfrm>
          <a:prstGeom prst="rect">
            <a:avLst/>
          </a:prstGeom>
          <a:solidFill>
            <a:srgbClr val="5B4B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4251960" y="3154680"/>
            <a:ext cx="356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IdentityPropagationFilter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4361688" y="3511296"/>
            <a:ext cx="3346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GLOBALFILTER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4379976" y="3694176"/>
            <a:ext cx="3310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+ filter(exchange, chain)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4379976" y="3867912"/>
            <a:ext cx="3310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inyecta X-Principal-Type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4379976" y="4041648"/>
            <a:ext cx="3310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inyecta User-Id o Service-Id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4379976" y="4215384"/>
            <a:ext cx="3310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elimina headers entrantes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4251960" y="4846320"/>
            <a:ext cx="3566100" cy="786300"/>
          </a:xfrm>
          <a:prstGeom prst="roundRect">
            <a:avLst>
              <a:gd fmla="val 3488" name="adj"/>
            </a:avLst>
          </a:prstGeom>
          <a:solidFill>
            <a:srgbClr val="FFFFFF"/>
          </a:solidFill>
          <a:ln cap="flat" cmpd="sng" w="19050">
            <a:solidFill>
              <a:srgbClr val="5A64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4251960" y="4846320"/>
            <a:ext cx="3566100" cy="347400"/>
          </a:xfrm>
          <a:prstGeom prst="rect">
            <a:avLst/>
          </a:prstGeom>
          <a:solidFill>
            <a:srgbClr val="5A647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4251960" y="4892040"/>
            <a:ext cx="356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ObservabilityFilters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4379976" y="5248656"/>
            <a:ext cx="3310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traceparent + requestId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4379976" y="5422392"/>
            <a:ext cx="3310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logs sin bodies ni tokens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8092440" y="1371600"/>
            <a:ext cx="3429000" cy="969264"/>
          </a:xfrm>
          <a:prstGeom prst="roundRect">
            <a:avLst>
              <a:gd fmla="val 2830" name="adj"/>
            </a:avLst>
          </a:prstGeom>
          <a:solidFill>
            <a:srgbClr val="FFFFFF"/>
          </a:solidFill>
          <a:ln cap="flat" cmpd="sng" w="19050">
            <a:solidFill>
              <a:srgbClr val="B8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8092440" y="1371600"/>
            <a:ext cx="3429000" cy="347472"/>
          </a:xfrm>
          <a:prstGeom prst="rect">
            <a:avLst/>
          </a:prstGeom>
          <a:solidFill>
            <a:srgbClr val="B8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8092440" y="1417320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RateLimitKeyResolver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8202168" y="1773936"/>
            <a:ext cx="32095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CONFIGURACIÓN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8220456" y="1956816"/>
            <a:ext cx="3172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clave: user / service / IP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8220456" y="2130552"/>
            <a:ext cx="3172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+ resolve(exchange)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8092440" y="2743200"/>
            <a:ext cx="3429000" cy="1143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9050">
            <a:solidFill>
              <a:srgbClr val="2E7D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8092440" y="2743200"/>
            <a:ext cx="3429000" cy="347472"/>
          </a:xfrm>
          <a:prstGeom prst="rect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8092440" y="2788920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PrincipalContext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8202168" y="3145536"/>
            <a:ext cx="32095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NO VALIDA · NORMALIZA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8220456" y="3328416"/>
            <a:ext cx="3172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+ userId(auth)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8220456" y="3502152"/>
            <a:ext cx="3172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+ serviceId / scopes(auth)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8220456" y="3675888"/>
            <a:ext cx="3172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+ roles / delegatedUser(auth)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8092440" y="4160520"/>
            <a:ext cx="3429000" cy="969264"/>
          </a:xfrm>
          <a:prstGeom prst="roundRect">
            <a:avLst>
              <a:gd fmla="val 2830" name="adj"/>
            </a:avLst>
          </a:prstGeom>
          <a:solidFill>
            <a:srgbClr val="FFFFFF"/>
          </a:solidFill>
          <a:ln cap="flat" cmpd="sng" w="19050">
            <a:solidFill>
              <a:srgbClr val="A832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8092440" y="4160520"/>
            <a:ext cx="3429000" cy="347472"/>
          </a:xfrm>
          <a:prstGeom prst="rect">
            <a:avLst/>
          </a:prstGeom>
          <a:solidFill>
            <a:srgbClr val="A8324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8092440" y="4206240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ResilienceConfig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8202168" y="4562856"/>
            <a:ext cx="32095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RESILIENCE4J + NETTY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8220456" y="4745736"/>
            <a:ext cx="3172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timeouts + breaker por serviceId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8220456" y="4919472"/>
            <a:ext cx="3172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retry idempotente + bulkhead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8092440" y="5349240"/>
            <a:ext cx="3429000" cy="612648"/>
          </a:xfrm>
          <a:prstGeom prst="roundRect">
            <a:avLst>
              <a:gd fmla="val 4478" name="adj"/>
            </a:avLst>
          </a:prstGeom>
          <a:solidFill>
            <a:srgbClr val="FFFFFF"/>
          </a:solidFill>
          <a:ln cap="flat" cmpd="sng" w="19050">
            <a:solidFill>
              <a:srgbClr val="5B4B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8092440" y="5349240"/>
            <a:ext cx="3429000" cy="347472"/>
          </a:xfrm>
          <a:prstGeom prst="rect">
            <a:avLst/>
          </a:prstGeom>
          <a:solidFill>
            <a:srgbClr val="5B4B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8092440" y="5394960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1" lang="en-US" sz="1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FallbackController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8220456" y="5751576"/>
            <a:ext cx="3172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3A4459"/>
                </a:solidFill>
                <a:latin typeface="Courier New"/>
                <a:ea typeface="Courier New"/>
                <a:cs typeface="Courier New"/>
                <a:sym typeface="Courier New"/>
              </a:rPr>
              <a:t>@RequestMapping /fallback → ProblemDetail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4" name="Google Shape;454;p14"/>
          <p:cNvCxnSpPr/>
          <p:nvPr/>
        </p:nvCxnSpPr>
        <p:spPr>
          <a:xfrm>
            <a:off x="3977640" y="3291840"/>
            <a:ext cx="255900" cy="0"/>
          </a:xfrm>
          <a:prstGeom prst="straightConnector1">
            <a:avLst/>
          </a:prstGeom>
          <a:noFill/>
          <a:ln cap="flat" cmpd="sng" w="19050">
            <a:solidFill>
              <a:srgbClr val="5A647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5" name="Google Shape;455;p14"/>
          <p:cNvCxnSpPr/>
          <p:nvPr/>
        </p:nvCxnSpPr>
        <p:spPr>
          <a:xfrm>
            <a:off x="6035040" y="2788920"/>
            <a:ext cx="0" cy="301800"/>
          </a:xfrm>
          <a:prstGeom prst="straightConnector1">
            <a:avLst/>
          </a:prstGeom>
          <a:noFill/>
          <a:ln cap="flat" cmpd="sng" w="19050">
            <a:solidFill>
              <a:srgbClr val="5A647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6" name="Google Shape;456;p14"/>
          <p:cNvCxnSpPr/>
          <p:nvPr/>
        </p:nvCxnSpPr>
        <p:spPr>
          <a:xfrm>
            <a:off x="7818120" y="1920240"/>
            <a:ext cx="256032" cy="0"/>
          </a:xfrm>
          <a:prstGeom prst="straightConnector1">
            <a:avLst/>
          </a:prstGeom>
          <a:noFill/>
          <a:ln cap="flat" cmpd="sng" w="19050">
            <a:solidFill>
              <a:srgbClr val="B8791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7" name="Google Shape;457;p14"/>
          <p:cNvCxnSpPr/>
          <p:nvPr/>
        </p:nvCxnSpPr>
        <p:spPr>
          <a:xfrm>
            <a:off x="7818120" y="3383280"/>
            <a:ext cx="255900" cy="0"/>
          </a:xfrm>
          <a:prstGeom prst="straightConnector1">
            <a:avLst/>
          </a:prstGeom>
          <a:noFill/>
          <a:ln cap="flat" cmpd="sng" w="19050">
            <a:solidFill>
              <a:srgbClr val="2E7D53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7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Contratos de identidad y error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Qué espera recibir el Gateway y qué puede confiar el microservicio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594360" y="1417320"/>
            <a:ext cx="5394960" cy="2286000"/>
          </a:xfrm>
          <a:prstGeom prst="roundRect">
            <a:avLst>
              <a:gd fmla="val 1600" name="adj"/>
            </a:avLst>
          </a:prstGeom>
          <a:solidFill>
            <a:srgbClr val="141B3D"/>
          </a:solidFill>
          <a:ln cap="flat" cmpd="sng" w="12700">
            <a:solidFill>
              <a:srgbClr val="141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914400" y="16002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 QUE ESPERA  ·  entrada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914400" y="1965950"/>
            <a:ext cx="47550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8FD4E8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8FD4E8"/>
                </a:solidFill>
                <a:latin typeface="Courier New"/>
                <a:ea typeface="Courier New"/>
                <a:cs typeface="Courier New"/>
                <a:sym typeface="Courier New"/>
              </a:rPr>
              <a:t>Authorization: Bearer &lt;jwt&gt;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B9C7E8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B9C7E8"/>
                </a:solidFill>
                <a:latin typeface="Courier New"/>
                <a:ea typeface="Courier New"/>
                <a:cs typeface="Courier New"/>
                <a:sym typeface="Courier New"/>
              </a:rPr>
              <a:t>usuario: sub, roles, type=user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B9C7E8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B9C7E8"/>
                </a:solidFill>
                <a:latin typeface="Courier New"/>
                <a:ea typeface="Courier New"/>
                <a:cs typeface="Courier New"/>
                <a:sym typeface="Courier New"/>
              </a:rPr>
              <a:t>servicio: sub, scope, type=service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B9C7E8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B9C7E8"/>
                </a:solidFill>
                <a:latin typeface="Courier New"/>
                <a:ea typeface="Courier New"/>
                <a:cs typeface="Courier New"/>
                <a:sym typeface="Courier New"/>
              </a:rPr>
              <a:t>siempre: iss, aud, exp, algoritmo permitido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B9C7E8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B9C7E8"/>
                </a:solidFill>
                <a:latin typeface="Courier New"/>
                <a:ea typeface="Courier New"/>
                <a:cs typeface="Courier New"/>
                <a:sym typeface="Courier New"/>
              </a:rPr>
              <a:t>firma RS256 verificable mediante JWKS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6172200" y="1417320"/>
            <a:ext cx="5394960" cy="2286000"/>
          </a:xfrm>
          <a:prstGeom prst="roundRect">
            <a:avLst>
              <a:gd fmla="val 1600" name="adj"/>
            </a:avLst>
          </a:prstGeom>
          <a:solidFill>
            <a:srgbClr val="E9F3EE"/>
          </a:solidFill>
          <a:ln cap="flat" cmpd="sng" w="12700">
            <a:solidFill>
              <a:srgbClr val="C3DF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6492240" y="16002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E7D53"/>
                </a:solidFill>
                <a:latin typeface="Calibri"/>
                <a:ea typeface="Calibri"/>
                <a:cs typeface="Calibri"/>
                <a:sym typeface="Calibri"/>
              </a:rPr>
              <a:t>LO QUE GARANTIZA  ·  salida al micro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6492240" y="1965960"/>
            <a:ext cx="4754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1F5C3D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1F5C3D"/>
                </a:solidFill>
                <a:latin typeface="Courier New"/>
                <a:ea typeface="Courier New"/>
                <a:cs typeface="Courier New"/>
                <a:sym typeface="Courier New"/>
              </a:rPr>
              <a:t>X-Principal-Type: user | service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1F5C3D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1F5C3D"/>
                </a:solidFill>
                <a:latin typeface="Courier New"/>
                <a:ea typeface="Courier New"/>
                <a:cs typeface="Courier New"/>
                <a:sym typeface="Courier New"/>
              </a:rPr>
              <a:t>X-User-Id o X-Service-Id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1F5C3D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1F5C3D"/>
                </a:solidFill>
                <a:latin typeface="Courier New"/>
                <a:ea typeface="Courier New"/>
                <a:cs typeface="Courier New"/>
                <a:sym typeface="Courier New"/>
              </a:rPr>
              <a:t>X-User-Roles o X-Service-Scopes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traceparent + X-Request-Id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F4A3E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2F4A3E"/>
                </a:solidFill>
                <a:latin typeface="Courier New"/>
                <a:ea typeface="Courier New"/>
                <a:cs typeface="Courier New"/>
                <a:sym typeface="Courier New"/>
              </a:rPr>
              <a:t>Confiable solo desde la red privada del Gateway.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594360" y="3931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Respuestas emitidas por el propio Gateway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594360" y="4389120"/>
            <a:ext cx="685800" cy="347472"/>
          </a:xfrm>
          <a:prstGeom prst="roundRect">
            <a:avLst>
              <a:gd fmla="val 13158" name="adj"/>
            </a:avLst>
          </a:prstGeom>
          <a:solidFill>
            <a:srgbClr val="A8324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594360" y="4434840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1463040" y="44348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Token requerido ausente, inválido o vencido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6217920" y="44348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Reautenticar; permitAll no exige token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594360" y="4828032"/>
            <a:ext cx="685800" cy="347472"/>
          </a:xfrm>
          <a:prstGeom prst="roundRect">
            <a:avLst>
              <a:gd fmla="val 13158" name="adj"/>
            </a:avLst>
          </a:prstGeom>
          <a:solidFill>
            <a:srgbClr val="A8324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594360" y="4873752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1463040" y="48737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Ruta interna sin audience o scope suficiente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6217920" y="487375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El micro emite otros 403 por reglas de negocio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594360" y="5266944"/>
            <a:ext cx="685800" cy="347472"/>
          </a:xfrm>
          <a:prstGeom prst="roundRect">
            <a:avLst>
              <a:gd fmla="val 13158" name="adj"/>
            </a:avLst>
          </a:prstGeom>
          <a:solidFill>
            <a:srgbClr val="B8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594360" y="5312664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429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1463040" y="5312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Límite de la ruta superado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6217920" y="5312664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Respetar Retry-After; no reintentar a ciegas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594360" y="5705856"/>
            <a:ext cx="685800" cy="347472"/>
          </a:xfrm>
          <a:prstGeom prst="roundRect">
            <a:avLst>
              <a:gd fmla="val 13158" name="adj"/>
            </a:avLst>
          </a:prstGeom>
          <a:solidFill>
            <a:srgbClr val="B8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594360" y="5751576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1463040" y="57515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Sin instancia o circuit breaker abierto; timeout → 504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6217920" y="5751576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Body Problem Details con traceId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8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Endpoints operativos del Gateway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Deben existir para operar la plataforma, pero no quedar expuestos a Internet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594360" y="14173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El Gateway responde pocas rutas propias; el resto se reenvía a los microservicios: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594360" y="1965960"/>
            <a:ext cx="10927080" cy="960120"/>
          </a:xfrm>
          <a:prstGeom prst="roundRect">
            <a:avLst>
              <a:gd fmla="val 3810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8"/>
          <p:cNvSpPr/>
          <p:nvPr/>
        </p:nvSpPr>
        <p:spPr>
          <a:xfrm>
            <a:off x="594360" y="1965960"/>
            <a:ext cx="64008" cy="960120"/>
          </a:xfrm>
          <a:prstGeom prst="rect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960120" y="213055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GET /actuator/health/liveness | readiness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960120" y="2496312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El orquestador o Compose comprueba proceso vivo y capacidad de recibir tráfico.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8"/>
          <p:cNvSpPr/>
          <p:nvPr/>
        </p:nvSpPr>
        <p:spPr>
          <a:xfrm>
            <a:off x="594360" y="3154680"/>
            <a:ext cx="10927080" cy="960120"/>
          </a:xfrm>
          <a:prstGeom prst="roundRect">
            <a:avLst>
              <a:gd fmla="val 3810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8"/>
          <p:cNvSpPr/>
          <p:nvPr/>
        </p:nvSpPr>
        <p:spPr>
          <a:xfrm>
            <a:off x="594360" y="3154680"/>
            <a:ext cx="64008" cy="960120"/>
          </a:xfrm>
          <a:prstGeom prst="rect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960120" y="331927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GET /actuator/prometheus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960120" y="3685032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Métricas internas: latencia, throughput, 4xx/5xx, retries y estado de breakers.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594360" y="4343400"/>
            <a:ext cx="10927080" cy="960120"/>
          </a:xfrm>
          <a:prstGeom prst="roundRect">
            <a:avLst>
              <a:gd fmla="val 3810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8"/>
          <p:cNvSpPr/>
          <p:nvPr/>
        </p:nvSpPr>
        <p:spPr>
          <a:xfrm>
            <a:off x="594360" y="4343400"/>
            <a:ext cx="64008" cy="960120"/>
          </a:xfrm>
          <a:prstGeom prst="rect">
            <a:avLst/>
          </a:prstGeom>
          <a:solidFill>
            <a:srgbClr val="B8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960120" y="450799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forward:/fallback/**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960120" y="4873752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Destino interno del circuit breaker. Atiende todos los métodos y devuelve Problem Details.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594360" y="5623560"/>
            <a:ext cx="10927080" cy="777240"/>
          </a:xfrm>
          <a:prstGeom prst="roundRect">
            <a:avLst>
              <a:gd fmla="val 4706" name="adj"/>
            </a:avLst>
          </a:prstGeom>
          <a:solidFill>
            <a:srgbClr val="EAF2F5"/>
          </a:solidFill>
          <a:ln cap="flat" cmpd="sng" w="12700">
            <a:solidFill>
              <a:srgbClr val="BFD8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445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B4450"/>
                </a:solidFill>
                <a:latin typeface="Calibri"/>
                <a:ea typeface="Calibri"/>
                <a:cs typeface="Calibri"/>
                <a:sym typeface="Calibri"/>
              </a:rPr>
              <a:t>Actuator usa puerto o red de management. /actuator/gateway, si se habilita, queda read-only e interno.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9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9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Service Discovery con Eureka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El Gateway resuelve instancias sin guardar direcciones fijas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9"/>
          <p:cNvSpPr/>
          <p:nvPr/>
        </p:nvSpPr>
        <p:spPr>
          <a:xfrm>
            <a:off x="594360" y="1371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El problema que resuelve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594360" y="1783080"/>
            <a:ext cx="5394960" cy="1371600"/>
          </a:xfrm>
          <a:prstGeom prst="roundRect">
            <a:avLst>
              <a:gd fmla="val 2667" name="adj"/>
            </a:avLst>
          </a:prstGeom>
          <a:solidFill>
            <a:srgbClr val="F7E9EC"/>
          </a:solidFill>
          <a:ln cap="flat" cmpd="sng" w="12700">
            <a:solidFill>
              <a:srgbClr val="EBC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914400" y="193852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324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A83248"/>
                </a:solidFill>
                <a:latin typeface="Calibri"/>
                <a:ea typeface="Calibri"/>
                <a:cs typeface="Calibri"/>
                <a:sym typeface="Calibri"/>
              </a:rPr>
              <a:t>SIN discovery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914400" y="224028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53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2532"/>
                </a:solidFill>
                <a:latin typeface="Calibri"/>
                <a:ea typeface="Calibri"/>
                <a:cs typeface="Calibri"/>
                <a:sym typeface="Calibri"/>
              </a:rPr>
              <a:t>El Gateway tendría que guardar host y puerto de cada instancia. Un reinicio o escalado volvería obsoleta esa configuración.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6172200" y="1783080"/>
            <a:ext cx="5394960" cy="1371600"/>
          </a:xfrm>
          <a:prstGeom prst="roundRect">
            <a:avLst>
              <a:gd fmla="val 2667" name="adj"/>
            </a:avLst>
          </a:prstGeom>
          <a:solidFill>
            <a:srgbClr val="E9F3EE"/>
          </a:solidFill>
          <a:ln cap="flat" cmpd="sng" w="12700">
            <a:solidFill>
              <a:srgbClr val="C3DF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6492240" y="193852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E7D53"/>
                </a:solidFill>
                <a:latin typeface="Calibri"/>
                <a:ea typeface="Calibri"/>
                <a:cs typeface="Calibri"/>
                <a:sym typeface="Calibri"/>
              </a:rPr>
              <a:t>CON Eureka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6492240" y="224028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4A3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F4A3E"/>
                </a:solidFill>
                <a:latin typeface="Calibri"/>
                <a:ea typeface="Calibri"/>
                <a:cs typeface="Calibri"/>
                <a:sym typeface="Calibri"/>
              </a:rPr>
              <a:t>El Gateway descarga el registro, mantiene una copia local y el LoadBalancer elige una instancia disponible.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594360" y="33832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Los 3 elementos que publica o renueva cada microservicio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594360" y="3840480"/>
            <a:ext cx="3474720" cy="1828800"/>
          </a:xfrm>
          <a:prstGeom prst="roundRect">
            <a:avLst>
              <a:gd fmla="val 2000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850392" y="4069080"/>
            <a:ext cx="457200" cy="457200"/>
          </a:xfrm>
          <a:prstGeom prst="ellipse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850392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1463040" y="41148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Nombre lógico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850392" y="466344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FA8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2E8FA8"/>
                </a:solidFill>
                <a:latin typeface="Courier New"/>
                <a:ea typeface="Courier New"/>
                <a:cs typeface="Courier New"/>
                <a:sym typeface="Courier New"/>
              </a:rPr>
              <a:t>spring.application.name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850392" y="4983480"/>
            <a:ext cx="3017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Identifica al servicio. Convención: users-service.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4343400" y="3840480"/>
            <a:ext cx="3474720" cy="1828800"/>
          </a:xfrm>
          <a:prstGeom prst="roundRect">
            <a:avLst>
              <a:gd fmla="val 2000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9"/>
          <p:cNvSpPr/>
          <p:nvPr/>
        </p:nvSpPr>
        <p:spPr>
          <a:xfrm>
            <a:off x="4599432" y="4069080"/>
            <a:ext cx="457200" cy="457200"/>
          </a:xfrm>
          <a:prstGeom prst="ellipse">
            <a:avLst/>
          </a:prstGeom>
          <a:solidFill>
            <a:srgbClr val="5B4B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9"/>
          <p:cNvSpPr/>
          <p:nvPr/>
        </p:nvSpPr>
        <p:spPr>
          <a:xfrm>
            <a:off x="4599432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9"/>
          <p:cNvSpPr/>
          <p:nvPr/>
        </p:nvSpPr>
        <p:spPr>
          <a:xfrm>
            <a:off x="5212080" y="41148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Dirección y puerto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4599432" y="466344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B9E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5B4B9E"/>
                </a:solidFill>
                <a:latin typeface="Courier New"/>
                <a:ea typeface="Courier New"/>
                <a:cs typeface="Courier New"/>
                <a:sym typeface="Courier New"/>
              </a:rPr>
              <a:t>host + port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9"/>
          <p:cNvSpPr/>
          <p:nvPr/>
        </p:nvSpPr>
        <p:spPr>
          <a:xfrm>
            <a:off x="4599432" y="4983480"/>
            <a:ext cx="3017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Ubicación actual de cada instancia; nunca se escribe en las rutas externas.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8092440" y="3840480"/>
            <a:ext cx="3474720" cy="1828800"/>
          </a:xfrm>
          <a:prstGeom prst="roundRect">
            <a:avLst>
              <a:gd fmla="val 2000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9"/>
          <p:cNvSpPr/>
          <p:nvPr/>
        </p:nvSpPr>
        <p:spPr>
          <a:xfrm>
            <a:off x="8348472" y="4069080"/>
            <a:ext cx="457200" cy="457200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9"/>
          <p:cNvSpPr/>
          <p:nvPr/>
        </p:nvSpPr>
        <p:spPr>
          <a:xfrm>
            <a:off x="8348472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9"/>
          <p:cNvSpPr/>
          <p:nvPr/>
        </p:nvSpPr>
        <p:spPr>
          <a:xfrm>
            <a:off x="8961120" y="41148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Lease y estado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9"/>
          <p:cNvSpPr/>
          <p:nvPr/>
        </p:nvSpPr>
        <p:spPr>
          <a:xfrm>
            <a:off x="8348472" y="466344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2E7D53"/>
                </a:solidFill>
                <a:latin typeface="Courier New"/>
                <a:ea typeface="Courier New"/>
                <a:cs typeface="Courier New"/>
                <a:sym typeface="Courier New"/>
              </a:rPr>
              <a:t>heartbeat 30 s · status UP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9"/>
          <p:cNvSpPr/>
          <p:nvPr/>
        </p:nvSpPr>
        <p:spPr>
          <a:xfrm>
            <a:off x="8348472" y="4983480"/>
            <a:ext cx="3017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El heartbeat renueva el lease. Actuator solo influye si se habilita la integración de health checks.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0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El ciclo real de Eureka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0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Registro, lease, caché y balanceo: no hay una consulta por cada request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59436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1645920" y="1783080"/>
            <a:ext cx="548640" cy="548640"/>
          </a:xfrm>
          <a:prstGeom prst="ellipse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164592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73152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FA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8FA8"/>
                </a:solidFill>
                <a:latin typeface="Calibri"/>
                <a:ea typeface="Calibri"/>
                <a:cs typeface="Calibri"/>
                <a:sym typeface="Calibri"/>
              </a:rPr>
              <a:t>REGISTRO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0"/>
          <p:cNvSpPr/>
          <p:nvPr/>
        </p:nvSpPr>
        <p:spPr>
          <a:xfrm>
            <a:off x="82296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La instancia publica serviceId, host, puerto y metadata.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3273552" y="251460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0"/>
          <p:cNvSpPr/>
          <p:nvPr/>
        </p:nvSpPr>
        <p:spPr>
          <a:xfrm>
            <a:off x="347472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4526280" y="1783080"/>
            <a:ext cx="548640" cy="548640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0"/>
          <p:cNvSpPr/>
          <p:nvPr/>
        </p:nvSpPr>
        <p:spPr>
          <a:xfrm>
            <a:off x="452628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361188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7D53"/>
                </a:solidFill>
                <a:latin typeface="Calibri"/>
                <a:ea typeface="Calibri"/>
                <a:cs typeface="Calibri"/>
                <a:sym typeface="Calibri"/>
              </a:rPr>
              <a:t>LEASE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0"/>
          <p:cNvSpPr/>
          <p:nvPr/>
        </p:nvSpPr>
        <p:spPr>
          <a:xfrm>
            <a:off x="370332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Heartbeat cada 30 s; la expiración habitual es 90 s y no es inmediata.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0"/>
          <p:cNvSpPr/>
          <p:nvPr/>
        </p:nvSpPr>
        <p:spPr>
          <a:xfrm>
            <a:off x="6153912" y="251460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0"/>
          <p:cNvSpPr/>
          <p:nvPr/>
        </p:nvSpPr>
        <p:spPr>
          <a:xfrm>
            <a:off x="635508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0"/>
          <p:cNvSpPr/>
          <p:nvPr/>
        </p:nvSpPr>
        <p:spPr>
          <a:xfrm>
            <a:off x="7406640" y="1783080"/>
            <a:ext cx="548640" cy="548640"/>
          </a:xfrm>
          <a:prstGeom prst="ellipse">
            <a:avLst/>
          </a:prstGeom>
          <a:solidFill>
            <a:srgbClr val="5B4B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0"/>
          <p:cNvSpPr/>
          <p:nvPr/>
        </p:nvSpPr>
        <p:spPr>
          <a:xfrm>
            <a:off x="740664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0"/>
          <p:cNvSpPr/>
          <p:nvPr/>
        </p:nvSpPr>
        <p:spPr>
          <a:xfrm>
            <a:off x="649224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4B9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5B4B9E"/>
                </a:solidFill>
                <a:latin typeface="Calibri"/>
                <a:ea typeface="Calibri"/>
                <a:cs typeface="Calibri"/>
                <a:sym typeface="Calibri"/>
              </a:rPr>
              <a:t>CACHÉ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0"/>
          <p:cNvSpPr/>
          <p:nvPr/>
        </p:nvSpPr>
        <p:spPr>
          <a:xfrm>
            <a:off x="658368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El Gateway actualiza periódicamente su copia del registro de Eureka.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0"/>
          <p:cNvSpPr/>
          <p:nvPr/>
        </p:nvSpPr>
        <p:spPr>
          <a:xfrm>
            <a:off x="9034272" y="251460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0"/>
          <p:cNvSpPr/>
          <p:nvPr/>
        </p:nvSpPr>
        <p:spPr>
          <a:xfrm>
            <a:off x="923544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0"/>
          <p:cNvSpPr/>
          <p:nvPr/>
        </p:nvSpPr>
        <p:spPr>
          <a:xfrm>
            <a:off x="10287000" y="1783080"/>
            <a:ext cx="548640" cy="548640"/>
          </a:xfrm>
          <a:prstGeom prst="ellipse">
            <a:avLst/>
          </a:prstGeom>
          <a:solidFill>
            <a:srgbClr val="A8324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0"/>
          <p:cNvSpPr/>
          <p:nvPr/>
        </p:nvSpPr>
        <p:spPr>
          <a:xfrm>
            <a:off x="1028700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0"/>
          <p:cNvSpPr/>
          <p:nvPr/>
        </p:nvSpPr>
        <p:spPr>
          <a:xfrm>
            <a:off x="937260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324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A83248"/>
                </a:solidFill>
                <a:latin typeface="Calibri"/>
                <a:ea typeface="Calibri"/>
                <a:cs typeface="Calibri"/>
                <a:sym typeface="Calibri"/>
              </a:rPr>
              <a:t>BALANCEO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946404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lb:// selecciona una instancia UP; timeouts cubren información todavía obsoleta.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0"/>
          <p:cNvSpPr/>
          <p:nvPr/>
        </p:nvSpPr>
        <p:spPr>
          <a:xfrm>
            <a:off x="594360" y="3931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Qué significa realmente lb://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0"/>
          <p:cNvSpPr/>
          <p:nvPr/>
        </p:nvSpPr>
        <p:spPr>
          <a:xfrm>
            <a:off x="594360" y="4343400"/>
            <a:ext cx="10927080" cy="1371600"/>
          </a:xfrm>
          <a:prstGeom prst="roundRect">
            <a:avLst>
              <a:gd fmla="val 2667" name="adj"/>
            </a:avLst>
          </a:prstGeom>
          <a:solidFill>
            <a:srgbClr val="141B3D"/>
          </a:solidFill>
          <a:ln cap="flat" cmpd="sng" w="12700">
            <a:solidFill>
              <a:srgbClr val="141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0"/>
          <p:cNvSpPr/>
          <p:nvPr/>
        </p:nvSpPr>
        <p:spPr>
          <a:xfrm>
            <a:off x="914400" y="4526280"/>
            <a:ext cx="10332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8FD4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8FD4E8"/>
                </a:solidFill>
                <a:latin typeface="Courier New"/>
                <a:ea typeface="Courier New"/>
                <a:cs typeface="Courier New"/>
                <a:sym typeface="Courier New"/>
              </a:rPr>
              <a:t>uri: lb://USERS-SERVICE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B9C7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B9C7E8"/>
                </a:solidFill>
                <a:latin typeface="Courier New"/>
                <a:ea typeface="Courier New"/>
                <a:cs typeface="Courier New"/>
                <a:sym typeface="Courier New"/>
              </a:rPr>
              <a:t>El LoadBalancer consulta la copia local obtenida de Eureka y elige una instancia.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B9C7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B9C7E8"/>
                </a:solidFill>
                <a:latin typeface="Courier New"/>
                <a:ea typeface="Courier New"/>
                <a:cs typeface="Courier New"/>
                <a:sym typeface="Courier New"/>
              </a:rPr>
              <a:t>Self-preservation o cachés pueden retrasar una baja: por eso discovery no reemplaza timeout ni circuit breaker.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2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2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2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Configuración mínima de Eureka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2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Cada componente registra y consulta según su responsabilidad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2"/>
          <p:cNvSpPr/>
          <p:nvPr/>
        </p:nvSpPr>
        <p:spPr>
          <a:xfrm>
            <a:off x="594360" y="1371600"/>
            <a:ext cx="10927080" cy="777240"/>
          </a:xfrm>
          <a:prstGeom prst="roundRect">
            <a:avLst>
              <a:gd fmla="val 4706" name="adj"/>
            </a:avLst>
          </a:prstGeom>
          <a:solidFill>
            <a:srgbClr val="EBE7F7"/>
          </a:solidFill>
          <a:ln cap="flat" cmpd="sng" w="12700">
            <a:solidFill>
              <a:srgbClr val="CFC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2"/>
          <p:cNvSpPr/>
          <p:nvPr/>
        </p:nvSpPr>
        <p:spPr>
          <a:xfrm>
            <a:off x="914400" y="1508760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B9E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5B4B9E"/>
                </a:solidFill>
                <a:latin typeface="Calibri"/>
                <a:ea typeface="Calibri"/>
                <a:cs typeface="Calibri"/>
                <a:sym typeface="Calibri"/>
              </a:rPr>
              <a:t>Convención de nombres  ·  kebab-case + sufijo -service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2"/>
          <p:cNvSpPr/>
          <p:nvPr/>
        </p:nvSpPr>
        <p:spPr>
          <a:xfrm>
            <a:off x="914400" y="1801368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358"/>
              </a:buClr>
              <a:buSzPts val="1250"/>
              <a:buFont typeface="Courier New"/>
              <a:buNone/>
            </a:pPr>
            <a:r>
              <a:rPr lang="en-US" sz="1250">
                <a:solidFill>
                  <a:srgbClr val="3A3358"/>
                </a:solidFill>
                <a:latin typeface="Courier New"/>
                <a:ea typeface="Courier New"/>
                <a:cs typeface="Courier New"/>
                <a:sym typeface="Courier New"/>
              </a:rPr>
              <a:t>users-service   ·   mailing-service   ·   api-gateway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2"/>
          <p:cNvSpPr/>
          <p:nvPr/>
        </p:nvSpPr>
        <p:spPr>
          <a:xfrm>
            <a:off x="594360" y="2286000"/>
            <a:ext cx="10927080" cy="1417320"/>
          </a:xfrm>
          <a:prstGeom prst="roundRect">
            <a:avLst>
              <a:gd fmla="val 2581" name="adj"/>
            </a:avLst>
          </a:prstGeom>
          <a:solidFill>
            <a:srgbClr val="141B3D"/>
          </a:solidFill>
          <a:ln cap="flat" cmpd="sng" w="12700">
            <a:solidFill>
              <a:srgbClr val="141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2"/>
          <p:cNvSpPr/>
          <p:nvPr/>
        </p:nvSpPr>
        <p:spPr>
          <a:xfrm>
            <a:off x="914400" y="2450592"/>
            <a:ext cx="10332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8FD4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8FD4E8"/>
                </a:solidFill>
                <a:latin typeface="Courier New"/>
                <a:ea typeface="Courier New"/>
                <a:cs typeface="Courier New"/>
                <a:sym typeface="Courier New"/>
              </a:rPr>
              <a:t>spring.application.name=users-service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B9C7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B9C7E8"/>
                </a:solidFill>
                <a:latin typeface="Courier New"/>
                <a:ea typeface="Courier New"/>
                <a:cs typeface="Courier New"/>
                <a:sym typeface="Courier New"/>
              </a:rPr>
              <a:t>eureka.client.service-url.defaultZone=${EUREKA_URL:http://localhost:8761/eureka/}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B9C7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B9C7E8"/>
                </a:solidFill>
                <a:latin typeface="Courier New"/>
                <a:ea typeface="Courier New"/>
                <a:cs typeface="Courier New"/>
                <a:sym typeface="Courier New"/>
              </a:rPr>
              <a:t>eureka.client.register-with-eureka=true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F0C97A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0C97A"/>
                </a:solidFill>
                <a:latin typeface="Courier New"/>
                <a:ea typeface="Courier New"/>
                <a:cs typeface="Courier New"/>
                <a:sym typeface="Courier New"/>
              </a:rPr>
              <a:t>eureka.client.fetch-registry=false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F0C97A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0C97A"/>
                </a:solidFill>
                <a:latin typeface="Courier New"/>
                <a:ea typeface="Courier New"/>
                <a:cs typeface="Courier New"/>
                <a:sym typeface="Courier New"/>
              </a:rPr>
              <a:t>eureka.client.healthcheck.enabled=true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2"/>
          <p:cNvSpPr/>
          <p:nvPr/>
        </p:nvSpPr>
        <p:spPr>
          <a:xfrm>
            <a:off x="640080" y="3931920"/>
            <a:ext cx="201168" cy="201168"/>
          </a:xfrm>
          <a:prstGeom prst="ellipse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2"/>
          <p:cNvSpPr/>
          <p:nvPr/>
        </p:nvSpPr>
        <p:spPr>
          <a:xfrm>
            <a:off x="960120" y="3886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spring.application.name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2"/>
          <p:cNvSpPr/>
          <p:nvPr/>
        </p:nvSpPr>
        <p:spPr>
          <a:xfrm>
            <a:off x="4389120" y="3886200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Valor canónico en minúsculas. Eureka puede mostrarlo en mayúsculas; el locator lo normaliza.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2"/>
          <p:cNvSpPr/>
          <p:nvPr/>
        </p:nvSpPr>
        <p:spPr>
          <a:xfrm>
            <a:off x="640080" y="4480560"/>
            <a:ext cx="201168" cy="201168"/>
          </a:xfrm>
          <a:prstGeom prst="ellipse">
            <a:avLst/>
          </a:prstGeom>
          <a:solidFill>
            <a:srgbClr val="5B4B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2"/>
          <p:cNvSpPr/>
          <p:nvPr/>
        </p:nvSpPr>
        <p:spPr>
          <a:xfrm>
            <a:off x="960120" y="44348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eureka.client.service-url.defaultZone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2"/>
          <p:cNvSpPr/>
          <p:nvPr/>
        </p:nvSpPr>
        <p:spPr>
          <a:xfrm>
            <a:off x="4389120" y="4434840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Dirección del servidor Eureka, siempre configurable por ambiente.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2"/>
          <p:cNvSpPr/>
          <p:nvPr/>
        </p:nvSpPr>
        <p:spPr>
          <a:xfrm>
            <a:off x="640080" y="5029200"/>
            <a:ext cx="201168" cy="201168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2"/>
          <p:cNvSpPr/>
          <p:nvPr/>
        </p:nvSpPr>
        <p:spPr>
          <a:xfrm>
            <a:off x="960120" y="49834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lang="en-US" sz="110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register-with-eureka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2"/>
          <p:cNvSpPr/>
          <p:nvPr/>
        </p:nvSpPr>
        <p:spPr>
          <a:xfrm>
            <a:off x="4389120" y="4983480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true en los micros. En el Gateway es opcional; si se registra, debe excluirse del locator.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2"/>
          <p:cNvSpPr/>
          <p:nvPr/>
        </p:nvSpPr>
        <p:spPr>
          <a:xfrm>
            <a:off x="594360" y="5577840"/>
            <a:ext cx="10927080" cy="914400"/>
          </a:xfrm>
          <a:prstGeom prst="roundRect">
            <a:avLst>
              <a:gd fmla="val 4000" name="adj"/>
            </a:avLst>
          </a:prstGeom>
          <a:solidFill>
            <a:srgbClr val="EAF2F5"/>
          </a:solidFill>
          <a:ln cap="flat" cmpd="sng" w="12700">
            <a:solidFill>
              <a:srgbClr val="2E8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2"/>
          <p:cNvSpPr/>
          <p:nvPr/>
        </p:nvSpPr>
        <p:spPr>
          <a:xfrm>
            <a:off x="914400" y="5705856"/>
            <a:ext cx="10332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FA8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E8FA8"/>
                </a:solidFill>
                <a:latin typeface="Calibri"/>
                <a:ea typeface="Calibri"/>
                <a:cs typeface="Calibri"/>
                <a:sym typeface="Calibri"/>
              </a:rPr>
              <a:t>fetch-registry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445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B4450"/>
                </a:solidFill>
                <a:latin typeface="Calibri"/>
                <a:ea typeface="Calibri"/>
                <a:cs typeface="Calibri"/>
                <a:sym typeface="Calibri"/>
              </a:rPr>
              <a:t>true en el Gateway. Los micros pueden usar false si llaman al Gateway por DNS interno; si lo descubren por Eureka, necesitan true.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3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3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3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Ruteo dinámico gobernado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3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Descubrimiento automático no significa exposición automática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3"/>
          <p:cNvSpPr/>
          <p:nvPr/>
        </p:nvSpPr>
        <p:spPr>
          <a:xfrm>
            <a:off x="594360" y="1417320"/>
            <a:ext cx="6583680" cy="3383280"/>
          </a:xfrm>
          <a:prstGeom prst="roundRect">
            <a:avLst>
              <a:gd fmla="val 1081" name="adj"/>
            </a:avLst>
          </a:prstGeom>
          <a:solidFill>
            <a:srgbClr val="141B3D"/>
          </a:solidFill>
          <a:ln cap="flat" cmpd="sng" w="12700">
            <a:solidFill>
              <a:srgbClr val="141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3"/>
          <p:cNvSpPr/>
          <p:nvPr/>
        </p:nvSpPr>
        <p:spPr>
          <a:xfrm>
            <a:off x="914400" y="1572768"/>
            <a:ext cx="6035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application.yml + DiscoveryLocatorConfig.java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3"/>
          <p:cNvSpPr/>
          <p:nvPr/>
        </p:nvSpPr>
        <p:spPr>
          <a:xfrm>
            <a:off x="914400" y="1874520"/>
            <a:ext cx="60350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discovery.locator: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  enabled: true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  lower-case-service-id: true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  include-expression: &lt;solo servicios admitidos&gt;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Regla: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USERS-SERVICE → users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predicate: /api/users/**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uri: lb://USERS-SERVICE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forwarded path: /api/</a:t>
            </a:r>
            <a:r>
              <a:rPr lang="en-US" sz="95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r>
              <a:rPr lang="en-US" sz="95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/**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3"/>
          <p:cNvSpPr/>
          <p:nvPr/>
        </p:nvSpPr>
        <p:spPr>
          <a:xfrm>
            <a:off x="7406640" y="1417320"/>
            <a:ext cx="4160520" cy="3383280"/>
          </a:xfrm>
          <a:prstGeom prst="roundRect">
            <a:avLst>
              <a:gd fmla="val 1081" name="adj"/>
            </a:avLst>
          </a:prstGeom>
          <a:solidFill>
            <a:srgbClr val="E9F3EE"/>
          </a:solidFill>
          <a:ln cap="flat" cmpd="sng" w="12700">
            <a:solidFill>
              <a:srgbClr val="C3DF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3"/>
          <p:cNvSpPr/>
          <p:nvPr/>
        </p:nvSpPr>
        <p:spPr>
          <a:xfrm>
            <a:off x="7726680" y="160020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2E7D53"/>
                </a:solidFill>
                <a:latin typeface="Calibri"/>
                <a:ea typeface="Calibri"/>
                <a:cs typeface="Calibri"/>
                <a:sym typeface="Calibri"/>
              </a:rPr>
              <a:t>Condiciones del diseño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3"/>
          <p:cNvSpPr/>
          <p:nvPr/>
        </p:nvSpPr>
        <p:spPr>
          <a:xfrm>
            <a:off x="7772400" y="2066544"/>
            <a:ext cx="201168" cy="201168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3"/>
          <p:cNvSpPr/>
          <p:nvPr/>
        </p:nvSpPr>
        <p:spPr>
          <a:xfrm>
            <a:off x="8092440" y="201168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Exposición controlada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3"/>
          <p:cNvSpPr/>
          <p:nvPr/>
        </p:nvSpPr>
        <p:spPr>
          <a:xfrm>
            <a:off x="8092440" y="226771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Allowlist o regla de inclusión; Gateway, Eureka, Actuator e infraestructura quedan fuera.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3"/>
          <p:cNvSpPr/>
          <p:nvPr/>
        </p:nvSpPr>
        <p:spPr>
          <a:xfrm>
            <a:off x="7772400" y="2724912"/>
            <a:ext cx="201168" cy="201168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3"/>
          <p:cNvSpPr/>
          <p:nvPr/>
        </p:nvSpPr>
        <p:spPr>
          <a:xfrm>
            <a:off x="8092440" y="267004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Contrato único de nombres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3"/>
          <p:cNvSpPr/>
          <p:nvPr/>
        </p:nvSpPr>
        <p:spPr>
          <a:xfrm>
            <a:off x="8092440" y="29260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El serviceId deriva la URL externa y se valida en CI.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3"/>
          <p:cNvSpPr/>
          <p:nvPr/>
        </p:nvSpPr>
        <p:spPr>
          <a:xfrm>
            <a:off x="7772400" y="3383280"/>
            <a:ext cx="201168" cy="201168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3"/>
          <p:cNvSpPr/>
          <p:nvPr/>
        </p:nvSpPr>
        <p:spPr>
          <a:xfrm>
            <a:off x="8092440" y="332841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Políticas por servicio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3"/>
          <p:cNvSpPr/>
          <p:nvPr/>
        </p:nvSpPr>
        <p:spPr>
          <a:xfrm>
            <a:off x="8092440" y="358444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Breaker, timeout y rate limit reciben serviceId como clave.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3"/>
          <p:cNvSpPr/>
          <p:nvPr/>
        </p:nvSpPr>
        <p:spPr>
          <a:xfrm>
            <a:off x="7772400" y="4041648"/>
            <a:ext cx="201168" cy="201168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3"/>
          <p:cNvSpPr/>
          <p:nvPr/>
        </p:nvSpPr>
        <p:spPr>
          <a:xfrm>
            <a:off x="8092440" y="398678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Sin autoruta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3"/>
          <p:cNvSpPr/>
          <p:nvPr/>
        </p:nvSpPr>
        <p:spPr>
          <a:xfrm>
            <a:off x="8092440" y="4242816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api-gateway nunca genera una ruta hacia sí mismo.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3"/>
          <p:cNvSpPr/>
          <p:nvPr/>
        </p:nvSpPr>
        <p:spPr>
          <a:xfrm>
            <a:off x="594360" y="493776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Agregar un micro = nombre válido + opt-in + contrato OpenAPI + pruebas. No alcanza con registrarlo en Eureka.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3"/>
          <p:cNvSpPr/>
          <p:nvPr/>
        </p:nvSpPr>
        <p:spPr>
          <a:xfrm>
            <a:off x="594360" y="5440680"/>
            <a:ext cx="10972800" cy="777240"/>
          </a:xfrm>
          <a:prstGeom prst="roundRect">
            <a:avLst>
              <a:gd fmla="val 4706" name="adj"/>
            </a:avLst>
          </a:prstGeom>
          <a:solidFill>
            <a:srgbClr val="FDF0DC"/>
          </a:solidFill>
          <a:ln cap="flat" cmpd="sng" w="12700">
            <a:solidFill>
              <a:srgbClr val="F0DB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3"/>
          <p:cNvSpPr/>
          <p:nvPr/>
        </p:nvSpPr>
        <p:spPr>
          <a:xfrm>
            <a:off x="914400" y="5559552"/>
            <a:ext cx="10332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8791F"/>
                </a:solidFill>
                <a:latin typeface="Calibri"/>
                <a:ea typeface="Calibri"/>
                <a:cs typeface="Calibri"/>
                <a:sym typeface="Calibri"/>
              </a:rPr>
              <a:t>Especificación pendiente de verificación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3"/>
          <p:cNvSpPr/>
          <p:nvPr/>
        </p:nvSpPr>
        <p:spPr>
          <a:xfrm>
            <a:off x="914400" y="5788152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A1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4A12"/>
                </a:solidFill>
                <a:latin typeface="Calibri"/>
                <a:ea typeface="Calibri"/>
                <a:cs typeface="Calibri"/>
                <a:sym typeface="Calibri"/>
              </a:rPr>
              <a:t>Fijar versiones de Spring Boot/Cloud, implementar predicate y path forwarding, probar con 2 servicios y confirmar que servicios desconocidos no se exponen.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4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4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4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Una ruta completa, sin ambigüedad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4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Debe quedar definido qué se compara y qué path recibe el backend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4"/>
          <p:cNvSpPr/>
          <p:nvPr/>
        </p:nvSpPr>
        <p:spPr>
          <a:xfrm>
            <a:off x="59436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4"/>
          <p:cNvSpPr/>
          <p:nvPr/>
        </p:nvSpPr>
        <p:spPr>
          <a:xfrm>
            <a:off x="1645920" y="1783080"/>
            <a:ext cx="548640" cy="548640"/>
          </a:xfrm>
          <a:prstGeom prst="ellipse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4"/>
          <p:cNvSpPr/>
          <p:nvPr/>
        </p:nvSpPr>
        <p:spPr>
          <a:xfrm>
            <a:off x="164592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4"/>
          <p:cNvSpPr/>
          <p:nvPr/>
        </p:nvSpPr>
        <p:spPr>
          <a:xfrm>
            <a:off x="73152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FA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8FA8"/>
                </a:solidFill>
                <a:latin typeface="Calibri"/>
                <a:ea typeface="Calibri"/>
                <a:cs typeface="Calibri"/>
                <a:sym typeface="Calibri"/>
              </a:rPr>
              <a:t>SERVICE ID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4"/>
          <p:cNvSpPr/>
          <p:nvPr/>
        </p:nvSpPr>
        <p:spPr>
          <a:xfrm>
            <a:off x="82296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USERS-SERVICE se normaliza y se transforma en users.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4"/>
          <p:cNvSpPr/>
          <p:nvPr/>
        </p:nvSpPr>
        <p:spPr>
          <a:xfrm>
            <a:off x="3273552" y="251460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4"/>
          <p:cNvSpPr/>
          <p:nvPr/>
        </p:nvSpPr>
        <p:spPr>
          <a:xfrm>
            <a:off x="347472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4"/>
          <p:cNvSpPr/>
          <p:nvPr/>
        </p:nvSpPr>
        <p:spPr>
          <a:xfrm>
            <a:off x="4526280" y="1783080"/>
            <a:ext cx="548640" cy="548640"/>
          </a:xfrm>
          <a:prstGeom prst="ellipse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4"/>
          <p:cNvSpPr/>
          <p:nvPr/>
        </p:nvSpPr>
        <p:spPr>
          <a:xfrm>
            <a:off x="452628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4"/>
          <p:cNvSpPr/>
          <p:nvPr/>
        </p:nvSpPr>
        <p:spPr>
          <a:xfrm>
            <a:off x="361188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7D53"/>
                </a:solidFill>
                <a:latin typeface="Calibri"/>
                <a:ea typeface="Calibri"/>
                <a:cs typeface="Calibri"/>
                <a:sym typeface="Calibri"/>
              </a:rPr>
              <a:t>PREDICATE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4"/>
          <p:cNvSpPr/>
          <p:nvPr/>
        </p:nvSpPr>
        <p:spPr>
          <a:xfrm>
            <a:off x="370332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El request entrante coincide con /api/users/**.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4"/>
          <p:cNvSpPr/>
          <p:nvPr/>
        </p:nvSpPr>
        <p:spPr>
          <a:xfrm>
            <a:off x="6153912" y="251460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4"/>
          <p:cNvSpPr/>
          <p:nvPr/>
        </p:nvSpPr>
        <p:spPr>
          <a:xfrm>
            <a:off x="635508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4"/>
          <p:cNvSpPr/>
          <p:nvPr/>
        </p:nvSpPr>
        <p:spPr>
          <a:xfrm>
            <a:off x="7406640" y="1783080"/>
            <a:ext cx="548640" cy="548640"/>
          </a:xfrm>
          <a:prstGeom prst="ellipse">
            <a:avLst/>
          </a:prstGeom>
          <a:solidFill>
            <a:srgbClr val="5B4B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4"/>
          <p:cNvSpPr/>
          <p:nvPr/>
        </p:nvSpPr>
        <p:spPr>
          <a:xfrm>
            <a:off x="740664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4"/>
          <p:cNvSpPr/>
          <p:nvPr/>
        </p:nvSpPr>
        <p:spPr>
          <a:xfrm>
            <a:off x="649224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4B9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5B4B9E"/>
                </a:solidFill>
                <a:latin typeface="Calibri"/>
                <a:ea typeface="Calibri"/>
                <a:cs typeface="Calibri"/>
                <a:sym typeface="Calibri"/>
              </a:rPr>
              <a:t>LOAD BALANCER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4"/>
          <p:cNvSpPr/>
          <p:nvPr/>
        </p:nvSpPr>
        <p:spPr>
          <a:xfrm>
            <a:off x="658368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lb://USERS-SERVICE elige una instancia desde la caché de Eureka.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4"/>
          <p:cNvSpPr/>
          <p:nvPr/>
        </p:nvSpPr>
        <p:spPr>
          <a:xfrm>
            <a:off x="9034272" y="2514600"/>
            <a:ext cx="201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2E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6D2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4"/>
          <p:cNvSpPr/>
          <p:nvPr/>
        </p:nvSpPr>
        <p:spPr>
          <a:xfrm>
            <a:off x="9235440" y="1554480"/>
            <a:ext cx="2651760" cy="2103120"/>
          </a:xfrm>
          <a:prstGeom prst="roundRect">
            <a:avLst>
              <a:gd fmla="val 1739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4"/>
          <p:cNvSpPr/>
          <p:nvPr/>
        </p:nvSpPr>
        <p:spPr>
          <a:xfrm>
            <a:off x="10287000" y="1783080"/>
            <a:ext cx="548640" cy="548640"/>
          </a:xfrm>
          <a:prstGeom prst="ellipse">
            <a:avLst/>
          </a:prstGeom>
          <a:solidFill>
            <a:srgbClr val="A8324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4"/>
          <p:cNvSpPr/>
          <p:nvPr/>
        </p:nvSpPr>
        <p:spPr>
          <a:xfrm>
            <a:off x="1028700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4"/>
          <p:cNvSpPr/>
          <p:nvPr/>
        </p:nvSpPr>
        <p:spPr>
          <a:xfrm>
            <a:off x="9372600" y="24688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324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A83248"/>
                </a:solidFill>
                <a:latin typeface="Calibri"/>
                <a:ea typeface="Calibri"/>
                <a:cs typeface="Calibri"/>
                <a:sym typeface="Calibri"/>
              </a:rPr>
              <a:t>PATH ENVIADO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4"/>
          <p:cNvSpPr/>
          <p:nvPr/>
        </p:nvSpPr>
        <p:spPr>
          <a:xfrm>
            <a:off x="946404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Nuestro contrato conserva /api/users/me hasta el controller.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4"/>
          <p:cNvSpPr/>
          <p:nvPr/>
        </p:nvSpPr>
        <p:spPr>
          <a:xfrm>
            <a:off x="594360" y="3931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Contrato elegido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4"/>
          <p:cNvSpPr/>
          <p:nvPr/>
        </p:nvSpPr>
        <p:spPr>
          <a:xfrm>
            <a:off x="594360" y="4343400"/>
            <a:ext cx="10927080" cy="1371600"/>
          </a:xfrm>
          <a:prstGeom prst="roundRect">
            <a:avLst>
              <a:gd fmla="val 2667" name="adj"/>
            </a:avLst>
          </a:prstGeom>
          <a:solidFill>
            <a:srgbClr val="141B3D"/>
          </a:solidFill>
          <a:ln cap="flat" cmpd="sng" w="12700">
            <a:solidFill>
              <a:srgbClr val="141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4"/>
          <p:cNvSpPr/>
          <p:nvPr/>
        </p:nvSpPr>
        <p:spPr>
          <a:xfrm>
            <a:off x="914400" y="45262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Entrada: GET /api/users/me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CBD5E8"/>
                </a:solidFill>
                <a:latin typeface="Calibri"/>
                <a:ea typeface="Calibri"/>
                <a:cs typeface="Calibri"/>
                <a:sym typeface="Calibri"/>
              </a:rPr>
              <a:t>Destino: lb://USERS-SERVICE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Path enviado: /api/users/me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Controller: @RequestMapping("${app.api.public-path}")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CBD5E8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CBD5E8"/>
                </a:solidFill>
                <a:latin typeface="Courier New"/>
                <a:ea typeface="Courier New"/>
                <a:cs typeface="Courier New"/>
                <a:sym typeface="Courier New"/>
              </a:rPr>
              <a:t>Si se usa RewritePath, documentar y probar el path final; no mezclar alternativas.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4" name="Google Shape;69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6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6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6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Resiliencia y observabilidad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6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El circuit breaker es una capa; la protección completa necesita límites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6"/>
          <p:cNvSpPr/>
          <p:nvPr/>
        </p:nvSpPr>
        <p:spPr>
          <a:xfrm>
            <a:off x="594360" y="1463040"/>
            <a:ext cx="5394960" cy="1554480"/>
          </a:xfrm>
          <a:prstGeom prst="roundRect">
            <a:avLst>
              <a:gd fmla="val 2353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6"/>
          <p:cNvSpPr/>
          <p:nvPr/>
        </p:nvSpPr>
        <p:spPr>
          <a:xfrm>
            <a:off x="594360" y="1463040"/>
            <a:ext cx="5394960" cy="54864"/>
          </a:xfrm>
          <a:prstGeom prst="rect">
            <a:avLst/>
          </a:prstGeom>
          <a:solidFill>
            <a:srgbClr val="A8324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6"/>
          <p:cNvSpPr/>
          <p:nvPr/>
        </p:nvSpPr>
        <p:spPr>
          <a:xfrm>
            <a:off x="914400" y="171907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324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A83248"/>
                </a:solidFill>
                <a:latin typeface="Calibri"/>
                <a:ea typeface="Calibri"/>
                <a:cs typeface="Calibri"/>
                <a:sym typeface="Calibri"/>
              </a:rPr>
              <a:t>Timeout + bulkhead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6"/>
          <p:cNvSpPr/>
          <p:nvPr/>
        </p:nvSpPr>
        <p:spPr>
          <a:xfrm>
            <a:off x="914400" y="2121408"/>
            <a:ext cx="4754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Connect/response timeout por ruta, pool limitado y tope de concurrencia para que un destino lento no agote el Gateway.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6"/>
          <p:cNvSpPr/>
          <p:nvPr/>
        </p:nvSpPr>
        <p:spPr>
          <a:xfrm>
            <a:off x="6172200" y="1463040"/>
            <a:ext cx="5394960" cy="1554480"/>
          </a:xfrm>
          <a:prstGeom prst="roundRect">
            <a:avLst>
              <a:gd fmla="val 2353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6"/>
          <p:cNvSpPr/>
          <p:nvPr/>
        </p:nvSpPr>
        <p:spPr>
          <a:xfrm>
            <a:off x="6172200" y="1463040"/>
            <a:ext cx="5394960" cy="54864"/>
          </a:xfrm>
          <a:prstGeom prst="rect">
            <a:avLst/>
          </a:prstGeom>
          <a:solidFill>
            <a:srgbClr val="B8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6"/>
          <p:cNvSpPr/>
          <p:nvPr/>
        </p:nvSpPr>
        <p:spPr>
          <a:xfrm>
            <a:off x="6492240" y="171907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91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B8791F"/>
                </a:solidFill>
                <a:latin typeface="Calibri"/>
                <a:ea typeface="Calibri"/>
                <a:cs typeface="Calibri"/>
                <a:sym typeface="Calibri"/>
              </a:rPr>
              <a:t>Circuit breaker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6"/>
          <p:cNvSpPr/>
          <p:nvPr/>
        </p:nvSpPr>
        <p:spPr>
          <a:xfrm>
            <a:off x="6492240" y="2121408"/>
            <a:ext cx="4754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Uno por serviceId. Abre solo el destino con fallas y devuelve 503 mediante fallback.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6"/>
          <p:cNvSpPr/>
          <p:nvPr/>
        </p:nvSpPr>
        <p:spPr>
          <a:xfrm>
            <a:off x="594360" y="3200400"/>
            <a:ext cx="5394960" cy="1554480"/>
          </a:xfrm>
          <a:prstGeom prst="roundRect">
            <a:avLst>
              <a:gd fmla="val 2353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6"/>
          <p:cNvSpPr/>
          <p:nvPr/>
        </p:nvSpPr>
        <p:spPr>
          <a:xfrm>
            <a:off x="594360" y="3200400"/>
            <a:ext cx="5394960" cy="54864"/>
          </a:xfrm>
          <a:prstGeom prst="rect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6"/>
          <p:cNvSpPr/>
          <p:nvPr/>
        </p:nvSpPr>
        <p:spPr>
          <a:xfrm>
            <a:off x="914400" y="345643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E7D53"/>
                </a:solidFill>
                <a:latin typeface="Calibri"/>
                <a:ea typeface="Calibri"/>
                <a:cs typeface="Calibri"/>
                <a:sym typeface="Calibri"/>
              </a:rPr>
              <a:t>Retry seguro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6"/>
          <p:cNvSpPr/>
          <p:nvPr/>
        </p:nvSpPr>
        <p:spPr>
          <a:xfrm>
            <a:off x="914400" y="3858768"/>
            <a:ext cx="4754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Solo GET o solicitudes con idempotency key; backoff + jitter. Un 429 respeta Retry-After.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6"/>
          <p:cNvSpPr/>
          <p:nvPr/>
        </p:nvSpPr>
        <p:spPr>
          <a:xfrm>
            <a:off x="6172200" y="3200400"/>
            <a:ext cx="5394960" cy="1554480"/>
          </a:xfrm>
          <a:prstGeom prst="roundRect">
            <a:avLst>
              <a:gd fmla="val 2353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6"/>
          <p:cNvSpPr/>
          <p:nvPr/>
        </p:nvSpPr>
        <p:spPr>
          <a:xfrm>
            <a:off x="6172200" y="3200400"/>
            <a:ext cx="5394960" cy="54864"/>
          </a:xfrm>
          <a:prstGeom prst="rect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6"/>
          <p:cNvSpPr/>
          <p:nvPr/>
        </p:nvSpPr>
        <p:spPr>
          <a:xfrm>
            <a:off x="6492240" y="345643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FA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E8FA8"/>
                </a:solidFill>
                <a:latin typeface="Calibri"/>
                <a:ea typeface="Calibri"/>
                <a:cs typeface="Calibri"/>
                <a:sym typeface="Calibri"/>
              </a:rPr>
              <a:t>Trazabilidad y alertas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6"/>
          <p:cNvSpPr/>
          <p:nvPr/>
        </p:nvSpPr>
        <p:spPr>
          <a:xfrm>
            <a:off x="6492240" y="3858768"/>
            <a:ext cx="4754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traceparent, requestId, p95/p99, tasa de error, retries, rechazos 429 y estado de cada breaker.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6"/>
          <p:cNvSpPr/>
          <p:nvPr/>
        </p:nvSpPr>
        <p:spPr>
          <a:xfrm>
            <a:off x="594360" y="5029200"/>
            <a:ext cx="10927080" cy="1005840"/>
          </a:xfrm>
          <a:prstGeom prst="roundRect">
            <a:avLst>
              <a:gd fmla="val 3636" name="adj"/>
            </a:avLst>
          </a:prstGeom>
          <a:solidFill>
            <a:srgbClr val="EAF2F5"/>
          </a:solidFill>
          <a:ln cap="flat" cmpd="sng" w="12700">
            <a:solidFill>
              <a:srgbClr val="BFD8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6"/>
          <p:cNvSpPr/>
          <p:nvPr/>
        </p:nvSpPr>
        <p:spPr>
          <a:xfrm>
            <a:off x="914400" y="5285232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445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B4450"/>
                </a:solidFill>
                <a:latin typeface="Calibri"/>
                <a:ea typeface="Calibri"/>
                <a:cs typeface="Calibri"/>
                <a:sym typeface="Calibri"/>
              </a:rPr>
              <a:t>Para IA: rate limit → bulkhead → timeout → retry controlado → circuit breaker → fallback. El breaker solo no protege conexiones ni memoria.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27"/>
          <p:cNvSpPr/>
          <p:nvPr/>
        </p:nvSpPr>
        <p:spPr>
          <a:xfrm>
            <a:off x="594360" y="4572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7"/>
          <p:cNvSpPr/>
          <p:nvPr/>
        </p:nvSpPr>
        <p:spPr>
          <a:xfrm>
            <a:off x="594360" y="457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7"/>
          <p:cNvSpPr/>
          <p:nvPr/>
        </p:nvSpPr>
        <p:spPr>
          <a:xfrm>
            <a:off x="1188720" y="411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Pruebas obligatorias antes de integrar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"/>
          <p:cNvSpPr/>
          <p:nvPr/>
        </p:nvSpPr>
        <p:spPr>
          <a:xfrm>
            <a:off x="1207008" y="93268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La arquitectura queda aprobada cuando pasan estas cuatro familias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7"/>
          <p:cNvSpPr/>
          <p:nvPr/>
        </p:nvSpPr>
        <p:spPr>
          <a:xfrm>
            <a:off x="594360" y="1463040"/>
            <a:ext cx="5303520" cy="1965960"/>
          </a:xfrm>
          <a:prstGeom prst="roundRect">
            <a:avLst>
              <a:gd fmla="val 1860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7"/>
          <p:cNvSpPr/>
          <p:nvPr/>
        </p:nvSpPr>
        <p:spPr>
          <a:xfrm>
            <a:off x="594360" y="1463040"/>
            <a:ext cx="5303520" cy="54864"/>
          </a:xfrm>
          <a:prstGeom prst="rect">
            <a:avLst/>
          </a:prstGeom>
          <a:solidFill>
            <a:srgbClr val="2E7D5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7"/>
          <p:cNvSpPr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3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E7D53"/>
                </a:solidFill>
                <a:latin typeface="Calibri"/>
                <a:ea typeface="Calibri"/>
                <a:cs typeface="Calibri"/>
                <a:sym typeface="Calibri"/>
              </a:rPr>
              <a:t>1 · Ruteo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7"/>
          <p:cNvSpPr/>
          <p:nvPr/>
        </p:nvSpPr>
        <p:spPr>
          <a:xfrm>
            <a:off x="868680" y="205740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2 servicios reales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7"/>
          <p:cNvSpPr/>
          <p:nvPr/>
        </p:nvSpPr>
        <p:spPr>
          <a:xfrm>
            <a:off x="868680" y="242316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Valida derivación, path final, exclusiones, servicio desconocido 404 y ausencia de autoruta.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7"/>
          <p:cNvSpPr/>
          <p:nvPr/>
        </p:nvSpPr>
        <p:spPr>
          <a:xfrm>
            <a:off x="6217920" y="1463040"/>
            <a:ext cx="5303520" cy="1965960"/>
          </a:xfrm>
          <a:prstGeom prst="roundRect">
            <a:avLst>
              <a:gd fmla="val 1860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7"/>
          <p:cNvSpPr/>
          <p:nvPr/>
        </p:nvSpPr>
        <p:spPr>
          <a:xfrm>
            <a:off x="6217920" y="1463040"/>
            <a:ext cx="5303520" cy="54864"/>
          </a:xfrm>
          <a:prstGeom prst="rect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7"/>
          <p:cNvSpPr/>
          <p:nvPr/>
        </p:nvSpPr>
        <p:spPr>
          <a:xfrm>
            <a:off x="6492240" y="16916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FA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E8FA8"/>
                </a:solidFill>
                <a:latin typeface="Calibri"/>
                <a:ea typeface="Calibri"/>
                <a:cs typeface="Calibri"/>
                <a:sym typeface="Calibri"/>
              </a:rPr>
              <a:t>2 · Seguridad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7"/>
          <p:cNvSpPr/>
          <p:nvPr/>
        </p:nvSpPr>
        <p:spPr>
          <a:xfrm>
            <a:off x="6492240" y="205740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JWT y headers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7"/>
          <p:cNvSpPr/>
          <p:nvPr/>
        </p:nvSpPr>
        <p:spPr>
          <a:xfrm>
            <a:off x="6492240" y="242316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401 inválido; 403 interno; aud/scope; headers falsificados eliminados y reemplazados.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7"/>
          <p:cNvSpPr/>
          <p:nvPr/>
        </p:nvSpPr>
        <p:spPr>
          <a:xfrm>
            <a:off x="594360" y="3657600"/>
            <a:ext cx="5303520" cy="1965960"/>
          </a:xfrm>
          <a:prstGeom prst="roundRect">
            <a:avLst>
              <a:gd fmla="val 1860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7"/>
          <p:cNvSpPr/>
          <p:nvPr/>
        </p:nvSpPr>
        <p:spPr>
          <a:xfrm>
            <a:off x="594360" y="3657600"/>
            <a:ext cx="5303520" cy="54864"/>
          </a:xfrm>
          <a:prstGeom prst="rect">
            <a:avLst/>
          </a:prstGeom>
          <a:solidFill>
            <a:srgbClr val="5B4B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7"/>
          <p:cNvSpPr/>
          <p:nvPr/>
        </p:nvSpPr>
        <p:spPr>
          <a:xfrm>
            <a:off x="868680" y="388620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B9E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5B4B9E"/>
                </a:solidFill>
                <a:latin typeface="Calibri"/>
                <a:ea typeface="Calibri"/>
                <a:cs typeface="Calibri"/>
                <a:sym typeface="Calibri"/>
              </a:rPr>
              <a:t>3 · Discovery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7"/>
          <p:cNvSpPr/>
          <p:nvPr/>
        </p:nvSpPr>
        <p:spPr>
          <a:xfrm>
            <a:off x="868680" y="425196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Eureka y balanceo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7"/>
          <p:cNvSpPr/>
          <p:nvPr/>
        </p:nvSpPr>
        <p:spPr>
          <a:xfrm>
            <a:off x="868680" y="461772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Dos instancias, baja eventual, caché durante caída de Eureka y ningún acceso directo.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7"/>
          <p:cNvSpPr/>
          <p:nvPr/>
        </p:nvSpPr>
        <p:spPr>
          <a:xfrm>
            <a:off x="6217920" y="3657600"/>
            <a:ext cx="5303520" cy="1965960"/>
          </a:xfrm>
          <a:prstGeom prst="roundRect">
            <a:avLst>
              <a:gd fmla="val 1860" name="adj"/>
            </a:avLst>
          </a:prstGeom>
          <a:solidFill>
            <a:srgbClr val="F4F6FB"/>
          </a:solidFill>
          <a:ln cap="flat" cmpd="sng" w="12700">
            <a:solidFill>
              <a:srgbClr val="DD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7"/>
          <p:cNvSpPr/>
          <p:nvPr/>
        </p:nvSpPr>
        <p:spPr>
          <a:xfrm>
            <a:off x="6217920" y="3657600"/>
            <a:ext cx="5303520" cy="54864"/>
          </a:xfrm>
          <a:prstGeom prst="rect">
            <a:avLst/>
          </a:prstGeom>
          <a:solidFill>
            <a:srgbClr val="A8324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7"/>
          <p:cNvSpPr/>
          <p:nvPr/>
        </p:nvSpPr>
        <p:spPr>
          <a:xfrm>
            <a:off x="6492240" y="388620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324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A83248"/>
                </a:solidFill>
                <a:latin typeface="Calibri"/>
                <a:ea typeface="Calibri"/>
                <a:cs typeface="Calibri"/>
                <a:sym typeface="Calibri"/>
              </a:rPr>
              <a:t>4 · Resiliencia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7"/>
          <p:cNvSpPr/>
          <p:nvPr/>
        </p:nvSpPr>
        <p:spPr>
          <a:xfrm>
            <a:off x="6492240" y="425196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fallas controladas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7"/>
          <p:cNvSpPr/>
          <p:nvPr/>
        </p:nvSpPr>
        <p:spPr>
          <a:xfrm>
            <a:off x="6492240" y="461772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Timeout 504, breaker aislado, retry idempotente, 429 + Retry-After y traza end-to-end.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8"/>
          <p:cNvSpPr/>
          <p:nvPr/>
        </p:nvSpPr>
        <p:spPr>
          <a:xfrm>
            <a:off x="822960" y="11887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 resumen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8"/>
          <p:cNvSpPr/>
          <p:nvPr/>
        </p:nvSpPr>
        <p:spPr>
          <a:xfrm>
            <a:off x="868680" y="2039112"/>
            <a:ext cx="292608" cy="292608"/>
          </a:xfrm>
          <a:prstGeom prst="ellipse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8"/>
          <p:cNvSpPr/>
          <p:nvPr/>
        </p:nvSpPr>
        <p:spPr>
          <a:xfrm>
            <a:off x="868680" y="20391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8"/>
          <p:cNvSpPr/>
          <p:nvPr/>
        </p:nvSpPr>
        <p:spPr>
          <a:xfrm>
            <a:off x="1371600" y="19659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Puerta única verificable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8"/>
          <p:cNvSpPr/>
          <p:nvPr/>
        </p:nvSpPr>
        <p:spPr>
          <a:xfrm>
            <a:off x="5120640" y="1965960"/>
            <a:ext cx="6217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La red bloquea accesos directos; solo el Gateway está expuesto.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8"/>
          <p:cNvSpPr/>
          <p:nvPr/>
        </p:nvSpPr>
        <p:spPr>
          <a:xfrm>
            <a:off x="868680" y="2697480"/>
            <a:ext cx="292608" cy="292608"/>
          </a:xfrm>
          <a:prstGeom prst="ellipse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8"/>
          <p:cNvSpPr/>
          <p:nvPr/>
        </p:nvSpPr>
        <p:spPr>
          <a:xfrm>
            <a:off x="868680" y="26974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8"/>
          <p:cNvSpPr/>
          <p:nvPr/>
        </p:nvSpPr>
        <p:spPr>
          <a:xfrm>
            <a:off x="1371600" y="26243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Dos niveles de autorización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8"/>
          <p:cNvSpPr/>
          <p:nvPr/>
        </p:nvSpPr>
        <p:spPr>
          <a:xfrm>
            <a:off x="5120640" y="2624328"/>
            <a:ext cx="6217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El Gateway protege la frontera técnica; cada micro decide el negocio.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8"/>
          <p:cNvSpPr/>
          <p:nvPr/>
        </p:nvSpPr>
        <p:spPr>
          <a:xfrm>
            <a:off x="868680" y="3355848"/>
            <a:ext cx="292608" cy="292608"/>
          </a:xfrm>
          <a:prstGeom prst="ellipse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8"/>
          <p:cNvSpPr/>
          <p:nvPr/>
        </p:nvSpPr>
        <p:spPr>
          <a:xfrm>
            <a:off x="868680" y="335584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8"/>
          <p:cNvSpPr/>
          <p:nvPr/>
        </p:nvSpPr>
        <p:spPr>
          <a:xfrm>
            <a:off x="1371600" y="3282696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Ruteo dinámico gobernado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8"/>
          <p:cNvSpPr/>
          <p:nvPr/>
        </p:nvSpPr>
        <p:spPr>
          <a:xfrm>
            <a:off x="5120640" y="3282696"/>
            <a:ext cx="6217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Solo servicios admitidos; sin autoruta ni exposición automática.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8"/>
          <p:cNvSpPr/>
          <p:nvPr/>
        </p:nvSpPr>
        <p:spPr>
          <a:xfrm>
            <a:off x="868680" y="4014216"/>
            <a:ext cx="292608" cy="292608"/>
          </a:xfrm>
          <a:prstGeom prst="ellipse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8"/>
          <p:cNvSpPr/>
          <p:nvPr/>
        </p:nvSpPr>
        <p:spPr>
          <a:xfrm>
            <a:off x="868680" y="401421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8"/>
          <p:cNvSpPr/>
          <p:nvPr/>
        </p:nvSpPr>
        <p:spPr>
          <a:xfrm>
            <a:off x="1371600" y="394106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Identidad completa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8"/>
          <p:cNvSpPr/>
          <p:nvPr/>
        </p:nvSpPr>
        <p:spPr>
          <a:xfrm>
            <a:off x="5120640" y="3941064"/>
            <a:ext cx="6217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Distingue usuario, servicio y contexto delegado cuando corresponde.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8"/>
          <p:cNvSpPr/>
          <p:nvPr/>
        </p:nvSpPr>
        <p:spPr>
          <a:xfrm>
            <a:off x="868680" y="4672584"/>
            <a:ext cx="292608" cy="292608"/>
          </a:xfrm>
          <a:prstGeom prst="ellipse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8"/>
          <p:cNvSpPr/>
          <p:nvPr/>
        </p:nvSpPr>
        <p:spPr>
          <a:xfrm>
            <a:off x="868680" y="467258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8"/>
          <p:cNvSpPr/>
          <p:nvPr/>
        </p:nvSpPr>
        <p:spPr>
          <a:xfrm>
            <a:off x="1371600" y="45994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Eureka resuelve instancias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8"/>
          <p:cNvSpPr/>
          <p:nvPr/>
        </p:nvSpPr>
        <p:spPr>
          <a:xfrm>
            <a:off x="5120640" y="4599432"/>
            <a:ext cx="6217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Usa registro y caché; health checks y bajas requieren configuración.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8"/>
          <p:cNvSpPr/>
          <p:nvPr/>
        </p:nvSpPr>
        <p:spPr>
          <a:xfrm>
            <a:off x="868680" y="5330952"/>
            <a:ext cx="292608" cy="292608"/>
          </a:xfrm>
          <a:prstGeom prst="ellipse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8"/>
          <p:cNvSpPr/>
          <p:nvPr/>
        </p:nvSpPr>
        <p:spPr>
          <a:xfrm>
            <a:off x="868680" y="53309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8"/>
          <p:cNvSpPr/>
          <p:nvPr/>
        </p:nvSpPr>
        <p:spPr>
          <a:xfrm>
            <a:off x="1371600" y="5257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Fallas aisladas y probadas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8"/>
          <p:cNvSpPr/>
          <p:nvPr/>
        </p:nvSpPr>
        <p:spPr>
          <a:xfrm>
            <a:off x="5120640" y="5257800"/>
            <a:ext cx="6217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Timeout, bulkhead, retry seguro, breaker por destino y observabilidad.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8"/>
          <p:cNvSpPr/>
          <p:nvPr/>
        </p:nvSpPr>
        <p:spPr>
          <a:xfrm>
            <a:off x="868680" y="5943600"/>
            <a:ext cx="1280160" cy="27432"/>
          </a:xfrm>
          <a:prstGeom prst="rect">
            <a:avLst/>
          </a:prstGeom>
          <a:solidFill>
            <a:srgbClr val="2E8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8"/>
          <p:cNvSpPr/>
          <p:nvPr/>
        </p:nvSpPr>
        <p:spPr>
          <a:xfrm>
            <a:off x="868680" y="610819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Definition of Done: implementación ejecutable + pruebas con 2 servicios + contratos versionados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2026-09-02T19:38:50Z</dcterms:created>
  <dc:creator>Walnut Exporter</dc:creator>
</cp:coreProperties>
</file>