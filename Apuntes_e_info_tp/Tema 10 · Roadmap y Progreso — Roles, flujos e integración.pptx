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embeddedFontLst>
    <p:embeddedFont>
      <p:font typeface="Inter"/>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rId2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frase de cierre de la portada: recibimos hechos, decidimos efectos.
Ojo: la portada ya NO reclama las insignias. Es deliberado y se explica en la lamina siguiente.
Tres cosas en 90 segundos: que somos, a quien bloqueamos, que postura traemos sobre los roles transversales.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estados, no dos: lo que es nuestro, lo que no, y lo que todavia no tiene dueno.
La banda de abajo es un pedido explicito, no una debilidad: preferimos abrirlo ahora que chocar en la integracion.
Insignias: si el PO las deja en Fase 2, avisar que RF-RNK-11 arranca en el segundo criterio de desempate.
Catalogos: el de avatares no esta en el PRD; lo planteamos como propuesta, no como alcance asumido.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lamina de poder de negociacion: no pedimos favores, entregamos desbloqueos.
Si alguno de los tres grupos dice que no nos necesita, preguntarle como resuelve el caso sin nosotros.
Los tres son sincronos, y los tres estan en el sprint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Proponer el criterio ANTES de nombrar equipos. Es lo que evita que la sesion sea un reparto por simpatia.
Las dos citas de la regla 02 son textuales del documento de la catedra: usarlas.
Si aceptan las reglas, la lamina siguiente casi no se discute.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veredicto de cada tarjeta y despues el motivo, no al reves.
La libreria la tomamos por adyacencia de dominio, no por holgura: somos el eje visual del producto.
El marketplace tiene una pregunta previa sin responder: producto o tooling.
El BFF lo dejamos ir a proposito: no podemos tomar dos roles transversales con la carga de frontend que ya tenemos.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lamina que justifica que tomemos la libreria, y se apoya en la regla 02 de la lamina anterior: adyacencia de dominio.
El argumento no es que nos guste el frontend: es que los componentes transversales nacen de nuestras pantallas y los necesitamos primero.
Confirmar en clase a que tema corresponde el Grupo 2 antes de cerrar el reparto.
La banda roja evita el malentendido: no construimos el BFF, pero le damos un requisito.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bandas son la lamina entera: arriba sincrono, abajo evento. El color hace el trabajo.
El pedido concreto que sale de aca es que el evento traiga mediciones, no XP calculado.
Si el Grupo 9 objeta el gate sincrono, la respuesta es RF-CFG-06: el error no se puede deshacer.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pasos alternan dueño: sirve para mostrar que ninguna mecanica vive en un solo servicio.
La aclaracion del Banco es la que corrige una confusion que ya aparecio en nuestro propio documento.
Mencionar el bucle de recuperacion solo si preguntan: esta desarrollado en la ultima lamina.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tabla como reparto de responsabilidad, no como checklist propio.
Reconocer la correccion en voz alta: mostrar que revisamos nuestro documento contra el PRD suma credibilidad.
La fila violeta es la unica nuestra: eso es lo que le entregamos al Grupo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lamina de la que salen los contratos: leerla despacio.
Las cuatro flechas entrantes del lado sincrono son las que nos convierten en dependencia dura de otros.
Confirmar los numeros de grupo en clase: los tomamos del documento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solo el destinatario y la primera mitad de cada pedido: el detalle esta en el documento.
Pedir que cada grupo confirme en el momento, aunque sea con un si condicional.
El pedido 1 es prerrequisito de todos los demas: si el contrato de eventos no sale, ninguno de los otros cierra.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esta lamina y dejarla proyectada durante la discusion.
El punto 2 es el que mas afecta a otros equipos: 02, 08, 09 y 10 a la vez.
El punto 6 salio de revisar nuestro propio documento: estabamos reclamando cosas sin respaldo en el PRD.
Si no hay tiempo para los seis, priorizar 1, 2 y 3: los tres bloquean trabajo de 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A"/>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21951" t="0" b="31707"/>
          <a:stretch/>
        </p:blipFill>
        <p:spPr>
          <a:xfrm>
            <a:off x="6096000" y="-1238250"/>
            <a:ext cx="3048000" cy="2667000"/>
          </a:xfrm>
          <a:prstGeom prst="rect">
            <a:avLst/>
          </a:prstGeom>
        </p:spPr>
      </p:pic>
      <p:pic>
        <p:nvPicPr>
          <p:cNvPr id="4" name="Image 1" descr="preencoded.png">    </p:cNvPr>
          <p:cNvPicPr>
            <a:picLocks noChangeAspect="1"/>
          </p:cNvPicPr>
          <p:nvPr/>
        </p:nvPicPr>
        <p:blipFill>
          <a:blip r:embed="rId2"/>
          <a:srcRect l="0" r="15385" t="0" b="0"/>
          <a:stretch/>
        </p:blipFill>
        <p:spPr>
          <a:xfrm>
            <a:off x="7048500" y="2476500"/>
            <a:ext cx="2095500" cy="2476500"/>
          </a:xfrm>
          <a:prstGeom prst="rect">
            <a:avLst/>
          </a:prstGeom>
        </p:spPr>
      </p:pic>
      <p:sp>
        <p:nvSpPr>
          <p:cNvPr id="5" name="Text 0"/>
          <p:cNvSpPr/>
          <p:nvPr/>
        </p:nvSpPr>
        <p:spPr>
          <a:xfrm>
            <a:off x="762000" y="1390650"/>
            <a:ext cx="3790950" cy="147638"/>
          </a:xfrm>
          <a:prstGeom prst="rect">
            <a:avLst/>
          </a:prstGeom>
          <a:noFill/>
          <a:ln/>
        </p:spPr>
        <p:txBody>
          <a:bodyPr wrap="square" lIns="0" tIns="0" rIns="0" bIns="0" rtlCol="0" anchor="t"/>
          <a:lstStyle/>
          <a:p>
            <a:pPr algn="l" indent="0" marL="0">
              <a:lnSpc>
                <a:spcPts val="1121"/>
              </a:lnSpc>
              <a:buNone/>
            </a:pPr>
            <a:r>
              <a:rPr lang="en-US" sz="926" b="1" dirty="0">
                <a:solidFill>
                  <a:srgbClr val="4CD4D8">
                    <a:alpha val="99000"/>
                  </a:srgbClr>
                </a:solidFill>
                <a:latin typeface="Inter" pitchFamily="34" charset="0"/>
                <a:ea typeface="Inter" pitchFamily="34" charset="-122"/>
                <a:cs typeface="Inter" pitchFamily="34" charset="-120"/>
              </a:rPr>
              <a:t>TUP · UTN FRC · PROGRAMACIÓN IV — TRABAJO INTEGRADOR</a:t>
            </a:r>
            <a:endParaRPr lang="en-US" sz="926" dirty="0"/>
          </a:p>
        </p:txBody>
      </p:sp>
      <p:sp>
        <p:nvSpPr>
          <p:cNvPr id="6" name="Text 1"/>
          <p:cNvSpPr/>
          <p:nvPr/>
        </p:nvSpPr>
        <p:spPr>
          <a:xfrm>
            <a:off x="762000" y="1666875"/>
            <a:ext cx="2424113" cy="681038"/>
          </a:xfrm>
          <a:prstGeom prst="rect">
            <a:avLst/>
          </a:prstGeom>
          <a:noFill/>
          <a:ln/>
        </p:spPr>
        <p:txBody>
          <a:bodyPr wrap="square" lIns="0" tIns="0" rIns="0" bIns="0" rtlCol="0" anchor="t"/>
          <a:lstStyle/>
          <a:p>
            <a:pPr algn="l" indent="0" marL="0">
              <a:lnSpc>
                <a:spcPts val="5087"/>
              </a:lnSpc>
              <a:buNone/>
            </a:pPr>
            <a:r>
              <a:rPr lang="en-US" sz="4204" dirty="0">
                <a:solidFill>
                  <a:srgbClr val="FFFFFF">
                    <a:alpha val="99000"/>
                  </a:srgbClr>
                </a:solidFill>
                <a:latin typeface="Inter" pitchFamily="34" charset="0"/>
                <a:ea typeface="Inter" pitchFamily="34" charset="-122"/>
                <a:cs typeface="Inter" pitchFamily="34" charset="-120"/>
              </a:rPr>
              <a:t>Grupo</a:t>
            </a:r>
            <a:pPr algn="l" indent="0" marL="0">
              <a:lnSpc>
                <a:spcPts val="5087"/>
              </a:lnSpc>
              <a:buNone/>
            </a:pPr>
            <a:r>
              <a:rPr lang="en-US" sz="4204" b="1" dirty="0">
                <a:solidFill>
                  <a:srgbClr val="FFFFFF">
                    <a:alpha val="99000"/>
                  </a:srgbClr>
                </a:solidFill>
                <a:latin typeface="Inter" pitchFamily="34" charset="0"/>
                <a:ea typeface="Inter" pitchFamily="34" charset="-122"/>
                <a:cs typeface="Inter" pitchFamily="34" charset="-120"/>
              </a:rPr>
              <a:t> 10</a:t>
            </a:r>
            <a:endParaRPr lang="en-US" sz="4204" dirty="0"/>
          </a:p>
        </p:txBody>
      </p:sp>
      <p:sp>
        <p:nvSpPr>
          <p:cNvPr id="7" name="Text 2"/>
          <p:cNvSpPr/>
          <p:nvPr/>
        </p:nvSpPr>
        <p:spPr>
          <a:xfrm>
            <a:off x="762000" y="2314575"/>
            <a:ext cx="4419600" cy="528638"/>
          </a:xfrm>
          <a:prstGeom prst="rect">
            <a:avLst/>
          </a:prstGeom>
          <a:noFill/>
          <a:ln/>
        </p:spPr>
        <p:txBody>
          <a:bodyPr wrap="square" lIns="0" tIns="0" rIns="0" bIns="0" rtlCol="0" anchor="t"/>
          <a:lstStyle/>
          <a:p>
            <a:pPr algn="l" indent="0" marL="0">
              <a:lnSpc>
                <a:spcPts val="3967"/>
              </a:lnSpc>
              <a:buNone/>
            </a:pPr>
            <a:r>
              <a:rPr lang="en-US" sz="3278" b="1" dirty="0">
                <a:solidFill>
                  <a:srgbClr val="6B5CE7">
                    <a:alpha val="99000"/>
                  </a:srgbClr>
                </a:solidFill>
                <a:latin typeface="Inter" pitchFamily="34" charset="0"/>
                <a:ea typeface="Inter" pitchFamily="34" charset="-122"/>
                <a:cs typeface="Inter" pitchFamily="34" charset="-120"/>
              </a:rPr>
              <a:t>Roadmap y Progreso</a:t>
            </a:r>
            <a:endParaRPr lang="en-US" sz="3278" dirty="0"/>
          </a:p>
        </p:txBody>
      </p:sp>
      <p:sp>
        <p:nvSpPr>
          <p:cNvPr id="8" name="Shape 3"/>
          <p:cNvSpPr/>
          <p:nvPr/>
        </p:nvSpPr>
        <p:spPr>
          <a:xfrm>
            <a:off x="762000" y="3048000"/>
            <a:ext cx="1047750" cy="28575"/>
          </a:xfrm>
          <a:prstGeom prst="roundRect">
            <a:avLst/>
          </a:prstGeom>
          <a:solidFill>
            <a:srgbClr val="4CD4D8"/>
          </a:solidFill>
          <a:ln/>
        </p:spPr>
      </p:sp>
      <p:sp>
        <p:nvSpPr>
          <p:cNvPr id="9" name="Text 4"/>
          <p:cNvSpPr/>
          <p:nvPr/>
        </p:nvSpPr>
        <p:spPr>
          <a:xfrm>
            <a:off x="762000" y="3286125"/>
            <a:ext cx="4762500" cy="47625"/>
          </a:xfrm>
          <a:prstGeom prst="rect">
            <a:avLst/>
          </a:prstGeom>
          <a:noFill/>
          <a:ln/>
        </p:spPr>
        <p:txBody>
          <a:bodyPr wrap="square" lIns="0" tIns="0" rIns="0" bIns="0" rtlCol="0" anchor="t"/>
          <a:lstStyle/>
          <a:p>
            <a:pPr algn="l" indent="0" marL="0">
              <a:lnSpc>
                <a:spcPts val="1639"/>
              </a:lnSpc>
              <a:buNone/>
            </a:pPr>
            <a:r>
              <a:rPr lang="en-US" sz="1176" dirty="0">
                <a:solidFill>
                  <a:srgbClr val="9AA0B4">
                    <a:alpha val="99000"/>
                  </a:srgbClr>
                </a:solidFill>
                <a:latin typeface="Inter" pitchFamily="34" charset="0"/>
                <a:ea typeface="Inter" pitchFamily="34" charset="-122"/>
                <a:cs typeface="Inter" pitchFamily="34" charset="-120"/>
              </a:rPr>
              <a:t>Dueños del XP, las vidas, los niveles, el grafo del roadmap y el ranking.</a:t>
            </a:r>
            <a:endParaRPr lang="en-US" sz="1176" dirty="0"/>
          </a:p>
        </p:txBody>
      </p:sp>
      <p:sp>
        <p:nvSpPr>
          <p:cNvPr id="10" name="Text 5"/>
          <p:cNvSpPr/>
          <p:nvPr/>
        </p:nvSpPr>
        <p:spPr>
          <a:xfrm>
            <a:off x="747713" y="3776662"/>
            <a:ext cx="4762500" cy="47625"/>
          </a:xfrm>
          <a:prstGeom prst="rect">
            <a:avLst/>
          </a:prstGeom>
          <a:noFill/>
          <a:ln/>
        </p:spPr>
        <p:txBody>
          <a:bodyPr wrap="square" lIns="0" tIns="0" rIns="0" bIns="0" rtlCol="0" anchor="t"/>
          <a:lstStyle/>
          <a:p>
            <a:pPr algn="l" indent="0" marL="0">
              <a:lnSpc>
                <a:spcPts val="1639"/>
              </a:lnSpc>
              <a:buNone/>
            </a:pPr>
            <a:r>
              <a:rPr lang="en-US" sz="1176" dirty="0">
                <a:solidFill>
                  <a:srgbClr val="9AA0B4">
                    <a:alpha val="99000"/>
                  </a:srgbClr>
                </a:solidFill>
                <a:latin typeface="Inter" pitchFamily="34" charset="0"/>
                <a:ea typeface="Inter" pitchFamily="34" charset="-122"/>
                <a:cs typeface="Inter" pitchFamily="34" charset="-120"/>
              </a:rPr>
              <a:t>Alcance · roles transversales · flujos de integración.</a:t>
            </a:r>
            <a:endParaRPr lang="en-US" sz="1176" dirty="0"/>
          </a:p>
        </p:txBody>
      </p:sp>
      <p:sp>
        <p:nvSpPr>
          <p:cNvPr id="11" name="Text 6"/>
          <p:cNvSpPr/>
          <p:nvPr/>
        </p:nvSpPr>
        <p:spPr>
          <a:xfrm>
            <a:off x="762000" y="4572000"/>
            <a:ext cx="5715000" cy="47625"/>
          </a:xfrm>
          <a:prstGeom prst="rect">
            <a:avLst/>
          </a:prstGeom>
          <a:noFill/>
          <a:ln/>
        </p:spPr>
        <p:txBody>
          <a:bodyPr wrap="square" lIns="0" tIns="0" rIns="0" bIns="0" rtlCol="0" anchor="t"/>
          <a:lstStyle/>
          <a:p>
            <a:pPr algn="l" indent="0" marL="0">
              <a:lnSpc>
                <a:spcPts val="1140"/>
              </a:lnSpc>
              <a:buNone/>
            </a:pPr>
            <a:r>
              <a:rPr lang="en-US" sz="784" dirty="0">
                <a:solidFill>
                  <a:srgbClr val="9AA0B4">
                    <a:alpha val="99000"/>
                  </a:srgbClr>
                </a:solidFill>
                <a:latin typeface="Inter" pitchFamily="34" charset="0"/>
                <a:ea typeface="Inter" pitchFamily="34" charset="-122"/>
                <a:cs typeface="Inter" pitchFamily="34" charset="-120"/>
              </a:rPr>
              <a:t>Recibimos hechos consumados de otros servicios y decidimos su efecto sobre el progreso.</a:t>
            </a:r>
            <a:endParaRPr lang="en-US" sz="78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528638"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ALCANCE</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Dueños únicos, límites, y lo que falta definir</a:t>
            </a:r>
            <a:endParaRPr lang="en-US" sz="1995" dirty="0"/>
          </a:p>
        </p:txBody>
      </p:sp>
      <p:sp>
        <p:nvSpPr>
          <p:cNvPr id="6" name="Shape 3"/>
          <p:cNvSpPr/>
          <p:nvPr/>
        </p:nvSpPr>
        <p:spPr>
          <a:xfrm>
            <a:off x="666750" y="1285875"/>
            <a:ext cx="3819525" cy="2576513"/>
          </a:xfrm>
          <a:prstGeom prst="roundRect">
            <a:avLst>
              <a:gd name="adj" fmla="val 7098"/>
            </a:avLst>
          </a:prstGeom>
          <a:solidFill>
            <a:srgbClr val="1B1D2F"/>
          </a:solidFill>
          <a:ln/>
        </p:spPr>
      </p:sp>
      <p:sp>
        <p:nvSpPr>
          <p:cNvPr id="7" name="Shape 4"/>
          <p:cNvSpPr/>
          <p:nvPr/>
        </p:nvSpPr>
        <p:spPr>
          <a:xfrm>
            <a:off x="666750" y="1285875"/>
            <a:ext cx="3810000" cy="23813"/>
          </a:xfrm>
          <a:prstGeom prst="rect">
            <a:avLst/>
          </a:prstGeom>
          <a:solidFill>
            <a:srgbClr val="6B5CE7"/>
          </a:solidFill>
          <a:ln/>
        </p:spPr>
      </p:sp>
      <p:sp>
        <p:nvSpPr>
          <p:cNvPr id="8" name="Text 5"/>
          <p:cNvSpPr/>
          <p:nvPr/>
        </p:nvSpPr>
        <p:spPr>
          <a:xfrm>
            <a:off x="857250" y="1466850"/>
            <a:ext cx="1400175" cy="119063"/>
          </a:xfrm>
          <a:prstGeom prst="rect">
            <a:avLst/>
          </a:prstGeom>
          <a:noFill/>
          <a:ln/>
        </p:spPr>
        <p:txBody>
          <a:bodyPr wrap="square" lIns="0" tIns="0" rIns="0" bIns="0" rtlCol="0" anchor="t"/>
          <a:lstStyle/>
          <a:p>
            <a:pPr algn="l" indent="0" marL="0">
              <a:lnSpc>
                <a:spcPts val="905"/>
              </a:lnSpc>
              <a:buNone/>
            </a:pPr>
            <a:r>
              <a:rPr lang="en-US" sz="748" b="1" dirty="0">
                <a:solidFill>
                  <a:srgbClr val="6B5CE7">
                    <a:alpha val="99000"/>
                  </a:srgbClr>
                </a:solidFill>
                <a:latin typeface="Inter" pitchFamily="34" charset="0"/>
                <a:ea typeface="Inter" pitchFamily="34" charset="-122"/>
                <a:cs typeface="Inter" pitchFamily="34" charset="-120"/>
              </a:rPr>
              <a:t>SOMOS DUEÑOS ÚNICOS DE</a:t>
            </a:r>
            <a:endParaRPr lang="en-US" sz="748" dirty="0"/>
          </a:p>
        </p:txBody>
      </p:sp>
      <p:sp>
        <p:nvSpPr>
          <p:cNvPr id="9" name="Shape 6"/>
          <p:cNvSpPr/>
          <p:nvPr/>
        </p:nvSpPr>
        <p:spPr>
          <a:xfrm>
            <a:off x="866775" y="1771650"/>
            <a:ext cx="47625" cy="47625"/>
          </a:xfrm>
          <a:prstGeom prst="roundRect">
            <a:avLst/>
          </a:prstGeom>
          <a:solidFill>
            <a:srgbClr val="6B5CE7"/>
          </a:solidFill>
          <a:ln/>
        </p:spPr>
      </p:sp>
      <p:sp>
        <p:nvSpPr>
          <p:cNvPr id="10" name="Text 7"/>
          <p:cNvSpPr/>
          <p:nvPr/>
        </p:nvSpPr>
        <p:spPr>
          <a:xfrm>
            <a:off x="1009650" y="1714500"/>
            <a:ext cx="3286125" cy="47625"/>
          </a:xfrm>
          <a:prstGeom prst="rect">
            <a:avLst/>
          </a:prstGeom>
          <a:noFill/>
          <a:ln/>
        </p:spPr>
        <p:txBody>
          <a:bodyPr wrap="square" lIns="0" tIns="0" rIns="0" bIns="0" rtlCol="0" anchor="t"/>
          <a:lstStyle/>
          <a:p>
            <a:pPr algn="l" indent="0" marL="0">
              <a:lnSpc>
                <a:spcPts val="1078"/>
              </a:lnSpc>
              <a:buNone/>
            </a:pPr>
            <a:r>
              <a:rPr lang="en-US" sz="891" dirty="0">
                <a:solidFill>
                  <a:srgbClr val="FFFFFF">
                    <a:alpha val="99000"/>
                  </a:srgbClr>
                </a:solidFill>
                <a:latin typeface="Inter" pitchFamily="34" charset="0"/>
                <a:ea typeface="Inter" pitchFamily="34" charset="-122"/>
                <a:cs typeface="Inter" pitchFamily="34" charset="-120"/>
              </a:rPr>
              <a:t>XP · historial de movimientos, no contador</a:t>
            </a:r>
            <a:endParaRPr lang="en-US" sz="891" dirty="0"/>
          </a:p>
        </p:txBody>
      </p:sp>
      <p:sp>
        <p:nvSpPr>
          <p:cNvPr id="11" name="Shape 8"/>
          <p:cNvSpPr/>
          <p:nvPr/>
        </p:nvSpPr>
        <p:spPr>
          <a:xfrm>
            <a:off x="866775" y="2047875"/>
            <a:ext cx="47625" cy="47625"/>
          </a:xfrm>
          <a:prstGeom prst="roundRect">
            <a:avLst/>
          </a:prstGeom>
          <a:solidFill>
            <a:srgbClr val="6B5CE7"/>
          </a:solidFill>
          <a:ln/>
        </p:spPr>
      </p:sp>
      <p:sp>
        <p:nvSpPr>
          <p:cNvPr id="12" name="Text 9"/>
          <p:cNvSpPr/>
          <p:nvPr/>
        </p:nvSpPr>
        <p:spPr>
          <a:xfrm>
            <a:off x="1009650" y="1990725"/>
            <a:ext cx="3286125" cy="47625"/>
          </a:xfrm>
          <a:prstGeom prst="rect">
            <a:avLst/>
          </a:prstGeom>
          <a:noFill/>
          <a:ln/>
        </p:spPr>
        <p:txBody>
          <a:bodyPr wrap="square" lIns="0" tIns="0" rIns="0" bIns="0" rtlCol="0" anchor="t"/>
          <a:lstStyle/>
          <a:p>
            <a:pPr algn="l" indent="0" marL="0">
              <a:lnSpc>
                <a:spcPts val="1078"/>
              </a:lnSpc>
              <a:buNone/>
            </a:pPr>
            <a:r>
              <a:rPr lang="en-US" sz="891" dirty="0">
                <a:solidFill>
                  <a:srgbClr val="FFFFFF">
                    <a:alpha val="99000"/>
                  </a:srgbClr>
                </a:solidFill>
                <a:latin typeface="Inter" pitchFamily="34" charset="0"/>
                <a:ea typeface="Inter" pitchFamily="34" charset="-122"/>
                <a:cs typeface="Inter" pitchFamily="34" charset="-120"/>
              </a:rPr>
              <a:t>Vidas · vigentes e histórico de pérdidas</a:t>
            </a:r>
            <a:endParaRPr lang="en-US" sz="891" dirty="0"/>
          </a:p>
        </p:txBody>
      </p:sp>
      <p:sp>
        <p:nvSpPr>
          <p:cNvPr id="13" name="Shape 10"/>
          <p:cNvSpPr/>
          <p:nvPr/>
        </p:nvSpPr>
        <p:spPr>
          <a:xfrm>
            <a:off x="866775" y="2324100"/>
            <a:ext cx="47625" cy="47625"/>
          </a:xfrm>
          <a:prstGeom prst="roundRect">
            <a:avLst/>
          </a:prstGeom>
          <a:solidFill>
            <a:srgbClr val="6B5CE7"/>
          </a:solidFill>
          <a:ln/>
        </p:spPr>
      </p:sp>
      <p:sp>
        <p:nvSpPr>
          <p:cNvPr id="14" name="Text 11"/>
          <p:cNvSpPr/>
          <p:nvPr/>
        </p:nvSpPr>
        <p:spPr>
          <a:xfrm>
            <a:off x="1009650" y="2266950"/>
            <a:ext cx="3286125" cy="47625"/>
          </a:xfrm>
          <a:prstGeom prst="rect">
            <a:avLst/>
          </a:prstGeom>
          <a:noFill/>
          <a:ln/>
        </p:spPr>
        <p:txBody>
          <a:bodyPr wrap="square" lIns="0" tIns="0" rIns="0" bIns="0" rtlCol="0" anchor="t"/>
          <a:lstStyle/>
          <a:p>
            <a:pPr algn="l" indent="0" marL="0">
              <a:lnSpc>
                <a:spcPts val="1078"/>
              </a:lnSpc>
              <a:buNone/>
            </a:pPr>
            <a:r>
              <a:rPr lang="en-US" sz="891" dirty="0">
                <a:solidFill>
                  <a:srgbClr val="FFFFFF">
                    <a:alpha val="99000"/>
                  </a:srgbClr>
                </a:solidFill>
                <a:latin typeface="Inter" pitchFamily="34" charset="0"/>
                <a:ea typeface="Inter" pitchFamily="34" charset="-122"/>
                <a:cs typeface="Inter" pitchFamily="34" charset="-120"/>
              </a:rPr>
              <a:t>Niveles por curso (máx. 10, PAR-09)</a:t>
            </a:r>
            <a:endParaRPr lang="en-US" sz="891" dirty="0"/>
          </a:p>
        </p:txBody>
      </p:sp>
      <p:sp>
        <p:nvSpPr>
          <p:cNvPr id="15" name="Shape 12"/>
          <p:cNvSpPr/>
          <p:nvPr/>
        </p:nvSpPr>
        <p:spPr>
          <a:xfrm>
            <a:off x="866775" y="2600325"/>
            <a:ext cx="47625" cy="47625"/>
          </a:xfrm>
          <a:prstGeom prst="roundRect">
            <a:avLst/>
          </a:prstGeom>
          <a:solidFill>
            <a:srgbClr val="6B5CE7"/>
          </a:solidFill>
          <a:ln/>
        </p:spPr>
      </p:sp>
      <p:sp>
        <p:nvSpPr>
          <p:cNvPr id="16" name="Text 13"/>
          <p:cNvSpPr/>
          <p:nvPr/>
        </p:nvSpPr>
        <p:spPr>
          <a:xfrm>
            <a:off x="1009650" y="2543175"/>
            <a:ext cx="3286125" cy="47625"/>
          </a:xfrm>
          <a:prstGeom prst="rect">
            <a:avLst/>
          </a:prstGeom>
          <a:noFill/>
          <a:ln/>
        </p:spPr>
        <p:txBody>
          <a:bodyPr wrap="square" lIns="0" tIns="0" rIns="0" bIns="0" rtlCol="0" anchor="t"/>
          <a:lstStyle/>
          <a:p>
            <a:pPr algn="l" indent="0" marL="0">
              <a:lnSpc>
                <a:spcPts val="1078"/>
              </a:lnSpc>
              <a:buNone/>
            </a:pPr>
            <a:r>
              <a:rPr lang="en-US" sz="891" dirty="0">
                <a:solidFill>
                  <a:srgbClr val="FFFFFF">
                    <a:alpha val="99000"/>
                  </a:srgbClr>
                </a:solidFill>
                <a:latin typeface="Inter" pitchFamily="34" charset="0"/>
                <a:ea typeface="Inter" pitchFamily="34" charset="-122"/>
                <a:cs typeface="Inter" pitchFamily="34" charset="-120"/>
              </a:rPr>
              <a:t>Grafo del roadmap y reglas de desbloqueo</a:t>
            </a:r>
            <a:endParaRPr lang="en-US" sz="891" dirty="0"/>
          </a:p>
        </p:txBody>
      </p:sp>
      <p:sp>
        <p:nvSpPr>
          <p:cNvPr id="17" name="Shape 14"/>
          <p:cNvSpPr/>
          <p:nvPr/>
        </p:nvSpPr>
        <p:spPr>
          <a:xfrm>
            <a:off x="866775" y="2876550"/>
            <a:ext cx="47625" cy="47625"/>
          </a:xfrm>
          <a:prstGeom prst="roundRect">
            <a:avLst/>
          </a:prstGeom>
          <a:solidFill>
            <a:srgbClr val="6B5CE7"/>
          </a:solidFill>
          <a:ln/>
        </p:spPr>
      </p:sp>
      <p:sp>
        <p:nvSpPr>
          <p:cNvPr id="18" name="Text 15"/>
          <p:cNvSpPr/>
          <p:nvPr/>
        </p:nvSpPr>
        <p:spPr>
          <a:xfrm>
            <a:off x="1009650" y="2819400"/>
            <a:ext cx="3286125" cy="47625"/>
          </a:xfrm>
          <a:prstGeom prst="rect">
            <a:avLst/>
          </a:prstGeom>
          <a:noFill/>
          <a:ln/>
        </p:spPr>
        <p:txBody>
          <a:bodyPr wrap="square" lIns="0" tIns="0" rIns="0" bIns="0" rtlCol="0" anchor="t"/>
          <a:lstStyle/>
          <a:p>
            <a:pPr algn="l" indent="0" marL="0">
              <a:lnSpc>
                <a:spcPts val="1078"/>
              </a:lnSpc>
              <a:buNone/>
            </a:pPr>
            <a:r>
              <a:rPr lang="en-US" sz="891" dirty="0">
                <a:solidFill>
                  <a:srgbClr val="FFFFFF">
                    <a:alpha val="99000"/>
                  </a:srgbClr>
                </a:solidFill>
                <a:latin typeface="Inter" pitchFamily="34" charset="0"/>
                <a:ea typeface="Inter" pitchFamily="34" charset="-122"/>
                <a:cs typeface="Inter" pitchFamily="34" charset="-120"/>
              </a:rPr>
              <a:t>Ranking, percentiles P90/P10 y desempate</a:t>
            </a:r>
            <a:endParaRPr lang="en-US" sz="891" dirty="0"/>
          </a:p>
        </p:txBody>
      </p:sp>
      <p:sp>
        <p:nvSpPr>
          <p:cNvPr id="19" name="Shape 16"/>
          <p:cNvSpPr/>
          <p:nvPr/>
        </p:nvSpPr>
        <p:spPr>
          <a:xfrm>
            <a:off x="866775" y="3152775"/>
            <a:ext cx="47625" cy="47625"/>
          </a:xfrm>
          <a:prstGeom prst="roundRect">
            <a:avLst/>
          </a:prstGeom>
          <a:solidFill>
            <a:srgbClr val="6B5CE7"/>
          </a:solidFill>
          <a:ln/>
        </p:spPr>
      </p:sp>
      <p:sp>
        <p:nvSpPr>
          <p:cNvPr id="20" name="Text 17"/>
          <p:cNvSpPr/>
          <p:nvPr/>
        </p:nvSpPr>
        <p:spPr>
          <a:xfrm>
            <a:off x="1009650" y="3095625"/>
            <a:ext cx="3286125" cy="47625"/>
          </a:xfrm>
          <a:prstGeom prst="rect">
            <a:avLst/>
          </a:prstGeom>
          <a:noFill/>
          <a:ln/>
        </p:spPr>
        <p:txBody>
          <a:bodyPr wrap="square" lIns="0" tIns="0" rIns="0" bIns="0" rtlCol="0" anchor="t"/>
          <a:lstStyle/>
          <a:p>
            <a:pPr algn="l" indent="0" marL="0">
              <a:lnSpc>
                <a:spcPts val="1078"/>
              </a:lnSpc>
              <a:buNone/>
            </a:pPr>
            <a:r>
              <a:rPr lang="en-US" sz="891" dirty="0">
                <a:solidFill>
                  <a:srgbClr val="FFFFFF">
                    <a:alpha val="99000"/>
                  </a:srgbClr>
                </a:solidFill>
                <a:latin typeface="Inter" pitchFamily="34" charset="0"/>
                <a:ea typeface="Inter" pitchFamily="34" charset="-122"/>
                <a:cs typeface="Inter" pitchFamily="34" charset="-120"/>
              </a:rPr>
              <a:t>Candidatura de cierre académico</a:t>
            </a:r>
            <a:endParaRPr lang="en-US" sz="891" dirty="0"/>
          </a:p>
        </p:txBody>
      </p:sp>
      <p:sp>
        <p:nvSpPr>
          <p:cNvPr id="21" name="Shape 18"/>
          <p:cNvSpPr/>
          <p:nvPr/>
        </p:nvSpPr>
        <p:spPr>
          <a:xfrm>
            <a:off x="4667250" y="1309688"/>
            <a:ext cx="3738563" cy="2552700"/>
          </a:xfrm>
          <a:prstGeom prst="roundRect">
            <a:avLst>
              <a:gd name="adj" fmla="val 7164"/>
            </a:avLst>
          </a:prstGeom>
          <a:solidFill>
            <a:srgbClr val="1B1D2F"/>
          </a:solidFill>
          <a:ln/>
        </p:spPr>
      </p:sp>
      <p:sp>
        <p:nvSpPr>
          <p:cNvPr id="22" name="Shape 19"/>
          <p:cNvSpPr/>
          <p:nvPr/>
        </p:nvSpPr>
        <p:spPr>
          <a:xfrm>
            <a:off x="4667250" y="1309688"/>
            <a:ext cx="3810000" cy="23813"/>
          </a:xfrm>
          <a:prstGeom prst="rect">
            <a:avLst/>
          </a:prstGeom>
          <a:solidFill>
            <a:srgbClr val="9AA0B4"/>
          </a:solidFill>
          <a:ln/>
        </p:spPr>
      </p:sp>
      <p:sp>
        <p:nvSpPr>
          <p:cNvPr id="23" name="Text 20"/>
          <p:cNvSpPr/>
          <p:nvPr/>
        </p:nvSpPr>
        <p:spPr>
          <a:xfrm>
            <a:off x="4857750" y="1490663"/>
            <a:ext cx="1162050" cy="119063"/>
          </a:xfrm>
          <a:prstGeom prst="rect">
            <a:avLst/>
          </a:prstGeom>
          <a:noFill/>
          <a:ln/>
        </p:spPr>
        <p:txBody>
          <a:bodyPr wrap="square" lIns="0" tIns="0" rIns="0" bIns="0" rtlCol="0" anchor="t"/>
          <a:lstStyle/>
          <a:p>
            <a:pPr algn="l" indent="0" marL="0">
              <a:lnSpc>
                <a:spcPts val="905"/>
              </a:lnSpc>
              <a:buNone/>
            </a:pPr>
            <a:r>
              <a:rPr lang="en-US" sz="748" b="1" dirty="0">
                <a:solidFill>
                  <a:srgbClr val="9AA0B4">
                    <a:alpha val="99000"/>
                  </a:srgbClr>
                </a:solidFill>
                <a:latin typeface="Inter" pitchFamily="34" charset="0"/>
                <a:ea typeface="Inter" pitchFamily="34" charset="-122"/>
                <a:cs typeface="Inter" pitchFamily="34" charset="-120"/>
              </a:rPr>
              <a:t>NO SOMOS DUEÑOS DE</a:t>
            </a:r>
            <a:endParaRPr lang="en-US" sz="748" dirty="0"/>
          </a:p>
        </p:txBody>
      </p:sp>
      <p:sp>
        <p:nvSpPr>
          <p:cNvPr id="24" name="Text 21"/>
          <p:cNvSpPr/>
          <p:nvPr/>
        </p:nvSpPr>
        <p:spPr>
          <a:xfrm>
            <a:off x="4857750" y="1738313"/>
            <a:ext cx="2714625" cy="47625"/>
          </a:xfrm>
          <a:prstGeom prst="rect">
            <a:avLst/>
          </a:prstGeom>
          <a:noFill/>
          <a:ln/>
        </p:spPr>
        <p:txBody>
          <a:bodyPr wrap="square" lIns="0" tIns="0" rIns="0" bIns="0" rtlCol="0" anchor="t"/>
          <a:lstStyle/>
          <a:p>
            <a:pPr algn="l" indent="0" marL="0">
              <a:lnSpc>
                <a:spcPts val="1035"/>
              </a:lnSpc>
              <a:buNone/>
            </a:pPr>
            <a:r>
              <a:rPr lang="en-US" sz="855" dirty="0">
                <a:solidFill>
                  <a:srgbClr val="9AA0B4">
                    <a:alpha val="99000"/>
                  </a:srgbClr>
                </a:solidFill>
                <a:latin typeface="Inter" pitchFamily="34" charset="0"/>
                <a:ea typeface="Inter" pitchFamily="34" charset="-122"/>
                <a:cs typeface="Inter" pitchFamily="34" charset="-120"/>
              </a:rPr>
              <a:t>Desafíos, entregas y resultados</a:t>
            </a:r>
            <a:endParaRPr lang="en-US" sz="855" dirty="0"/>
          </a:p>
        </p:txBody>
      </p:sp>
      <p:sp>
        <p:nvSpPr>
          <p:cNvPr id="25" name="Text 22"/>
          <p:cNvSpPr/>
          <p:nvPr/>
        </p:nvSpPr>
        <p:spPr>
          <a:xfrm>
            <a:off x="7196138" y="1752600"/>
            <a:ext cx="876300"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Motor de desafios</a:t>
            </a:r>
            <a:endParaRPr lang="en-US" sz="748" dirty="0"/>
          </a:p>
        </p:txBody>
      </p:sp>
      <p:sp>
        <p:nvSpPr>
          <p:cNvPr id="26" name="Text 23"/>
          <p:cNvSpPr/>
          <p:nvPr/>
        </p:nvSpPr>
        <p:spPr>
          <a:xfrm>
            <a:off x="4857750" y="2014538"/>
            <a:ext cx="2714625" cy="47625"/>
          </a:xfrm>
          <a:prstGeom prst="rect">
            <a:avLst/>
          </a:prstGeom>
          <a:noFill/>
          <a:ln/>
        </p:spPr>
        <p:txBody>
          <a:bodyPr wrap="square" lIns="0" tIns="0" rIns="0" bIns="0" rtlCol="0" anchor="t"/>
          <a:lstStyle/>
          <a:p>
            <a:pPr algn="l" indent="0" marL="0">
              <a:lnSpc>
                <a:spcPts val="1035"/>
              </a:lnSpc>
              <a:buNone/>
            </a:pPr>
            <a:r>
              <a:rPr lang="en-US" sz="855" dirty="0">
                <a:solidFill>
                  <a:srgbClr val="9AA0B4">
                    <a:alpha val="99000"/>
                  </a:srgbClr>
                </a:solidFill>
                <a:latin typeface="Inter" pitchFamily="34" charset="0"/>
                <a:ea typeface="Inter" pitchFamily="34" charset="-122"/>
                <a:cs typeface="Inter" pitchFamily="34" charset="-120"/>
              </a:rPr>
              <a:t>Monedas y ledger económico</a:t>
            </a:r>
            <a:endParaRPr lang="en-US" sz="855" dirty="0"/>
          </a:p>
        </p:txBody>
      </p:sp>
      <p:sp>
        <p:nvSpPr>
          <p:cNvPr id="27" name="Text 24"/>
          <p:cNvSpPr/>
          <p:nvPr/>
        </p:nvSpPr>
        <p:spPr>
          <a:xfrm>
            <a:off x="7196138" y="2028825"/>
            <a:ext cx="304800"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Banco</a:t>
            </a:r>
            <a:endParaRPr lang="en-US" sz="748" dirty="0"/>
          </a:p>
        </p:txBody>
      </p:sp>
      <p:sp>
        <p:nvSpPr>
          <p:cNvPr id="28" name="Text 25"/>
          <p:cNvSpPr/>
          <p:nvPr/>
        </p:nvSpPr>
        <p:spPr>
          <a:xfrm>
            <a:off x="4857750" y="2290763"/>
            <a:ext cx="2714625" cy="47625"/>
          </a:xfrm>
          <a:prstGeom prst="rect">
            <a:avLst/>
          </a:prstGeom>
          <a:noFill/>
          <a:ln/>
        </p:spPr>
        <p:txBody>
          <a:bodyPr wrap="square" lIns="0" tIns="0" rIns="0" bIns="0" rtlCol="0" anchor="t"/>
          <a:lstStyle/>
          <a:p>
            <a:pPr algn="l" indent="0" marL="0">
              <a:lnSpc>
                <a:spcPts val="1035"/>
              </a:lnSpc>
              <a:buNone/>
            </a:pPr>
            <a:r>
              <a:rPr lang="en-US" sz="855" dirty="0">
                <a:solidFill>
                  <a:srgbClr val="9AA0B4">
                    <a:alpha val="99000"/>
                  </a:srgbClr>
                </a:solidFill>
                <a:latin typeface="Inter" pitchFamily="34" charset="0"/>
                <a:ea typeface="Inter" pitchFamily="34" charset="-122"/>
                <a:cs typeface="Inter" pitchFamily="34" charset="-120"/>
              </a:rPr>
              <a:t>Catálogo, inventario, equipamiento</a:t>
            </a:r>
            <a:endParaRPr lang="en-US" sz="855" dirty="0"/>
          </a:p>
        </p:txBody>
      </p:sp>
      <p:sp>
        <p:nvSpPr>
          <p:cNvPr id="29" name="Text 26"/>
          <p:cNvSpPr/>
          <p:nvPr/>
        </p:nvSpPr>
        <p:spPr>
          <a:xfrm>
            <a:off x="7196138" y="2305050"/>
            <a:ext cx="428625"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Mercado</a:t>
            </a:r>
            <a:endParaRPr lang="en-US" sz="748" dirty="0"/>
          </a:p>
        </p:txBody>
      </p:sp>
      <p:sp>
        <p:nvSpPr>
          <p:cNvPr id="30" name="Text 27"/>
          <p:cNvSpPr/>
          <p:nvPr/>
        </p:nvSpPr>
        <p:spPr>
          <a:xfrm>
            <a:off x="4857750" y="2566988"/>
            <a:ext cx="2714625" cy="47625"/>
          </a:xfrm>
          <a:prstGeom prst="rect">
            <a:avLst/>
          </a:prstGeom>
          <a:noFill/>
          <a:ln/>
        </p:spPr>
        <p:txBody>
          <a:bodyPr wrap="square" lIns="0" tIns="0" rIns="0" bIns="0" rtlCol="0" anchor="t"/>
          <a:lstStyle/>
          <a:p>
            <a:pPr algn="l" indent="0" marL="0">
              <a:lnSpc>
                <a:spcPts val="1035"/>
              </a:lnSpc>
              <a:buNone/>
            </a:pPr>
            <a:r>
              <a:rPr lang="en-US" sz="855" dirty="0">
                <a:solidFill>
                  <a:srgbClr val="9AA0B4">
                    <a:alpha val="99000"/>
                  </a:srgbClr>
                </a:solidFill>
                <a:latin typeface="Inter" pitchFamily="34" charset="0"/>
                <a:ea typeface="Inter" pitchFamily="34" charset="-122"/>
                <a:cs typeface="Inter" pitchFamily="34" charset="-120"/>
              </a:rPr>
              <a:t>Curso-cohorte, matrícula y archivado</a:t>
            </a:r>
            <a:endParaRPr lang="en-US" sz="855" dirty="0"/>
          </a:p>
        </p:txBody>
      </p:sp>
      <p:sp>
        <p:nvSpPr>
          <p:cNvPr id="31" name="Text 28"/>
          <p:cNvSpPr/>
          <p:nvPr/>
        </p:nvSpPr>
        <p:spPr>
          <a:xfrm>
            <a:off x="7196138" y="2581275"/>
            <a:ext cx="909638"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Cursos y matricula</a:t>
            </a:r>
            <a:endParaRPr lang="en-US" sz="748" dirty="0"/>
          </a:p>
        </p:txBody>
      </p:sp>
      <p:sp>
        <p:nvSpPr>
          <p:cNvPr id="32" name="Text 29"/>
          <p:cNvSpPr/>
          <p:nvPr/>
        </p:nvSpPr>
        <p:spPr>
          <a:xfrm>
            <a:off x="4857750" y="2843213"/>
            <a:ext cx="2714625" cy="47625"/>
          </a:xfrm>
          <a:prstGeom prst="rect">
            <a:avLst/>
          </a:prstGeom>
          <a:noFill/>
          <a:ln/>
        </p:spPr>
        <p:txBody>
          <a:bodyPr wrap="square" lIns="0" tIns="0" rIns="0" bIns="0" rtlCol="0" anchor="t"/>
          <a:lstStyle/>
          <a:p>
            <a:pPr algn="l" indent="0" marL="0">
              <a:lnSpc>
                <a:spcPts val="1035"/>
              </a:lnSpc>
              <a:buNone/>
            </a:pPr>
            <a:r>
              <a:rPr lang="en-US" sz="855" dirty="0">
                <a:solidFill>
                  <a:srgbClr val="9AA0B4">
                    <a:alpha val="99000"/>
                  </a:srgbClr>
                </a:solidFill>
                <a:latin typeface="Inter" pitchFamily="34" charset="0"/>
                <a:ea typeface="Inter" pitchFamily="34" charset="-122"/>
                <a:cs typeface="Inter" pitchFamily="34" charset="-120"/>
              </a:rPr>
              <a:t>Identidad y datos personales</a:t>
            </a:r>
            <a:endParaRPr lang="en-US" sz="855" dirty="0"/>
          </a:p>
        </p:txBody>
      </p:sp>
      <p:sp>
        <p:nvSpPr>
          <p:cNvPr id="33" name="Text 30"/>
          <p:cNvSpPr/>
          <p:nvPr/>
        </p:nvSpPr>
        <p:spPr>
          <a:xfrm>
            <a:off x="7196138" y="2857500"/>
            <a:ext cx="981075"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Identidad y usuarios</a:t>
            </a:r>
            <a:endParaRPr lang="en-US" sz="748" dirty="0"/>
          </a:p>
        </p:txBody>
      </p:sp>
      <p:sp>
        <p:nvSpPr>
          <p:cNvPr id="34" name="Text 31"/>
          <p:cNvSpPr/>
          <p:nvPr/>
        </p:nvSpPr>
        <p:spPr>
          <a:xfrm>
            <a:off x="4857750" y="3119438"/>
            <a:ext cx="2714625" cy="47625"/>
          </a:xfrm>
          <a:prstGeom prst="rect">
            <a:avLst/>
          </a:prstGeom>
          <a:noFill/>
          <a:ln/>
        </p:spPr>
        <p:txBody>
          <a:bodyPr wrap="square" lIns="0" tIns="0" rIns="0" bIns="0" rtlCol="0" anchor="t"/>
          <a:lstStyle/>
          <a:p>
            <a:pPr algn="l" indent="0" marL="0">
              <a:lnSpc>
                <a:spcPts val="1035"/>
              </a:lnSpc>
              <a:buNone/>
            </a:pPr>
            <a:r>
              <a:rPr lang="en-US" sz="855" dirty="0">
                <a:solidFill>
                  <a:srgbClr val="9AA0B4">
                    <a:alpha val="99000"/>
                  </a:srgbClr>
                </a:solidFill>
                <a:latin typeface="Inter" pitchFamily="34" charset="0"/>
                <a:ea typeface="Inter" pitchFamily="34" charset="-122"/>
                <a:cs typeface="Inter" pitchFamily="34" charset="-120"/>
              </a:rPr>
              <a:t>Parámetros PAR-01 a PAR-24</a:t>
            </a:r>
            <a:endParaRPr lang="en-US" sz="855" dirty="0"/>
          </a:p>
        </p:txBody>
      </p:sp>
      <p:sp>
        <p:nvSpPr>
          <p:cNvPr id="35" name="Text 32"/>
          <p:cNvSpPr/>
          <p:nvPr/>
        </p:nvSpPr>
        <p:spPr>
          <a:xfrm>
            <a:off x="7196138" y="3133725"/>
            <a:ext cx="519113"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Backoffice</a:t>
            </a:r>
            <a:endParaRPr lang="en-US" sz="748" dirty="0"/>
          </a:p>
        </p:txBody>
      </p:sp>
      <p:sp>
        <p:nvSpPr>
          <p:cNvPr id="36" name="Text 33"/>
          <p:cNvSpPr/>
          <p:nvPr/>
        </p:nvSpPr>
        <p:spPr>
          <a:xfrm>
            <a:off x="4857750" y="3395663"/>
            <a:ext cx="2714625" cy="47625"/>
          </a:xfrm>
          <a:prstGeom prst="rect">
            <a:avLst/>
          </a:prstGeom>
          <a:noFill/>
          <a:ln/>
        </p:spPr>
        <p:txBody>
          <a:bodyPr wrap="square" lIns="0" tIns="0" rIns="0" bIns="0" rtlCol="0" anchor="t"/>
          <a:lstStyle/>
          <a:p>
            <a:pPr algn="l" indent="0" marL="0">
              <a:lnSpc>
                <a:spcPts val="1035"/>
              </a:lnSpc>
              <a:buNone/>
            </a:pPr>
            <a:r>
              <a:rPr lang="en-US" sz="855" dirty="0">
                <a:solidFill>
                  <a:srgbClr val="9AA0B4">
                    <a:alpha val="99000"/>
                  </a:srgbClr>
                </a:solidFill>
                <a:latin typeface="Inter" pitchFamily="34" charset="0"/>
                <a:ea typeface="Inter" pitchFamily="34" charset="-122"/>
                <a:cs typeface="Inter" pitchFamily="34" charset="-120"/>
              </a:rPr>
              <a:t>Notificaciones y contrato del bus</a:t>
            </a:r>
            <a:endParaRPr lang="en-US" sz="855" dirty="0"/>
          </a:p>
        </p:txBody>
      </p:sp>
      <p:sp>
        <p:nvSpPr>
          <p:cNvPr id="37" name="Text 34"/>
          <p:cNvSpPr/>
          <p:nvPr/>
        </p:nvSpPr>
        <p:spPr>
          <a:xfrm>
            <a:off x="7196138" y="3409950"/>
            <a:ext cx="1085850"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Social y notificaciones</a:t>
            </a:r>
            <a:endParaRPr lang="en-US" sz="748" dirty="0"/>
          </a:p>
        </p:txBody>
      </p:sp>
      <p:sp>
        <p:nvSpPr>
          <p:cNvPr id="38" name="Text 35"/>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39" name="Text 36"/>
          <p:cNvSpPr/>
          <p:nvPr/>
        </p:nvSpPr>
        <p:spPr>
          <a:xfrm>
            <a:off x="8286750" y="4705350"/>
            <a:ext cx="119063"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02</a:t>
            </a:r>
            <a:endParaRPr lang="en-US" sz="67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F1A"/>
        </a:solidFill>
      </p:bgPr>
    </p:bg>
    <p:spTree>
      <p:nvGrpSpPr>
        <p:cNvPr id="1" name=""/>
        <p:cNvGrpSpPr/>
        <p:nvPr/>
      </p:nvGrpSpPr>
      <p:grpSpPr>
        <a:xfrm>
          <a:off x="0" y="0"/>
          <a:ext cx="0" cy="0"/>
          <a:chOff x="0" y="0"/>
          <a:chExt cx="0" cy="0"/>
        </a:xfrm>
      </p:grpSpPr>
      <p:sp>
        <p:nvSpPr>
          <p:cNvPr id="2" name="Shape 0"/>
          <p:cNvSpPr/>
          <p:nvPr/>
        </p:nvSpPr>
        <p:spPr>
          <a:xfrm>
            <a:off x="476250" y="352425"/>
            <a:ext cx="28575" cy="495300"/>
          </a:xfrm>
          <a:prstGeom prst="roundRect">
            <a:avLst/>
          </a:prstGeom>
          <a:solidFill>
            <a:srgbClr val="6B5CE7"/>
          </a:solidFill>
          <a:ln/>
        </p:spPr>
      </p:sp>
      <p:sp>
        <p:nvSpPr>
          <p:cNvPr id="3" name="Text 1"/>
          <p:cNvSpPr/>
          <p:nvPr/>
        </p:nvSpPr>
        <p:spPr>
          <a:xfrm>
            <a:off x="666750" y="371475"/>
            <a:ext cx="1466850"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DUDA ABIERTA - INSIGNIAS</a:t>
            </a:r>
            <a:endParaRPr lang="en-US" sz="819" dirty="0"/>
          </a:p>
        </p:txBody>
      </p:sp>
      <p:sp>
        <p:nvSpPr>
          <p:cNvPr id="4"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¿Quién es dueño de las insignias?</a:t>
            </a:r>
            <a:endParaRPr lang="en-US" sz="1995" dirty="0"/>
          </a:p>
        </p:txBody>
      </p:sp>
      <p:sp>
        <p:nvSpPr>
          <p:cNvPr id="5" name="Text 3"/>
          <p:cNvSpPr/>
          <p:nvPr/>
        </p:nvSpPr>
        <p:spPr>
          <a:xfrm>
            <a:off x="809625" y="1285875"/>
            <a:ext cx="1095375"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PREGUNTA SIN RESOLVER</a:t>
            </a:r>
            <a:endParaRPr lang="en-US" sz="641" dirty="0"/>
          </a:p>
        </p:txBody>
      </p:sp>
      <p:sp>
        <p:nvSpPr>
          <p:cNvPr id="6" name="Text 4"/>
          <p:cNvSpPr/>
          <p:nvPr/>
        </p:nvSpPr>
        <p:spPr>
          <a:xfrm>
            <a:off x="4524375" y="1285875"/>
            <a:ext cx="509587"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CANDIDATO</a:t>
            </a:r>
            <a:endParaRPr lang="en-US" sz="641" dirty="0"/>
          </a:p>
        </p:txBody>
      </p:sp>
      <p:sp>
        <p:nvSpPr>
          <p:cNvPr id="7" name="Text 5"/>
          <p:cNvSpPr/>
          <p:nvPr/>
        </p:nvSpPr>
        <p:spPr>
          <a:xfrm>
            <a:off x="6429375" y="1285875"/>
            <a:ext cx="381000"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POR QUÉ</a:t>
            </a:r>
            <a:endParaRPr lang="en-US" sz="641" dirty="0"/>
          </a:p>
        </p:txBody>
      </p:sp>
      <p:sp>
        <p:nvSpPr>
          <p:cNvPr id="8" name="Shape 6"/>
          <p:cNvSpPr/>
          <p:nvPr/>
        </p:nvSpPr>
        <p:spPr>
          <a:xfrm>
            <a:off x="666750" y="1495425"/>
            <a:ext cx="7810500" cy="466725"/>
          </a:xfrm>
          <a:prstGeom prst="roundRect">
            <a:avLst>
              <a:gd name="adj" fmla="val 27429"/>
            </a:avLst>
          </a:prstGeom>
          <a:solidFill>
            <a:srgbClr val="201C44"/>
          </a:solidFill>
          <a:ln/>
        </p:spPr>
      </p:sp>
      <p:sp>
        <p:nvSpPr>
          <p:cNvPr id="9" name="Shape 7"/>
          <p:cNvSpPr/>
          <p:nvPr/>
        </p:nvSpPr>
        <p:spPr>
          <a:xfrm>
            <a:off x="666750" y="1495425"/>
            <a:ext cx="23813" cy="466725"/>
          </a:xfrm>
          <a:prstGeom prst="rect">
            <a:avLst/>
          </a:prstGeom>
          <a:solidFill>
            <a:srgbClr val="6B5CE7"/>
          </a:solidFill>
          <a:ln/>
        </p:spPr>
      </p:sp>
      <p:sp>
        <p:nvSpPr>
          <p:cNvPr id="10" name="Text 8"/>
          <p:cNvSpPr/>
          <p:nvPr/>
        </p:nvSpPr>
        <p:spPr>
          <a:xfrm>
            <a:off x="819150" y="1647825"/>
            <a:ext cx="3524250" cy="47625"/>
          </a:xfrm>
          <a:prstGeom prst="rect">
            <a:avLst/>
          </a:prstGeom>
          <a:noFill/>
          <a:ln/>
        </p:spPr>
        <p:txBody>
          <a:bodyPr wrap="square" lIns="0" tIns="0" rIns="0" bIns="0" rtlCol="0" anchor="t"/>
          <a:lstStyle/>
          <a:p>
            <a:pPr algn="l" indent="0" marL="0">
              <a:lnSpc>
                <a:spcPts val="1140"/>
              </a:lnSpc>
              <a:buNone/>
            </a:pPr>
            <a:r>
              <a:rPr lang="en-US" sz="891" dirty="0">
                <a:solidFill>
                  <a:srgbClr val="FFFFFF">
                    <a:alpha val="99000"/>
                  </a:srgbClr>
                </a:solidFill>
                <a:latin typeface="Inter" pitchFamily="34" charset="0"/>
                <a:ea typeface="Inter" pitchFamily="34" charset="-122"/>
                <a:cs typeface="Inter" pitchFamily="34" charset="-120"/>
              </a:rPr>
              <a:t>¿Quién emite el evento de otorgamiento?</a:t>
            </a:r>
            <a:endParaRPr lang="en-US" sz="891" dirty="0"/>
          </a:p>
        </p:txBody>
      </p:sp>
      <p:sp>
        <p:nvSpPr>
          <p:cNvPr id="11" name="Text 9"/>
          <p:cNvSpPr/>
          <p:nvPr/>
        </p:nvSpPr>
        <p:spPr>
          <a:xfrm>
            <a:off x="4533900" y="1647825"/>
            <a:ext cx="509587" cy="142875"/>
          </a:xfrm>
          <a:prstGeom prst="rect">
            <a:avLst/>
          </a:prstGeom>
          <a:noFill/>
          <a:ln/>
        </p:spPr>
        <p:txBody>
          <a:bodyPr wrap="square" lIns="0" tIns="0" rIns="0" bIns="0" rtlCol="0" anchor="t"/>
          <a:lstStyle/>
          <a:p>
            <a:pPr algn="l" indent="0" marL="0">
              <a:lnSpc>
                <a:spcPts val="1078"/>
              </a:lnSpc>
              <a:buNone/>
            </a:pPr>
            <a:r>
              <a:rPr lang="en-US" sz="891" b="1" dirty="0">
                <a:solidFill>
                  <a:srgbClr val="6B5CE7">
                    <a:alpha val="99000"/>
                  </a:srgbClr>
                </a:solidFill>
                <a:latin typeface="Inter" pitchFamily="34" charset="0"/>
                <a:ea typeface="Inter" pitchFamily="34" charset="-122"/>
                <a:cs typeface="Inter" pitchFamily="34" charset="-120"/>
              </a:rPr>
              <a:t>Mercado</a:t>
            </a:r>
            <a:endParaRPr lang="en-US" sz="891" dirty="0"/>
          </a:p>
        </p:txBody>
      </p:sp>
      <p:sp>
        <p:nvSpPr>
          <p:cNvPr id="12" name="Text 10"/>
          <p:cNvSpPr/>
          <p:nvPr/>
        </p:nvSpPr>
        <p:spPr>
          <a:xfrm>
            <a:off x="6438900" y="1614488"/>
            <a:ext cx="1905000" cy="47625"/>
          </a:xfrm>
          <a:prstGeom prst="rect">
            <a:avLst/>
          </a:prstGeom>
          <a:noFill/>
          <a:ln/>
        </p:spPr>
        <p:txBody>
          <a:bodyPr wrap="square" lIns="0" tIns="0" rIns="0" bIns="0" rtlCol="0" anchor="t"/>
          <a:lstStyle/>
          <a:p>
            <a:pPr algn="l" indent="0" marL="0">
              <a:lnSpc>
                <a:spcPts val="998"/>
              </a:lnSpc>
              <a:buNone/>
            </a:pPr>
            <a:r>
              <a:rPr lang="en-US" sz="748" dirty="0">
                <a:solidFill>
                  <a:srgbClr val="9AA0B4">
                    <a:alpha val="99000"/>
                  </a:srgbClr>
                </a:solidFill>
                <a:latin typeface="Inter" pitchFamily="34" charset="0"/>
                <a:ea typeface="Inter" pitchFamily="34" charset="-122"/>
                <a:cs typeface="Inter" pitchFamily="34" charset="-120"/>
              </a:rPr>
              <a:t>Sigue el patrón ya usado para XP y vidas</a:t>
            </a:r>
            <a:endParaRPr lang="en-US" sz="748" dirty="0"/>
          </a:p>
        </p:txBody>
      </p:sp>
      <p:sp>
        <p:nvSpPr>
          <p:cNvPr id="13" name="Shape 11"/>
          <p:cNvSpPr/>
          <p:nvPr/>
        </p:nvSpPr>
        <p:spPr>
          <a:xfrm>
            <a:off x="666750" y="2019300"/>
            <a:ext cx="7810500" cy="466725"/>
          </a:xfrm>
          <a:prstGeom prst="roundRect">
            <a:avLst>
              <a:gd name="adj" fmla="val 27429"/>
            </a:avLst>
          </a:prstGeom>
          <a:solidFill>
            <a:srgbClr val="1B1D2F"/>
          </a:solidFill>
          <a:ln/>
        </p:spPr>
      </p:sp>
      <p:sp>
        <p:nvSpPr>
          <p:cNvPr id="14" name="Shape 12"/>
          <p:cNvSpPr/>
          <p:nvPr/>
        </p:nvSpPr>
        <p:spPr>
          <a:xfrm>
            <a:off x="666750" y="2019300"/>
            <a:ext cx="23813" cy="466725"/>
          </a:xfrm>
          <a:prstGeom prst="rect">
            <a:avLst/>
          </a:prstGeom>
          <a:solidFill>
            <a:srgbClr val="4CD4D8"/>
          </a:solidFill>
          <a:ln/>
        </p:spPr>
      </p:sp>
      <p:sp>
        <p:nvSpPr>
          <p:cNvPr id="15" name="Text 13"/>
          <p:cNvSpPr/>
          <p:nvPr/>
        </p:nvSpPr>
        <p:spPr>
          <a:xfrm>
            <a:off x="819150" y="2171700"/>
            <a:ext cx="3524250" cy="47625"/>
          </a:xfrm>
          <a:prstGeom prst="rect">
            <a:avLst/>
          </a:prstGeom>
          <a:noFill/>
          <a:ln/>
        </p:spPr>
        <p:txBody>
          <a:bodyPr wrap="square" lIns="0" tIns="0" rIns="0" bIns="0" rtlCol="0" anchor="t"/>
          <a:lstStyle/>
          <a:p>
            <a:pPr algn="l" indent="0" marL="0">
              <a:lnSpc>
                <a:spcPts val="1140"/>
              </a:lnSpc>
              <a:buNone/>
            </a:pPr>
            <a:r>
              <a:rPr lang="en-US" sz="891" dirty="0">
                <a:solidFill>
                  <a:srgbClr val="FFFFFF">
                    <a:alpha val="99000"/>
                  </a:srgbClr>
                </a:solidFill>
                <a:latin typeface="Inter" pitchFamily="34" charset="0"/>
                <a:ea typeface="Inter" pitchFamily="34" charset="-122"/>
                <a:cs typeface="Inter" pitchFamily="34" charset="-120"/>
              </a:rPr>
              <a:t>¿Va en el mismo evento que XP y vidas, o aparte?</a:t>
            </a:r>
            <a:endParaRPr lang="en-US" sz="891" dirty="0"/>
          </a:p>
        </p:txBody>
      </p:sp>
      <p:sp>
        <p:nvSpPr>
          <p:cNvPr id="16" name="Text 14"/>
          <p:cNvSpPr/>
          <p:nvPr/>
        </p:nvSpPr>
        <p:spPr>
          <a:xfrm>
            <a:off x="4533900" y="2171700"/>
            <a:ext cx="690563" cy="142875"/>
          </a:xfrm>
          <a:prstGeom prst="rect">
            <a:avLst/>
          </a:prstGeom>
          <a:noFill/>
          <a:ln/>
        </p:spPr>
        <p:txBody>
          <a:bodyPr wrap="square" lIns="0" tIns="0" rIns="0" bIns="0" rtlCol="0" anchor="t"/>
          <a:lstStyle/>
          <a:p>
            <a:pPr algn="l" indent="0" marL="0">
              <a:lnSpc>
                <a:spcPts val="1078"/>
              </a:lnSpc>
              <a:buNone/>
            </a:pPr>
            <a:r>
              <a:rPr lang="en-US" sz="891" b="1" dirty="0">
                <a:solidFill>
                  <a:srgbClr val="4CD4D8">
                    <a:alpha val="99000"/>
                  </a:srgbClr>
                </a:solidFill>
                <a:latin typeface="Inter" pitchFamily="34" charset="0"/>
                <a:ea typeface="Inter" pitchFamily="34" charset="-122"/>
                <a:cs typeface="Inter" pitchFamily="34" charset="-120"/>
              </a:rPr>
              <a:t>A confirmar</a:t>
            </a:r>
            <a:endParaRPr lang="en-US" sz="891" dirty="0"/>
          </a:p>
        </p:txBody>
      </p:sp>
      <p:sp>
        <p:nvSpPr>
          <p:cNvPr id="17" name="Text 15"/>
          <p:cNvSpPr/>
          <p:nvPr/>
        </p:nvSpPr>
        <p:spPr>
          <a:xfrm>
            <a:off x="6438900" y="2147888"/>
            <a:ext cx="1905000" cy="47625"/>
          </a:xfrm>
          <a:prstGeom prst="rect">
            <a:avLst/>
          </a:prstGeom>
          <a:noFill/>
          <a:ln/>
        </p:spPr>
        <p:txBody>
          <a:bodyPr wrap="square" lIns="0" tIns="0" rIns="0" bIns="0" rtlCol="0" anchor="t"/>
          <a:lstStyle/>
          <a:p>
            <a:pPr algn="l" indent="0" marL="0">
              <a:lnSpc>
                <a:spcPts val="998"/>
              </a:lnSpc>
              <a:buNone/>
            </a:pPr>
            <a:r>
              <a:rPr lang="en-US" sz="748" dirty="0">
                <a:solidFill>
                  <a:srgbClr val="9AA0B4">
                    <a:alpha val="99000"/>
                  </a:srgbClr>
                </a:solidFill>
                <a:latin typeface="Inter" pitchFamily="34" charset="0"/>
                <a:ea typeface="Inter" pitchFamily="34" charset="-122"/>
                <a:cs typeface="Inter" pitchFamily="34" charset="-120"/>
              </a:rPr>
              <a:t>Cambia si hace falta un consumidor más en el bus</a:t>
            </a:r>
            <a:endParaRPr lang="en-US" sz="748" dirty="0"/>
          </a:p>
        </p:txBody>
      </p:sp>
      <p:sp>
        <p:nvSpPr>
          <p:cNvPr id="18" name="Shape 16"/>
          <p:cNvSpPr/>
          <p:nvPr/>
        </p:nvSpPr>
        <p:spPr>
          <a:xfrm>
            <a:off x="666750" y="2543175"/>
            <a:ext cx="7810500" cy="466725"/>
          </a:xfrm>
          <a:prstGeom prst="roundRect">
            <a:avLst>
              <a:gd name="adj" fmla="val 27429"/>
            </a:avLst>
          </a:prstGeom>
          <a:solidFill>
            <a:srgbClr val="1B1D2F"/>
          </a:solidFill>
          <a:ln/>
        </p:spPr>
      </p:sp>
      <p:sp>
        <p:nvSpPr>
          <p:cNvPr id="19" name="Shape 17"/>
          <p:cNvSpPr/>
          <p:nvPr/>
        </p:nvSpPr>
        <p:spPr>
          <a:xfrm>
            <a:off x="666750" y="2543175"/>
            <a:ext cx="23813" cy="466725"/>
          </a:xfrm>
          <a:prstGeom prst="rect">
            <a:avLst/>
          </a:prstGeom>
          <a:solidFill>
            <a:srgbClr val="F5A623"/>
          </a:solidFill>
          <a:ln/>
        </p:spPr>
      </p:sp>
      <p:sp>
        <p:nvSpPr>
          <p:cNvPr id="20" name="Text 18"/>
          <p:cNvSpPr/>
          <p:nvPr/>
        </p:nvSpPr>
        <p:spPr>
          <a:xfrm>
            <a:off x="819150" y="2695575"/>
            <a:ext cx="3524250" cy="47625"/>
          </a:xfrm>
          <a:prstGeom prst="rect">
            <a:avLst/>
          </a:prstGeom>
          <a:noFill/>
          <a:ln/>
        </p:spPr>
        <p:txBody>
          <a:bodyPr wrap="square" lIns="0" tIns="0" rIns="0" bIns="0" rtlCol="0" anchor="t"/>
          <a:lstStyle/>
          <a:p>
            <a:pPr algn="l" indent="0" marL="0">
              <a:lnSpc>
                <a:spcPts val="1140"/>
              </a:lnSpc>
              <a:buNone/>
            </a:pPr>
            <a:r>
              <a:rPr lang="en-US" sz="891" dirty="0">
                <a:solidFill>
                  <a:srgbClr val="FFFFFF">
                    <a:alpha val="99000"/>
                  </a:srgbClr>
                </a:solidFill>
                <a:latin typeface="Inter" pitchFamily="34" charset="0"/>
                <a:ea typeface="Inter" pitchFamily="34" charset="-122"/>
                <a:cs typeface="Inter" pitchFamily="34" charset="-120"/>
              </a:rPr>
              <a:t>¿Quién define el catálogo de insignias?</a:t>
            </a:r>
            <a:endParaRPr lang="en-US" sz="891" dirty="0"/>
          </a:p>
        </p:txBody>
      </p:sp>
      <p:sp>
        <p:nvSpPr>
          <p:cNvPr id="21" name="Text 19"/>
          <p:cNvSpPr/>
          <p:nvPr/>
        </p:nvSpPr>
        <p:spPr>
          <a:xfrm>
            <a:off x="4533900" y="2695575"/>
            <a:ext cx="800100" cy="142875"/>
          </a:xfrm>
          <a:prstGeom prst="rect">
            <a:avLst/>
          </a:prstGeom>
          <a:noFill/>
          <a:ln/>
        </p:spPr>
        <p:txBody>
          <a:bodyPr wrap="square" lIns="0" tIns="0" rIns="0" bIns="0" rtlCol="0" anchor="t"/>
          <a:lstStyle/>
          <a:p>
            <a:pPr algn="l" indent="0" marL="0">
              <a:lnSpc>
                <a:spcPts val="1078"/>
              </a:lnSpc>
              <a:buNone/>
            </a:pPr>
            <a:r>
              <a:rPr lang="en-US" sz="891" b="1" dirty="0">
                <a:solidFill>
                  <a:srgbClr val="F5A623">
                    <a:alpha val="99000"/>
                  </a:srgbClr>
                </a:solidFill>
                <a:latin typeface="Inter" pitchFamily="34" charset="0"/>
                <a:ea typeface="Inter" pitchFamily="34" charset="-122"/>
                <a:cs typeface="Inter" pitchFamily="34" charset="-120"/>
              </a:rPr>
              <a:t>Sin candidato</a:t>
            </a:r>
            <a:endParaRPr lang="en-US" sz="891" dirty="0"/>
          </a:p>
        </p:txBody>
      </p:sp>
      <p:sp>
        <p:nvSpPr>
          <p:cNvPr id="22" name="Text 20"/>
          <p:cNvSpPr/>
          <p:nvPr/>
        </p:nvSpPr>
        <p:spPr>
          <a:xfrm>
            <a:off x="6438900" y="2705100"/>
            <a:ext cx="1905000" cy="47625"/>
          </a:xfrm>
          <a:prstGeom prst="rect">
            <a:avLst/>
          </a:prstGeom>
          <a:noFill/>
          <a:ln/>
        </p:spPr>
        <p:txBody>
          <a:bodyPr wrap="square" lIns="0" tIns="0" rIns="0" bIns="0" rtlCol="0" anchor="t"/>
          <a:lstStyle/>
          <a:p>
            <a:pPr algn="l" indent="0" marL="0">
              <a:lnSpc>
                <a:spcPts val="998"/>
              </a:lnSpc>
              <a:buNone/>
            </a:pPr>
            <a:r>
              <a:rPr lang="en-US" sz="748" dirty="0">
                <a:solidFill>
                  <a:srgbClr val="9AA0B4">
                    <a:alpha val="99000"/>
                  </a:srgbClr>
                </a:solidFill>
                <a:latin typeface="Inter" pitchFamily="34" charset="0"/>
                <a:ea typeface="Inter" pitchFamily="34" charset="-122"/>
                <a:cs typeface="Inter" pitchFamily="34" charset="-120"/>
              </a:rPr>
              <a:t>Ningún RF se lo asigna a nadie</a:t>
            </a:r>
            <a:endParaRPr lang="en-US" sz="748" dirty="0"/>
          </a:p>
        </p:txBody>
      </p:sp>
      <p:sp>
        <p:nvSpPr>
          <p:cNvPr id="23" name="Shape 21"/>
          <p:cNvSpPr/>
          <p:nvPr/>
        </p:nvSpPr>
        <p:spPr>
          <a:xfrm>
            <a:off x="666750" y="3171825"/>
            <a:ext cx="3857625" cy="933450"/>
          </a:xfrm>
          <a:prstGeom prst="roundRect">
            <a:avLst>
              <a:gd name="adj" fmla="val 15673"/>
            </a:avLst>
          </a:prstGeom>
          <a:solidFill>
            <a:srgbClr val="262943"/>
          </a:solidFill>
          <a:ln/>
        </p:spPr>
      </p:sp>
      <p:sp>
        <p:nvSpPr>
          <p:cNvPr id="24" name="Shape 22"/>
          <p:cNvSpPr/>
          <p:nvPr/>
        </p:nvSpPr>
        <p:spPr>
          <a:xfrm>
            <a:off x="666750" y="3171825"/>
            <a:ext cx="23813" cy="933450"/>
          </a:xfrm>
          <a:prstGeom prst="rect">
            <a:avLst/>
          </a:prstGeom>
          <a:solidFill>
            <a:srgbClr val="F2545B"/>
          </a:solidFill>
          <a:ln/>
        </p:spPr>
      </p:sp>
      <p:sp>
        <p:nvSpPr>
          <p:cNvPr id="25" name="Text 23"/>
          <p:cNvSpPr/>
          <p:nvPr/>
        </p:nvSpPr>
        <p:spPr>
          <a:xfrm>
            <a:off x="838200" y="3314700"/>
            <a:ext cx="1147763" cy="109538"/>
          </a:xfrm>
          <a:prstGeom prst="rect">
            <a:avLst/>
          </a:prstGeom>
          <a:noFill/>
          <a:ln/>
        </p:spPr>
        <p:txBody>
          <a:bodyPr wrap="square" lIns="0" tIns="0" rIns="0" bIns="0" rtlCol="0" anchor="t"/>
          <a:lstStyle/>
          <a:p>
            <a:pPr algn="l" indent="0" marL="0">
              <a:lnSpc>
                <a:spcPts val="819"/>
              </a:lnSpc>
              <a:buNone/>
            </a:pPr>
            <a:r>
              <a:rPr lang="en-US" sz="677" b="1" dirty="0">
                <a:solidFill>
                  <a:srgbClr val="F2545B">
                    <a:alpha val="99000"/>
                  </a:srgbClr>
                </a:solidFill>
                <a:latin typeface="Inter" pitchFamily="34" charset="0"/>
                <a:ea typeface="Inter" pitchFamily="34" charset="-122"/>
                <a:cs typeface="Inter" pitchFamily="34" charset="-120"/>
              </a:rPr>
              <a:t>PATRÓN QUE YA USAMOS</a:t>
            </a:r>
            <a:endParaRPr lang="en-US" sz="677" dirty="0"/>
          </a:p>
        </p:txBody>
      </p:sp>
      <p:sp>
        <p:nvSpPr>
          <p:cNvPr id="26" name="Text 24"/>
          <p:cNvSpPr/>
          <p:nvPr/>
        </p:nvSpPr>
        <p:spPr>
          <a:xfrm>
            <a:off x="838200" y="3448050"/>
            <a:ext cx="3557588" cy="47625"/>
          </a:xfrm>
          <a:prstGeom prst="rect">
            <a:avLst/>
          </a:prstGeom>
          <a:noFill/>
          <a:ln/>
        </p:spPr>
        <p:txBody>
          <a:bodyPr wrap="square" lIns="0" tIns="0" rIns="0" bIns="0" rtlCol="0" anchor="t"/>
          <a:lstStyle/>
          <a:p>
            <a:pPr algn="l" indent="0" marL="0">
              <a:lnSpc>
                <a:spcPts val="1140"/>
              </a:lnSpc>
              <a:buNone/>
            </a:pPr>
            <a:r>
              <a:rPr lang="en-US" sz="784" dirty="0">
                <a:solidFill>
                  <a:srgbClr val="FFFFFF">
                    <a:alpha val="99000"/>
                  </a:srgbClr>
                </a:solidFill>
                <a:latin typeface="Inter" pitchFamily="34" charset="0"/>
                <a:ea typeface="Inter" pitchFamily="34" charset="-122"/>
                <a:cs typeface="Inter" pitchFamily="34" charset="-120"/>
              </a:rPr>
              <a:t>Motor de desafios emite un solo hecho y cada consumidor lo interpreta distinto: Roadmap lee XP y vidas, Banco monedas. La Sección 9 dice que insignias se ganan por desafío específico — mismo candidato probable.</a:t>
            </a:r>
            <a:endParaRPr lang="en-US" sz="784" dirty="0"/>
          </a:p>
        </p:txBody>
      </p:sp>
      <p:sp>
        <p:nvSpPr>
          <p:cNvPr id="27" name="Shape 25"/>
          <p:cNvSpPr/>
          <p:nvPr/>
        </p:nvSpPr>
        <p:spPr>
          <a:xfrm>
            <a:off x="4667250" y="3171825"/>
            <a:ext cx="3810000" cy="933450"/>
          </a:xfrm>
          <a:prstGeom prst="roundRect">
            <a:avLst>
              <a:gd name="adj" fmla="val 15673"/>
            </a:avLst>
          </a:prstGeom>
          <a:solidFill>
            <a:srgbClr val="262943"/>
          </a:solidFill>
          <a:ln/>
        </p:spPr>
      </p:sp>
      <p:sp>
        <p:nvSpPr>
          <p:cNvPr id="28" name="Shape 26"/>
          <p:cNvSpPr/>
          <p:nvPr/>
        </p:nvSpPr>
        <p:spPr>
          <a:xfrm>
            <a:off x="4667250" y="3171825"/>
            <a:ext cx="23813" cy="933450"/>
          </a:xfrm>
          <a:prstGeom prst="rect">
            <a:avLst/>
          </a:prstGeom>
          <a:solidFill>
            <a:srgbClr val="F2545B"/>
          </a:solidFill>
          <a:ln/>
        </p:spPr>
      </p:sp>
      <p:sp>
        <p:nvSpPr>
          <p:cNvPr id="29" name="Text 27"/>
          <p:cNvSpPr/>
          <p:nvPr/>
        </p:nvSpPr>
        <p:spPr>
          <a:xfrm>
            <a:off x="4838700" y="3314700"/>
            <a:ext cx="1181100" cy="109538"/>
          </a:xfrm>
          <a:prstGeom prst="rect">
            <a:avLst/>
          </a:prstGeom>
          <a:noFill/>
          <a:ln/>
        </p:spPr>
        <p:txBody>
          <a:bodyPr wrap="square" lIns="0" tIns="0" rIns="0" bIns="0" rtlCol="0" anchor="t"/>
          <a:lstStyle/>
          <a:p>
            <a:pPr algn="l" indent="0" marL="0">
              <a:lnSpc>
                <a:spcPts val="819"/>
              </a:lnSpc>
              <a:buNone/>
            </a:pPr>
            <a:r>
              <a:rPr lang="en-US" sz="677" b="1" dirty="0">
                <a:solidFill>
                  <a:srgbClr val="F2545B">
                    <a:alpha val="99000"/>
                  </a:srgbClr>
                </a:solidFill>
                <a:latin typeface="Inter" pitchFamily="34" charset="0"/>
                <a:ea typeface="Inter" pitchFamily="34" charset="-122"/>
                <a:cs typeface="Inter" pitchFamily="34" charset="-120"/>
              </a:rPr>
              <a:t>LO QUE EL PRD NO CIERRA</a:t>
            </a:r>
            <a:endParaRPr lang="en-US" sz="677" dirty="0"/>
          </a:p>
        </p:txBody>
      </p:sp>
      <p:sp>
        <p:nvSpPr>
          <p:cNvPr id="30" name="Text 28"/>
          <p:cNvSpPr/>
          <p:nvPr/>
        </p:nvSpPr>
        <p:spPr>
          <a:xfrm>
            <a:off x="4838700" y="3495675"/>
            <a:ext cx="3514725" cy="47625"/>
          </a:xfrm>
          <a:prstGeom prst="rect">
            <a:avLst/>
          </a:prstGeom>
          <a:noFill/>
          <a:ln/>
        </p:spPr>
        <p:txBody>
          <a:bodyPr wrap="square" lIns="0" tIns="0" rIns="0" bIns="0" rtlCol="0" anchor="t"/>
          <a:lstStyle/>
          <a:p>
            <a:pPr algn="l" indent="0" marL="0">
              <a:lnSpc>
                <a:spcPts val="1140"/>
              </a:lnSpc>
              <a:buNone/>
            </a:pPr>
            <a:r>
              <a:rPr lang="en-US" sz="784" dirty="0">
                <a:solidFill>
                  <a:srgbClr val="FFFFFF">
                    <a:alpha val="99000"/>
                  </a:srgbClr>
                </a:solidFill>
                <a:latin typeface="Inter" pitchFamily="34" charset="0"/>
                <a:ea typeface="Inter" pitchFamily="34" charset="-122"/>
                <a:cs typeface="Inter" pitchFamily="34" charset="-120"/>
              </a:rPr>
              <a:t>RF-NIV-03 sí asigna niveles: predefinidos de sistema, más los que arma cada profesor. Insignias no tiene un RF equivalente — ningún documento dice quién arma el catálogo.</a:t>
            </a:r>
            <a:endParaRPr lang="en-US" sz="784" dirty="0"/>
          </a:p>
        </p:txBody>
      </p:sp>
      <p:sp>
        <p:nvSpPr>
          <p:cNvPr id="31" name="Text 29"/>
          <p:cNvSpPr/>
          <p:nvPr/>
        </p:nvSpPr>
        <p:spPr>
          <a:xfrm>
            <a:off x="666750" y="4257675"/>
            <a:ext cx="7810500" cy="47625"/>
          </a:xfrm>
          <a:prstGeom prst="rect">
            <a:avLst/>
          </a:prstGeom>
          <a:noFill/>
          <a:ln/>
        </p:spPr>
        <p:txBody>
          <a:bodyPr wrap="square" lIns="0" tIns="0" rIns="0" bIns="0" rtlCol="0" anchor="t"/>
          <a:lstStyle/>
          <a:p>
            <a:pPr algn="l" indent="0" marL="0">
              <a:lnSpc>
                <a:spcPts val="1140"/>
              </a:lnSpc>
              <a:buNone/>
            </a:pPr>
            <a:r>
              <a:rPr lang="en-US" sz="784" dirty="0">
                <a:solidFill>
                  <a:srgbClr val="9AA0B4">
                    <a:alpha val="99000"/>
                  </a:srgbClr>
                </a:solidFill>
                <a:latin typeface="Inter" pitchFamily="34" charset="0"/>
                <a:ea typeface="Inter" pitchFamily="34" charset="-122"/>
                <a:cs typeface="Inter" pitchFamily="34" charset="-120"/>
              </a:rPr>
              <a:t>Es la única duda de la sesión sin postura previa. La traemos así a propósito, para resolverla en clase y no por nuestra cuenta.</a:t>
            </a:r>
            <a:endParaRPr lang="en-US" sz="784" dirty="0"/>
          </a:p>
        </p:txBody>
      </p:sp>
      <p:sp>
        <p:nvSpPr>
          <p:cNvPr id="32" name="Text 30"/>
          <p:cNvSpPr/>
          <p:nvPr/>
        </p:nvSpPr>
        <p:spPr>
          <a:xfrm>
            <a:off x="666750" y="4695825"/>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33" name="Text 31"/>
          <p:cNvSpPr/>
          <p:nvPr/>
        </p:nvSpPr>
        <p:spPr>
          <a:xfrm>
            <a:off x="8286750" y="4695825"/>
            <a:ext cx="123825"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03</a:t>
            </a:r>
            <a:endParaRPr lang="en-US" sz="67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1595438"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POR QUÉ ESTO IMPORTA HOY</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Tres equipos no avanzan sin nosotros</a:t>
            </a:r>
            <a:endParaRPr lang="en-US" sz="1995" dirty="0"/>
          </a:p>
        </p:txBody>
      </p:sp>
      <p:sp>
        <p:nvSpPr>
          <p:cNvPr id="6" name="Shape 3"/>
          <p:cNvSpPr/>
          <p:nvPr/>
        </p:nvSpPr>
        <p:spPr>
          <a:xfrm>
            <a:off x="666750" y="1285875"/>
            <a:ext cx="2476500" cy="2571750"/>
          </a:xfrm>
          <a:prstGeom prst="roundRect">
            <a:avLst>
              <a:gd name="adj" fmla="val 7385"/>
            </a:avLst>
          </a:prstGeom>
          <a:solidFill>
            <a:srgbClr val="1B1D2F"/>
          </a:solidFill>
          <a:ln/>
        </p:spPr>
      </p:sp>
      <p:sp>
        <p:nvSpPr>
          <p:cNvPr id="7" name="Shape 4"/>
          <p:cNvSpPr/>
          <p:nvPr/>
        </p:nvSpPr>
        <p:spPr>
          <a:xfrm>
            <a:off x="666750" y="1285875"/>
            <a:ext cx="2476500" cy="28575"/>
          </a:xfrm>
          <a:prstGeom prst="rect">
            <a:avLst/>
          </a:prstGeom>
          <a:solidFill>
            <a:srgbClr val="4CD4D8"/>
          </a:solidFill>
          <a:ln/>
        </p:spPr>
      </p:sp>
      <p:sp>
        <p:nvSpPr>
          <p:cNvPr id="8" name="Text 5"/>
          <p:cNvSpPr/>
          <p:nvPr/>
        </p:nvSpPr>
        <p:spPr>
          <a:xfrm>
            <a:off x="857250" y="1514475"/>
            <a:ext cx="2095500" cy="47625"/>
          </a:xfrm>
          <a:prstGeom prst="rect">
            <a:avLst/>
          </a:prstGeom>
          <a:noFill/>
          <a:ln/>
        </p:spPr>
        <p:txBody>
          <a:bodyPr wrap="square" lIns="0" tIns="0" rIns="0" bIns="0" rtlCol="0" anchor="t"/>
          <a:lstStyle/>
          <a:p>
            <a:pPr algn="l" indent="0" marL="0">
              <a:lnSpc>
                <a:spcPts val="949"/>
              </a:lnSpc>
              <a:buNone/>
            </a:pPr>
            <a:r>
              <a:rPr lang="en-US" sz="784" b="1" dirty="0">
                <a:solidFill>
                  <a:srgbClr val="4CD4D8">
                    <a:alpha val="99000"/>
                  </a:srgbClr>
                </a:solidFill>
                <a:latin typeface="Inter" pitchFamily="34" charset="0"/>
                <a:ea typeface="Inter" pitchFamily="34" charset="-122"/>
                <a:cs typeface="Inter" pitchFamily="34" charset="-120"/>
              </a:rPr>
              <a:t>Grupo 9 · Motor de Desafíos</a:t>
            </a:r>
            <a:endParaRPr lang="en-US" sz="784" dirty="0"/>
          </a:p>
        </p:txBody>
      </p:sp>
      <p:sp>
        <p:nvSpPr>
          <p:cNvPr id="9" name="Text 6"/>
          <p:cNvSpPr/>
          <p:nvPr/>
        </p:nvSpPr>
        <p:spPr>
          <a:xfrm>
            <a:off x="857250" y="1781175"/>
            <a:ext cx="2095500" cy="47625"/>
          </a:xfrm>
          <a:prstGeom prst="rect">
            <a:avLst/>
          </a:prstGeom>
          <a:noFill/>
          <a:ln/>
        </p:spPr>
        <p:txBody>
          <a:bodyPr wrap="square" lIns="0" tIns="0" rIns="0" bIns="0" rtlCol="0" anchor="t"/>
          <a:lstStyle/>
          <a:p>
            <a:pPr algn="l" indent="0" marL="0">
              <a:lnSpc>
                <a:spcPts val="1639"/>
              </a:lnSpc>
              <a:buNone/>
            </a:pPr>
            <a:r>
              <a:rPr lang="en-US" sz="1283" b="1" dirty="0">
                <a:solidFill>
                  <a:srgbClr val="FFFFFF">
                    <a:alpha val="99000"/>
                  </a:srgbClr>
                </a:solidFill>
                <a:latin typeface="Inter" pitchFamily="34" charset="0"/>
                <a:ea typeface="Inter" pitchFamily="34" charset="-122"/>
                <a:cs typeface="Inter" pitchFamily="34" charset="-120"/>
              </a:rPr>
              <a:t>No puede aceptar una entrega</a:t>
            </a:r>
            <a:endParaRPr lang="en-US" sz="1283" dirty="0"/>
          </a:p>
        </p:txBody>
      </p:sp>
      <p:sp>
        <p:nvSpPr>
          <p:cNvPr id="10" name="Shape 7"/>
          <p:cNvSpPr/>
          <p:nvPr/>
        </p:nvSpPr>
        <p:spPr>
          <a:xfrm>
            <a:off x="857250" y="2562225"/>
            <a:ext cx="266700" cy="14288"/>
          </a:xfrm>
          <a:prstGeom prst="rect">
            <a:avLst/>
          </a:prstGeom>
          <a:solidFill>
            <a:srgbClr val="9AA0B4"/>
          </a:solidFill>
          <a:ln/>
        </p:spPr>
      </p:sp>
      <p:sp>
        <p:nvSpPr>
          <p:cNvPr id="11" name="Text 8"/>
          <p:cNvSpPr/>
          <p:nvPr/>
        </p:nvSpPr>
        <p:spPr>
          <a:xfrm>
            <a:off x="857250" y="2714625"/>
            <a:ext cx="1062038"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NECESITA DE NOSOTROS</a:t>
            </a:r>
            <a:endParaRPr lang="en-US" sz="641" dirty="0"/>
          </a:p>
        </p:txBody>
      </p:sp>
      <p:sp>
        <p:nvSpPr>
          <p:cNvPr id="12" name="Text 9"/>
          <p:cNvSpPr/>
          <p:nvPr/>
        </p:nvSpPr>
        <p:spPr>
          <a:xfrm>
            <a:off x="857250" y="2886075"/>
            <a:ext cx="2095500" cy="47625"/>
          </a:xfrm>
          <a:prstGeom prst="rect">
            <a:avLst/>
          </a:prstGeom>
          <a:noFill/>
          <a:ln/>
        </p:spPr>
        <p:txBody>
          <a:bodyPr wrap="square" lIns="0" tIns="0" rIns="0" bIns="0" rtlCol="0" anchor="t"/>
          <a:lstStyle/>
          <a:p>
            <a:pPr algn="l" indent="0" marL="0">
              <a:lnSpc>
                <a:spcPts val="1211"/>
              </a:lnSpc>
              <a:buNone/>
            </a:pPr>
            <a:r>
              <a:rPr lang="en-US" sz="855" dirty="0">
                <a:solidFill>
                  <a:srgbClr val="FFFFFF">
                    <a:alpha val="99000"/>
                  </a:srgbClr>
                </a:solidFill>
                <a:latin typeface="Inter" pitchFamily="34" charset="0"/>
                <a:ea typeface="Inter" pitchFamily="34" charset="-122"/>
                <a:cs typeface="Inter" pitchFamily="34" charset="-120"/>
              </a:rPr>
              <a:t>Gate de habilitación por nodo y por vidas</a:t>
            </a:r>
            <a:endParaRPr lang="en-US" sz="855" dirty="0"/>
          </a:p>
        </p:txBody>
      </p:sp>
      <p:sp>
        <p:nvSpPr>
          <p:cNvPr id="13" name="Text 10"/>
          <p:cNvSpPr/>
          <p:nvPr/>
        </p:nvSpPr>
        <p:spPr>
          <a:xfrm>
            <a:off x="857250" y="3324225"/>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Sin esto no cierra su ciclo de entrega</a:t>
            </a:r>
            <a:endParaRPr lang="en-US" sz="748" dirty="0"/>
          </a:p>
        </p:txBody>
      </p:sp>
      <p:sp>
        <p:nvSpPr>
          <p:cNvPr id="14" name="Shape 11"/>
          <p:cNvSpPr/>
          <p:nvPr/>
        </p:nvSpPr>
        <p:spPr>
          <a:xfrm>
            <a:off x="3333750" y="1285875"/>
            <a:ext cx="2476500" cy="2571750"/>
          </a:xfrm>
          <a:prstGeom prst="roundRect">
            <a:avLst>
              <a:gd name="adj" fmla="val 7385"/>
            </a:avLst>
          </a:prstGeom>
          <a:solidFill>
            <a:srgbClr val="1B1D2F"/>
          </a:solidFill>
          <a:ln/>
        </p:spPr>
      </p:sp>
      <p:sp>
        <p:nvSpPr>
          <p:cNvPr id="15" name="Shape 12"/>
          <p:cNvSpPr/>
          <p:nvPr/>
        </p:nvSpPr>
        <p:spPr>
          <a:xfrm>
            <a:off x="3333750" y="1285875"/>
            <a:ext cx="2476500" cy="28575"/>
          </a:xfrm>
          <a:prstGeom prst="rect">
            <a:avLst/>
          </a:prstGeom>
          <a:solidFill>
            <a:srgbClr val="F5A623"/>
          </a:solidFill>
          <a:ln/>
        </p:spPr>
      </p:sp>
      <p:sp>
        <p:nvSpPr>
          <p:cNvPr id="16" name="Text 13"/>
          <p:cNvSpPr/>
          <p:nvPr/>
        </p:nvSpPr>
        <p:spPr>
          <a:xfrm>
            <a:off x="3524250" y="1514475"/>
            <a:ext cx="2095500" cy="47625"/>
          </a:xfrm>
          <a:prstGeom prst="rect">
            <a:avLst/>
          </a:prstGeom>
          <a:noFill/>
          <a:ln/>
        </p:spPr>
        <p:txBody>
          <a:bodyPr wrap="square" lIns="0" tIns="0" rIns="0" bIns="0" rtlCol="0" anchor="t"/>
          <a:lstStyle/>
          <a:p>
            <a:pPr algn="l" indent="0" marL="0">
              <a:lnSpc>
                <a:spcPts val="949"/>
              </a:lnSpc>
              <a:buNone/>
            </a:pPr>
            <a:r>
              <a:rPr lang="en-US" sz="784" b="1" dirty="0">
                <a:solidFill>
                  <a:srgbClr val="F5A623">
                    <a:alpha val="99000"/>
                  </a:srgbClr>
                </a:solidFill>
                <a:latin typeface="Inter" pitchFamily="34" charset="0"/>
                <a:ea typeface="Inter" pitchFamily="34" charset="-122"/>
                <a:cs typeface="Inter" pitchFamily="34" charset="-120"/>
              </a:rPr>
              <a:t>Grupo 12 · Mercado</a:t>
            </a:r>
            <a:endParaRPr lang="en-US" sz="784" dirty="0"/>
          </a:p>
        </p:txBody>
      </p:sp>
      <p:sp>
        <p:nvSpPr>
          <p:cNvPr id="17" name="Text 14"/>
          <p:cNvSpPr/>
          <p:nvPr/>
        </p:nvSpPr>
        <p:spPr>
          <a:xfrm>
            <a:off x="3524250" y="1781175"/>
            <a:ext cx="2095500" cy="47625"/>
          </a:xfrm>
          <a:prstGeom prst="rect">
            <a:avLst/>
          </a:prstGeom>
          <a:noFill/>
          <a:ln/>
        </p:spPr>
        <p:txBody>
          <a:bodyPr wrap="square" lIns="0" tIns="0" rIns="0" bIns="0" rtlCol="0" anchor="t"/>
          <a:lstStyle/>
          <a:p>
            <a:pPr algn="l" indent="0" marL="0">
              <a:lnSpc>
                <a:spcPts val="1639"/>
              </a:lnSpc>
              <a:buNone/>
            </a:pPr>
            <a:r>
              <a:rPr lang="en-US" sz="1283" b="1" dirty="0">
                <a:solidFill>
                  <a:srgbClr val="FFFFFF">
                    <a:alpha val="99000"/>
                  </a:srgbClr>
                </a:solidFill>
                <a:latin typeface="Inter" pitchFamily="34" charset="0"/>
                <a:ea typeface="Inter" pitchFamily="34" charset="-122"/>
                <a:cs typeface="Inter" pitchFamily="34" charset="-120"/>
              </a:rPr>
              <a:t>No puede confirmar la compra de una vida</a:t>
            </a:r>
            <a:endParaRPr lang="en-US" sz="1283" dirty="0"/>
          </a:p>
        </p:txBody>
      </p:sp>
      <p:sp>
        <p:nvSpPr>
          <p:cNvPr id="18" name="Shape 15"/>
          <p:cNvSpPr/>
          <p:nvPr/>
        </p:nvSpPr>
        <p:spPr>
          <a:xfrm>
            <a:off x="3524250" y="2562225"/>
            <a:ext cx="266700" cy="14288"/>
          </a:xfrm>
          <a:prstGeom prst="rect">
            <a:avLst/>
          </a:prstGeom>
          <a:solidFill>
            <a:srgbClr val="9AA0B4"/>
          </a:solidFill>
          <a:ln/>
        </p:spPr>
      </p:sp>
      <p:sp>
        <p:nvSpPr>
          <p:cNvPr id="19" name="Text 16"/>
          <p:cNvSpPr/>
          <p:nvPr/>
        </p:nvSpPr>
        <p:spPr>
          <a:xfrm>
            <a:off x="3524250" y="2714625"/>
            <a:ext cx="1062038"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NECESITA DE NOSOTROS</a:t>
            </a:r>
            <a:endParaRPr lang="en-US" sz="641" dirty="0"/>
          </a:p>
        </p:txBody>
      </p:sp>
      <p:sp>
        <p:nvSpPr>
          <p:cNvPr id="20" name="Text 17"/>
          <p:cNvSpPr/>
          <p:nvPr/>
        </p:nvSpPr>
        <p:spPr>
          <a:xfrm>
            <a:off x="3524250" y="2886075"/>
            <a:ext cx="2095500" cy="47625"/>
          </a:xfrm>
          <a:prstGeom prst="rect">
            <a:avLst/>
          </a:prstGeom>
          <a:noFill/>
          <a:ln/>
        </p:spPr>
        <p:txBody>
          <a:bodyPr wrap="square" lIns="0" tIns="0" rIns="0" bIns="0" rtlCol="0" anchor="t"/>
          <a:lstStyle/>
          <a:p>
            <a:pPr algn="l" indent="0" marL="0">
              <a:lnSpc>
                <a:spcPts val="1211"/>
              </a:lnSpc>
              <a:buNone/>
            </a:pPr>
            <a:r>
              <a:rPr lang="en-US" sz="855" dirty="0">
                <a:solidFill>
                  <a:srgbClr val="FFFFFF">
                    <a:alpha val="99000"/>
                  </a:srgbClr>
                </a:solidFill>
                <a:latin typeface="Inter" pitchFamily="34" charset="0"/>
                <a:ea typeface="Inter" pitchFamily="34" charset="-122"/>
                <a:cs typeface="Inter" pitchFamily="34" charset="-120"/>
              </a:rPr>
              <a:t>¿Admite crédito? Techo de PAR-12</a:t>
            </a:r>
            <a:endParaRPr lang="en-US" sz="855" dirty="0"/>
          </a:p>
        </p:txBody>
      </p:sp>
      <p:sp>
        <p:nvSpPr>
          <p:cNvPr id="21" name="Text 18"/>
          <p:cNvSpPr/>
          <p:nvPr/>
        </p:nvSpPr>
        <p:spPr>
          <a:xfrm>
            <a:off x="3524250" y="3324225"/>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Sin esto cobra 300 monedas por algo que no podemos acreditar</a:t>
            </a:r>
            <a:endParaRPr lang="en-US" sz="748" dirty="0"/>
          </a:p>
        </p:txBody>
      </p:sp>
      <p:sp>
        <p:nvSpPr>
          <p:cNvPr id="22" name="Shape 19"/>
          <p:cNvSpPr/>
          <p:nvPr/>
        </p:nvSpPr>
        <p:spPr>
          <a:xfrm>
            <a:off x="6000750" y="1285875"/>
            <a:ext cx="2476500" cy="2571750"/>
          </a:xfrm>
          <a:prstGeom prst="roundRect">
            <a:avLst>
              <a:gd name="adj" fmla="val 7385"/>
            </a:avLst>
          </a:prstGeom>
          <a:solidFill>
            <a:srgbClr val="1B1D2F"/>
          </a:solidFill>
          <a:ln/>
        </p:spPr>
      </p:sp>
      <p:sp>
        <p:nvSpPr>
          <p:cNvPr id="23" name="Shape 20"/>
          <p:cNvSpPr/>
          <p:nvPr/>
        </p:nvSpPr>
        <p:spPr>
          <a:xfrm>
            <a:off x="6000750" y="1285875"/>
            <a:ext cx="2476500" cy="28575"/>
          </a:xfrm>
          <a:prstGeom prst="rect">
            <a:avLst/>
          </a:prstGeom>
          <a:solidFill>
            <a:srgbClr val="4ADE80"/>
          </a:solidFill>
          <a:ln/>
        </p:spPr>
      </p:sp>
      <p:sp>
        <p:nvSpPr>
          <p:cNvPr id="24" name="Text 21"/>
          <p:cNvSpPr/>
          <p:nvPr/>
        </p:nvSpPr>
        <p:spPr>
          <a:xfrm>
            <a:off x="6191250" y="1514475"/>
            <a:ext cx="2095500" cy="47625"/>
          </a:xfrm>
          <a:prstGeom prst="rect">
            <a:avLst/>
          </a:prstGeom>
          <a:noFill/>
          <a:ln/>
        </p:spPr>
        <p:txBody>
          <a:bodyPr wrap="square" lIns="0" tIns="0" rIns="0" bIns="0" rtlCol="0" anchor="t"/>
          <a:lstStyle/>
          <a:p>
            <a:pPr algn="l" indent="0" marL="0">
              <a:lnSpc>
                <a:spcPts val="949"/>
              </a:lnSpc>
              <a:buNone/>
            </a:pPr>
            <a:r>
              <a:rPr lang="en-US" sz="784" b="1" dirty="0">
                <a:solidFill>
                  <a:srgbClr val="4ADE80">
                    <a:alpha val="99000"/>
                  </a:srgbClr>
                </a:solidFill>
                <a:latin typeface="Inter" pitchFamily="34" charset="0"/>
                <a:ea typeface="Inter" pitchFamily="34" charset="-122"/>
                <a:cs typeface="Inter" pitchFamily="34" charset="-120"/>
              </a:rPr>
              <a:t>Grupo 1 · Cursos y Matrícula</a:t>
            </a:r>
            <a:endParaRPr lang="en-US" sz="784" dirty="0"/>
          </a:p>
        </p:txBody>
      </p:sp>
      <p:sp>
        <p:nvSpPr>
          <p:cNvPr id="25" name="Text 22"/>
          <p:cNvSpPr/>
          <p:nvPr/>
        </p:nvSpPr>
        <p:spPr>
          <a:xfrm>
            <a:off x="6191250" y="1781175"/>
            <a:ext cx="2095500" cy="47625"/>
          </a:xfrm>
          <a:prstGeom prst="rect">
            <a:avLst/>
          </a:prstGeom>
          <a:noFill/>
          <a:ln/>
        </p:spPr>
        <p:txBody>
          <a:bodyPr wrap="square" lIns="0" tIns="0" rIns="0" bIns="0" rtlCol="0" anchor="t"/>
          <a:lstStyle/>
          <a:p>
            <a:pPr algn="l" indent="0" marL="0">
              <a:lnSpc>
                <a:spcPts val="1639"/>
              </a:lnSpc>
              <a:buNone/>
            </a:pPr>
            <a:r>
              <a:rPr lang="en-US" sz="1283" b="1" dirty="0">
                <a:solidFill>
                  <a:srgbClr val="FFFFFF">
                    <a:alpha val="99000"/>
                  </a:srgbClr>
                </a:solidFill>
                <a:latin typeface="Inter" pitchFamily="34" charset="0"/>
                <a:ea typeface="Inter" pitchFamily="34" charset="-122"/>
                <a:cs typeface="Inter" pitchFamily="34" charset="-120"/>
              </a:rPr>
              <a:t>No puede archivar el curso</a:t>
            </a:r>
            <a:endParaRPr lang="en-US" sz="1283" dirty="0"/>
          </a:p>
        </p:txBody>
      </p:sp>
      <p:sp>
        <p:nvSpPr>
          <p:cNvPr id="26" name="Shape 23"/>
          <p:cNvSpPr/>
          <p:nvPr/>
        </p:nvSpPr>
        <p:spPr>
          <a:xfrm>
            <a:off x="6191250" y="2562225"/>
            <a:ext cx="266700" cy="14288"/>
          </a:xfrm>
          <a:prstGeom prst="rect">
            <a:avLst/>
          </a:prstGeom>
          <a:solidFill>
            <a:srgbClr val="9AA0B4"/>
          </a:solidFill>
          <a:ln/>
        </p:spPr>
      </p:sp>
      <p:sp>
        <p:nvSpPr>
          <p:cNvPr id="27" name="Text 24"/>
          <p:cNvSpPr/>
          <p:nvPr/>
        </p:nvSpPr>
        <p:spPr>
          <a:xfrm>
            <a:off x="6191250" y="2714625"/>
            <a:ext cx="1062038"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NECESITA DE NOSOTROS</a:t>
            </a:r>
            <a:endParaRPr lang="en-US" sz="641" dirty="0"/>
          </a:p>
        </p:txBody>
      </p:sp>
      <p:sp>
        <p:nvSpPr>
          <p:cNvPr id="28" name="Text 25"/>
          <p:cNvSpPr/>
          <p:nvPr/>
        </p:nvSpPr>
        <p:spPr>
          <a:xfrm>
            <a:off x="6191250" y="2886075"/>
            <a:ext cx="2095500" cy="47625"/>
          </a:xfrm>
          <a:prstGeom prst="rect">
            <a:avLst/>
          </a:prstGeom>
          <a:noFill/>
          <a:ln/>
        </p:spPr>
        <p:txBody>
          <a:bodyPr wrap="square" lIns="0" tIns="0" rIns="0" bIns="0" rtlCol="0" anchor="t"/>
          <a:lstStyle/>
          <a:p>
            <a:pPr algn="l" indent="0" marL="0">
              <a:lnSpc>
                <a:spcPts val="1211"/>
              </a:lnSpc>
              <a:buNone/>
            </a:pPr>
            <a:r>
              <a:rPr lang="en-US" sz="855" dirty="0">
                <a:solidFill>
                  <a:srgbClr val="FFFFFF">
                    <a:alpha val="99000"/>
                  </a:srgbClr>
                </a:solidFill>
                <a:latin typeface="Inter" pitchFamily="34" charset="0"/>
                <a:ea typeface="Inter" pitchFamily="34" charset="-122"/>
                <a:cs typeface="Inter" pitchFamily="34" charset="-120"/>
              </a:rPr>
              <a:t>Confirmación del estado académico (RF-RNK-10)</a:t>
            </a:r>
            <a:endParaRPr lang="en-US" sz="855" dirty="0"/>
          </a:p>
        </p:txBody>
      </p:sp>
      <p:sp>
        <p:nvSpPr>
          <p:cNvPr id="29" name="Text 26"/>
          <p:cNvSpPr/>
          <p:nvPr/>
        </p:nvSpPr>
        <p:spPr>
          <a:xfrm>
            <a:off x="6191250" y="3324225"/>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Es precondición bloqueante de RF-CUR-08b</a:t>
            </a:r>
            <a:endParaRPr lang="en-US" sz="748" dirty="0"/>
          </a:p>
        </p:txBody>
      </p:sp>
      <p:sp>
        <p:nvSpPr>
          <p:cNvPr id="30" name="Text 27"/>
          <p:cNvSpPr/>
          <p:nvPr/>
        </p:nvSpPr>
        <p:spPr>
          <a:xfrm>
            <a:off x="666750" y="4071938"/>
            <a:ext cx="7810500" cy="47625"/>
          </a:xfrm>
          <a:prstGeom prst="rect">
            <a:avLst/>
          </a:prstGeom>
          <a:noFill/>
          <a:ln/>
        </p:spPr>
        <p:txBody>
          <a:bodyPr wrap="square" lIns="0" tIns="0" rIns="0" bIns="0" rtlCol="0" anchor="t"/>
          <a:lstStyle/>
          <a:p>
            <a:pPr algn="l" indent="0" marL="0">
              <a:lnSpc>
                <a:spcPts val="1354"/>
              </a:lnSpc>
              <a:buNone/>
            </a:pPr>
            <a:r>
              <a:rPr lang="en-US" sz="962" dirty="0">
                <a:solidFill>
                  <a:srgbClr val="9AA0B4">
                    <a:alpha val="99000"/>
                  </a:srgbClr>
                </a:solidFill>
                <a:latin typeface="Inter" pitchFamily="34" charset="0"/>
                <a:ea typeface="Inter" pitchFamily="34" charset="-122"/>
                <a:cs typeface="Inter" pitchFamily="34" charset="-120"/>
              </a:rPr>
              <a:t>Por eso el gate de habilitación y el chequeo de techo son entregables del sprint 1, aunque no se vean en ninguna pantalla.</a:t>
            </a:r>
            <a:endParaRPr lang="en-US" sz="962" dirty="0"/>
          </a:p>
        </p:txBody>
      </p:sp>
      <p:sp>
        <p:nvSpPr>
          <p:cNvPr id="31" name="Text 28"/>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32" name="Text 29"/>
          <p:cNvSpPr/>
          <p:nvPr/>
        </p:nvSpPr>
        <p:spPr>
          <a:xfrm>
            <a:off x="8286750" y="4705350"/>
            <a:ext cx="123825"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04</a:t>
            </a:r>
            <a:endParaRPr lang="en-US" sz="67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1323975"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ROLES TRANSVERSALES</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Primero el criterio, después los nombres</a:t>
            </a:r>
            <a:endParaRPr lang="en-US" sz="1995" dirty="0"/>
          </a:p>
        </p:txBody>
      </p:sp>
      <p:sp>
        <p:nvSpPr>
          <p:cNvPr id="6" name="Shape 3"/>
          <p:cNvSpPr/>
          <p:nvPr/>
        </p:nvSpPr>
        <p:spPr>
          <a:xfrm>
            <a:off x="666750" y="1276350"/>
            <a:ext cx="7810500" cy="838200"/>
          </a:xfrm>
          <a:prstGeom prst="roundRect">
            <a:avLst>
              <a:gd name="adj" fmla="val 19636"/>
            </a:avLst>
          </a:prstGeom>
          <a:solidFill>
            <a:srgbClr val="1B1D2F"/>
          </a:solidFill>
          <a:ln/>
        </p:spPr>
      </p:sp>
      <p:sp>
        <p:nvSpPr>
          <p:cNvPr id="7" name="Shape 4"/>
          <p:cNvSpPr/>
          <p:nvPr/>
        </p:nvSpPr>
        <p:spPr>
          <a:xfrm>
            <a:off x="666750" y="1276350"/>
            <a:ext cx="23813" cy="838200"/>
          </a:xfrm>
          <a:prstGeom prst="rect">
            <a:avLst/>
          </a:prstGeom>
          <a:solidFill>
            <a:srgbClr val="6B5CE7"/>
          </a:solidFill>
          <a:ln/>
        </p:spPr>
      </p:sp>
      <p:sp>
        <p:nvSpPr>
          <p:cNvPr id="8" name="Text 5"/>
          <p:cNvSpPr/>
          <p:nvPr/>
        </p:nvSpPr>
        <p:spPr>
          <a:xfrm>
            <a:off x="876300" y="1524000"/>
            <a:ext cx="352425" cy="357188"/>
          </a:xfrm>
          <a:prstGeom prst="rect">
            <a:avLst/>
          </a:prstGeom>
          <a:noFill/>
          <a:ln/>
        </p:spPr>
        <p:txBody>
          <a:bodyPr wrap="square" lIns="0" tIns="0" rIns="0" bIns="0" rtlCol="0" anchor="t"/>
          <a:lstStyle/>
          <a:p>
            <a:pPr algn="l" indent="0" marL="0">
              <a:lnSpc>
                <a:spcPts val="2673"/>
              </a:lnSpc>
              <a:buNone/>
            </a:pPr>
            <a:r>
              <a:rPr lang="en-US" sz="2209" b="1" dirty="0">
                <a:solidFill>
                  <a:srgbClr val="4C3F91">
                    <a:alpha val="99000"/>
                  </a:srgbClr>
                </a:solidFill>
                <a:latin typeface="Inter" pitchFamily="34" charset="0"/>
                <a:ea typeface="Inter" pitchFamily="34" charset="-122"/>
                <a:cs typeface="Inter" pitchFamily="34" charset="-120"/>
              </a:rPr>
              <a:t>01</a:t>
            </a:r>
            <a:endParaRPr lang="en-US" sz="2209" dirty="0"/>
          </a:p>
        </p:txBody>
      </p:sp>
      <p:sp>
        <p:nvSpPr>
          <p:cNvPr id="9" name="Text 6"/>
          <p:cNvSpPr/>
          <p:nvPr/>
        </p:nvSpPr>
        <p:spPr>
          <a:xfrm>
            <a:off x="1504950" y="1466850"/>
            <a:ext cx="6667500" cy="47625"/>
          </a:xfrm>
          <a:prstGeom prst="rect">
            <a:avLst/>
          </a:prstGeom>
          <a:noFill/>
          <a:ln/>
        </p:spPr>
        <p:txBody>
          <a:bodyPr wrap="square" lIns="0" tIns="0" rIns="0" bIns="0" rtlCol="0" anchor="t"/>
          <a:lstStyle/>
          <a:p>
            <a:pPr algn="l" indent="0" marL="0">
              <a:lnSpc>
                <a:spcPts val="1496"/>
              </a:lnSpc>
              <a:buNone/>
            </a:pPr>
            <a:r>
              <a:rPr lang="en-US" sz="1176" b="1" dirty="0">
                <a:solidFill>
                  <a:srgbClr val="FFFFFF">
                    <a:alpha val="99000"/>
                  </a:srgbClr>
                </a:solidFill>
                <a:latin typeface="Inter" pitchFamily="34" charset="0"/>
                <a:ea typeface="Inter" pitchFamily="34" charset="-122"/>
                <a:cs typeface="Inter" pitchFamily="34" charset="-120"/>
              </a:rPr>
              <a:t>Un rol transversal no cae en un equipo que ya es cuello de botella.</a:t>
            </a:r>
            <a:endParaRPr lang="en-US" sz="1176" dirty="0"/>
          </a:p>
        </p:txBody>
      </p:sp>
      <p:sp>
        <p:nvSpPr>
          <p:cNvPr id="10" name="Text 7"/>
          <p:cNvSpPr/>
          <p:nvPr/>
        </p:nvSpPr>
        <p:spPr>
          <a:xfrm>
            <a:off x="1504950" y="1719263"/>
            <a:ext cx="6667500" cy="47625"/>
          </a:xfrm>
          <a:prstGeom prst="rect">
            <a:avLst/>
          </a:prstGeom>
          <a:noFill/>
          <a:ln/>
        </p:spPr>
        <p:txBody>
          <a:bodyPr wrap="square" lIns="0" tIns="0" rIns="0" bIns="0" rtlCol="0" anchor="t"/>
          <a:lstStyle/>
          <a:p>
            <a:pPr algn="l" indent="0" marL="0">
              <a:lnSpc>
                <a:spcPts val="1211"/>
              </a:lnSpc>
              <a:buNone/>
            </a:pPr>
            <a:r>
              <a:rPr lang="en-US" sz="819" dirty="0">
                <a:solidFill>
                  <a:srgbClr val="9AA0B4">
                    <a:alpha val="99000"/>
                  </a:srgbClr>
                </a:solidFill>
                <a:latin typeface="Inter" pitchFamily="34" charset="0"/>
                <a:ea typeface="Inter" pitchFamily="34" charset="-122"/>
                <a:cs typeface="Inter" pitchFamily="34" charset="-120"/>
              </a:rPr>
              <a:t>Notificaciones define el contrato de eventos de toda la plataforma y LLM orquesta el núcleo de desafíos: cada uno ya condiciona a cinco equipos. Sumarles un rol de plataforma multiplica el bloqueo.</a:t>
            </a:r>
            <a:endParaRPr lang="en-US" sz="819" dirty="0"/>
          </a:p>
        </p:txBody>
      </p:sp>
      <p:sp>
        <p:nvSpPr>
          <p:cNvPr id="11" name="Shape 8"/>
          <p:cNvSpPr/>
          <p:nvPr/>
        </p:nvSpPr>
        <p:spPr>
          <a:xfrm>
            <a:off x="666750" y="2228850"/>
            <a:ext cx="7810500" cy="838200"/>
          </a:xfrm>
          <a:prstGeom prst="roundRect">
            <a:avLst>
              <a:gd name="adj" fmla="val 19636"/>
            </a:avLst>
          </a:prstGeom>
          <a:solidFill>
            <a:srgbClr val="1B1D2F"/>
          </a:solidFill>
          <a:ln/>
        </p:spPr>
      </p:sp>
      <p:sp>
        <p:nvSpPr>
          <p:cNvPr id="12" name="Shape 9"/>
          <p:cNvSpPr/>
          <p:nvPr/>
        </p:nvSpPr>
        <p:spPr>
          <a:xfrm>
            <a:off x="666750" y="2228850"/>
            <a:ext cx="23813" cy="838200"/>
          </a:xfrm>
          <a:prstGeom prst="rect">
            <a:avLst/>
          </a:prstGeom>
          <a:solidFill>
            <a:srgbClr val="6B5CE7"/>
          </a:solidFill>
          <a:ln/>
        </p:spPr>
      </p:sp>
      <p:sp>
        <p:nvSpPr>
          <p:cNvPr id="13" name="Text 10"/>
          <p:cNvSpPr/>
          <p:nvPr/>
        </p:nvSpPr>
        <p:spPr>
          <a:xfrm>
            <a:off x="876300" y="2476500"/>
            <a:ext cx="390525" cy="357188"/>
          </a:xfrm>
          <a:prstGeom prst="rect">
            <a:avLst/>
          </a:prstGeom>
          <a:noFill/>
          <a:ln/>
        </p:spPr>
        <p:txBody>
          <a:bodyPr wrap="square" lIns="0" tIns="0" rIns="0" bIns="0" rtlCol="0" anchor="t"/>
          <a:lstStyle/>
          <a:p>
            <a:pPr algn="l" indent="0" marL="0">
              <a:lnSpc>
                <a:spcPts val="2673"/>
              </a:lnSpc>
              <a:buNone/>
            </a:pPr>
            <a:r>
              <a:rPr lang="en-US" sz="2209" b="1" dirty="0">
                <a:solidFill>
                  <a:srgbClr val="4C3F91">
                    <a:alpha val="99000"/>
                  </a:srgbClr>
                </a:solidFill>
                <a:latin typeface="Inter" pitchFamily="34" charset="0"/>
                <a:ea typeface="Inter" pitchFamily="34" charset="-122"/>
                <a:cs typeface="Inter" pitchFamily="34" charset="-120"/>
              </a:rPr>
              <a:t>02</a:t>
            </a:r>
            <a:endParaRPr lang="en-US" sz="2209" dirty="0"/>
          </a:p>
        </p:txBody>
      </p:sp>
      <p:sp>
        <p:nvSpPr>
          <p:cNvPr id="14" name="Text 11"/>
          <p:cNvSpPr/>
          <p:nvPr/>
        </p:nvSpPr>
        <p:spPr>
          <a:xfrm>
            <a:off x="1504950" y="2419350"/>
            <a:ext cx="6667500" cy="47625"/>
          </a:xfrm>
          <a:prstGeom prst="rect">
            <a:avLst/>
          </a:prstGeom>
          <a:noFill/>
          <a:ln/>
        </p:spPr>
        <p:txBody>
          <a:bodyPr wrap="square" lIns="0" tIns="0" rIns="0" bIns="0" rtlCol="0" anchor="t"/>
          <a:lstStyle/>
          <a:p>
            <a:pPr algn="l" indent="0" marL="0">
              <a:lnSpc>
                <a:spcPts val="1496"/>
              </a:lnSpc>
              <a:buNone/>
            </a:pPr>
            <a:r>
              <a:rPr lang="en-US" sz="1176" b="1" dirty="0">
                <a:solidFill>
                  <a:srgbClr val="FFFFFF">
                    <a:alpha val="99000"/>
                  </a:srgbClr>
                </a:solidFill>
                <a:latin typeface="Inter" pitchFamily="34" charset="0"/>
                <a:ea typeface="Inter" pitchFamily="34" charset="-122"/>
                <a:cs typeface="Inter" pitchFamily="34" charset="-120"/>
              </a:rPr>
              <a:t>Va donde hay holgura documentada o adyacencia real de dominio.</a:t>
            </a:r>
            <a:endParaRPr lang="en-US" sz="1176" dirty="0"/>
          </a:p>
        </p:txBody>
      </p:sp>
      <p:sp>
        <p:nvSpPr>
          <p:cNvPr id="15" name="Text 12"/>
          <p:cNvSpPr/>
          <p:nvPr/>
        </p:nvSpPr>
        <p:spPr>
          <a:xfrm>
            <a:off x="1504950" y="2657475"/>
            <a:ext cx="6667500" cy="47625"/>
          </a:xfrm>
          <a:prstGeom prst="rect">
            <a:avLst/>
          </a:prstGeom>
          <a:noFill/>
          <a:ln/>
        </p:spPr>
        <p:txBody>
          <a:bodyPr wrap="square" lIns="0" tIns="0" rIns="0" bIns="0" rtlCol="0" anchor="t"/>
          <a:lstStyle/>
          <a:p>
            <a:pPr algn="l" indent="0" marL="0">
              <a:lnSpc>
                <a:spcPts val="1211"/>
              </a:lnSpc>
              <a:buNone/>
            </a:pPr>
            <a:r>
              <a:rPr lang="en-US" sz="819" dirty="0">
                <a:solidFill>
                  <a:srgbClr val="9AA0B4">
                    <a:alpha val="99000"/>
                  </a:srgbClr>
                </a:solidFill>
                <a:latin typeface="Inter" pitchFamily="34" charset="0"/>
                <a:ea typeface="Inter" pitchFamily="34" charset="-122"/>
                <a:cs typeface="Inter" pitchFamily="34" charset="-120"/>
              </a:rPr>
              <a:t>No donde hay ganas. La catedra aclara que Banco es el tema más liviano del reparto, y usuarios ya recibió el API Gateway como extra asignado.</a:t>
            </a:r>
            <a:endParaRPr lang="en-US" sz="819" dirty="0"/>
          </a:p>
        </p:txBody>
      </p:sp>
      <p:sp>
        <p:nvSpPr>
          <p:cNvPr id="16" name="Shape 13"/>
          <p:cNvSpPr/>
          <p:nvPr/>
        </p:nvSpPr>
        <p:spPr>
          <a:xfrm>
            <a:off x="666750" y="3181350"/>
            <a:ext cx="7810500" cy="838200"/>
          </a:xfrm>
          <a:prstGeom prst="roundRect">
            <a:avLst>
              <a:gd name="adj" fmla="val 19636"/>
            </a:avLst>
          </a:prstGeom>
          <a:solidFill>
            <a:srgbClr val="1B1D2F"/>
          </a:solidFill>
          <a:ln/>
        </p:spPr>
      </p:sp>
      <p:sp>
        <p:nvSpPr>
          <p:cNvPr id="17" name="Shape 14"/>
          <p:cNvSpPr/>
          <p:nvPr/>
        </p:nvSpPr>
        <p:spPr>
          <a:xfrm>
            <a:off x="666750" y="3181350"/>
            <a:ext cx="23813" cy="838200"/>
          </a:xfrm>
          <a:prstGeom prst="rect">
            <a:avLst/>
          </a:prstGeom>
          <a:solidFill>
            <a:srgbClr val="6B5CE7"/>
          </a:solidFill>
          <a:ln/>
        </p:spPr>
      </p:sp>
      <p:sp>
        <p:nvSpPr>
          <p:cNvPr id="18" name="Text 15"/>
          <p:cNvSpPr/>
          <p:nvPr/>
        </p:nvSpPr>
        <p:spPr>
          <a:xfrm>
            <a:off x="876300" y="3429000"/>
            <a:ext cx="400050" cy="357188"/>
          </a:xfrm>
          <a:prstGeom prst="rect">
            <a:avLst/>
          </a:prstGeom>
          <a:noFill/>
          <a:ln/>
        </p:spPr>
        <p:txBody>
          <a:bodyPr wrap="square" lIns="0" tIns="0" rIns="0" bIns="0" rtlCol="0" anchor="t"/>
          <a:lstStyle/>
          <a:p>
            <a:pPr algn="l" indent="0" marL="0">
              <a:lnSpc>
                <a:spcPts val="2673"/>
              </a:lnSpc>
              <a:buNone/>
            </a:pPr>
            <a:r>
              <a:rPr lang="en-US" sz="2209" b="1" dirty="0">
                <a:solidFill>
                  <a:srgbClr val="4C3F91">
                    <a:alpha val="99000"/>
                  </a:srgbClr>
                </a:solidFill>
                <a:latin typeface="Inter" pitchFamily="34" charset="0"/>
                <a:ea typeface="Inter" pitchFamily="34" charset="-122"/>
                <a:cs typeface="Inter" pitchFamily="34" charset="-120"/>
              </a:rPr>
              <a:t>03</a:t>
            </a:r>
            <a:endParaRPr lang="en-US" sz="2209" dirty="0"/>
          </a:p>
        </p:txBody>
      </p:sp>
      <p:sp>
        <p:nvSpPr>
          <p:cNvPr id="19" name="Text 16"/>
          <p:cNvSpPr/>
          <p:nvPr/>
        </p:nvSpPr>
        <p:spPr>
          <a:xfrm>
            <a:off x="1504950" y="3371850"/>
            <a:ext cx="6667500" cy="47625"/>
          </a:xfrm>
          <a:prstGeom prst="rect">
            <a:avLst/>
          </a:prstGeom>
          <a:noFill/>
          <a:ln/>
        </p:spPr>
        <p:txBody>
          <a:bodyPr wrap="square" lIns="0" tIns="0" rIns="0" bIns="0" rtlCol="0" anchor="t"/>
          <a:lstStyle/>
          <a:p>
            <a:pPr algn="l" indent="0" marL="0">
              <a:lnSpc>
                <a:spcPts val="1496"/>
              </a:lnSpc>
              <a:buNone/>
            </a:pPr>
            <a:r>
              <a:rPr lang="en-US" sz="1176" b="1" dirty="0">
                <a:solidFill>
                  <a:srgbClr val="FFFFFF">
                    <a:alpha val="99000"/>
                  </a:srgbClr>
                </a:solidFill>
                <a:latin typeface="Inter" pitchFamily="34" charset="0"/>
                <a:ea typeface="Inter" pitchFamily="34" charset="-122"/>
                <a:cs typeface="Inter" pitchFamily="34" charset="-120"/>
              </a:rPr>
              <a:t>El dueño del esqueleto no es dueño del contenido.</a:t>
            </a:r>
            <a:endParaRPr lang="en-US" sz="1176" dirty="0"/>
          </a:p>
        </p:txBody>
      </p:sp>
      <p:sp>
        <p:nvSpPr>
          <p:cNvPr id="20" name="Text 17"/>
          <p:cNvSpPr/>
          <p:nvPr/>
        </p:nvSpPr>
        <p:spPr>
          <a:xfrm>
            <a:off x="1504950" y="3609975"/>
            <a:ext cx="6667500" cy="47625"/>
          </a:xfrm>
          <a:prstGeom prst="rect">
            <a:avLst/>
          </a:prstGeom>
          <a:noFill/>
          <a:ln/>
        </p:spPr>
        <p:txBody>
          <a:bodyPr wrap="square" lIns="0" tIns="0" rIns="0" bIns="0" rtlCol="0" anchor="t"/>
          <a:lstStyle/>
          <a:p>
            <a:pPr algn="l" indent="0" marL="0">
              <a:lnSpc>
                <a:spcPts val="1211"/>
              </a:lnSpc>
              <a:buNone/>
            </a:pPr>
            <a:r>
              <a:rPr lang="en-US" sz="819" dirty="0">
                <a:solidFill>
                  <a:srgbClr val="9AA0B4">
                    <a:alpha val="99000"/>
                  </a:srgbClr>
                </a:solidFill>
                <a:latin typeface="Inter" pitchFamily="34" charset="0"/>
                <a:ea typeface="Inter" pitchFamily="34" charset="-122"/>
                <a:cs typeface="Inter" pitchFamily="34" charset="-120"/>
              </a:rPr>
              <a:t>Quien mantiene la librería o el BFF mantiene el pipeline, las convenciones y el proceso de aceptación. No escribe los componentes ni los resolvers de los doce dominios.</a:t>
            </a:r>
            <a:endParaRPr lang="en-US" sz="819" dirty="0"/>
          </a:p>
        </p:txBody>
      </p:sp>
      <p:sp>
        <p:nvSpPr>
          <p:cNvPr id="21" name="Text 18"/>
          <p:cNvSpPr/>
          <p:nvPr/>
        </p:nvSpPr>
        <p:spPr>
          <a:xfrm>
            <a:off x="666750" y="4262438"/>
            <a:ext cx="7810500" cy="47625"/>
          </a:xfrm>
          <a:prstGeom prst="rect">
            <a:avLst/>
          </a:prstGeom>
          <a:noFill/>
          <a:ln/>
        </p:spPr>
        <p:txBody>
          <a:bodyPr wrap="square" lIns="0" tIns="0" rIns="0" bIns="0" rtlCol="0" anchor="t"/>
          <a:lstStyle/>
          <a:p>
            <a:pPr algn="l" indent="0" marL="0">
              <a:lnSpc>
                <a:spcPts val="1283"/>
              </a:lnSpc>
              <a:buNone/>
            </a:pPr>
            <a:r>
              <a:rPr lang="en-US" sz="926" dirty="0">
                <a:solidFill>
                  <a:srgbClr val="4CD4D8">
                    <a:alpha val="99000"/>
                  </a:srgbClr>
                </a:solidFill>
                <a:latin typeface="Inter" pitchFamily="34" charset="0"/>
                <a:ea typeface="Inter" pitchFamily="34" charset="-122"/>
                <a:cs typeface="Inter" pitchFamily="34" charset="-120"/>
              </a:rPr>
              <a:t>Si el curso acepta estas tres reglas, el reparto se resuelve casi solo y deja de ser una negociación de preferencias.</a:t>
            </a:r>
            <a:endParaRPr lang="en-US" sz="926" dirty="0"/>
          </a:p>
        </p:txBody>
      </p:sp>
      <p:sp>
        <p:nvSpPr>
          <p:cNvPr id="22" name="Text 19"/>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23" name="Text 20"/>
          <p:cNvSpPr/>
          <p:nvPr/>
        </p:nvSpPr>
        <p:spPr>
          <a:xfrm>
            <a:off x="8286750" y="4705350"/>
            <a:ext cx="119063"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05</a:t>
            </a:r>
            <a:endParaRPr lang="en-US" sz="67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1081088"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NUESTRA POSTURA</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Qué tomamos de los tres roles, y qué no</a:t>
            </a:r>
            <a:endParaRPr lang="en-US" sz="1995" dirty="0"/>
          </a:p>
        </p:txBody>
      </p:sp>
      <p:sp>
        <p:nvSpPr>
          <p:cNvPr id="6" name="Shape 3"/>
          <p:cNvSpPr/>
          <p:nvPr/>
        </p:nvSpPr>
        <p:spPr>
          <a:xfrm>
            <a:off x="3333750" y="1247775"/>
            <a:ext cx="2476500" cy="2800350"/>
          </a:xfrm>
          <a:prstGeom prst="roundRect">
            <a:avLst>
              <a:gd name="adj" fmla="val 7385"/>
            </a:avLst>
          </a:prstGeom>
          <a:solidFill>
            <a:srgbClr val="1B1D2F"/>
          </a:solidFill>
          <a:ln/>
        </p:spPr>
      </p:sp>
      <p:sp>
        <p:nvSpPr>
          <p:cNvPr id="7" name="Shape 4"/>
          <p:cNvSpPr/>
          <p:nvPr/>
        </p:nvSpPr>
        <p:spPr>
          <a:xfrm>
            <a:off x="3333750" y="1247775"/>
            <a:ext cx="2476500" cy="28575"/>
          </a:xfrm>
          <a:prstGeom prst="rect">
            <a:avLst/>
          </a:prstGeom>
          <a:solidFill>
            <a:srgbClr val="F2545B"/>
          </a:solidFill>
          <a:ln/>
        </p:spPr>
      </p:sp>
      <p:sp>
        <p:nvSpPr>
          <p:cNvPr id="8" name="Text 5"/>
          <p:cNvSpPr/>
          <p:nvPr/>
        </p:nvSpPr>
        <p:spPr>
          <a:xfrm>
            <a:off x="3524250" y="1457325"/>
            <a:ext cx="2095500" cy="47625"/>
          </a:xfrm>
          <a:prstGeom prst="rect">
            <a:avLst/>
          </a:prstGeom>
          <a:noFill/>
          <a:ln/>
        </p:spPr>
        <p:txBody>
          <a:bodyPr wrap="square" lIns="0" tIns="0" rIns="0" bIns="0" rtlCol="0" anchor="t"/>
          <a:lstStyle/>
          <a:p>
            <a:pPr algn="l" indent="0" marL="0">
              <a:lnSpc>
                <a:spcPts val="1496"/>
              </a:lnSpc>
              <a:buNone/>
            </a:pPr>
            <a:r>
              <a:rPr lang="en-US" sz="1211" b="1" dirty="0">
                <a:solidFill>
                  <a:srgbClr val="FFFFFF">
                    <a:alpha val="99000"/>
                  </a:srgbClr>
                </a:solidFill>
                <a:latin typeface="Inter" pitchFamily="34" charset="0"/>
                <a:ea typeface="Inter" pitchFamily="34" charset="-122"/>
                <a:cs typeface="Inter" pitchFamily="34" charset="-120"/>
              </a:rPr>
              <a:t>Marketplace de skills</a:t>
            </a:r>
            <a:endParaRPr lang="en-US" sz="1211" dirty="0"/>
          </a:p>
        </p:txBody>
      </p:sp>
      <p:sp>
        <p:nvSpPr>
          <p:cNvPr id="9" name="Shape 6"/>
          <p:cNvSpPr/>
          <p:nvPr/>
        </p:nvSpPr>
        <p:spPr>
          <a:xfrm>
            <a:off x="3524250" y="1800225"/>
            <a:ext cx="1042988" cy="209550"/>
          </a:xfrm>
          <a:prstGeom prst="roundRect">
            <a:avLst>
              <a:gd name="adj" fmla="val 96000"/>
            </a:avLst>
          </a:prstGeom>
          <a:solidFill>
            <a:srgbClr val="3C181B"/>
          </a:solidFill>
          <a:ln/>
        </p:spPr>
      </p:sp>
      <p:sp>
        <p:nvSpPr>
          <p:cNvPr id="10" name="Text 7"/>
          <p:cNvSpPr/>
          <p:nvPr/>
        </p:nvSpPr>
        <p:spPr>
          <a:xfrm>
            <a:off x="3524250" y="1847136"/>
            <a:ext cx="1042988" cy="47625"/>
          </a:xfrm>
          <a:prstGeom prst="rect">
            <a:avLst/>
          </a:prstGeom>
          <a:noFill/>
          <a:ln/>
        </p:spPr>
        <p:txBody>
          <a:bodyPr wrap="square" lIns="0" tIns="0" rIns="0" bIns="0" rtlCol="0" anchor="t"/>
          <a:lstStyle/>
          <a:p>
            <a:pPr algn="ctr" indent="0" marL="0">
              <a:lnSpc>
                <a:spcPts val="776"/>
              </a:lnSpc>
              <a:buNone/>
            </a:pPr>
            <a:r>
              <a:rPr lang="en-US" sz="641" b="1" dirty="0">
                <a:solidFill>
                  <a:srgbClr val="F2545B">
                    <a:alpha val="99000"/>
                  </a:srgbClr>
                </a:solidFill>
                <a:latin typeface="Inter" pitchFamily="34" charset="0"/>
                <a:ea typeface="Inter" pitchFamily="34" charset="-122"/>
                <a:cs typeface="Inter" pitchFamily="34" charset="-120"/>
              </a:rPr>
              <a:t>NO LO TOMAMOS</a:t>
            </a:r>
            <a:endParaRPr lang="en-US" sz="641" dirty="0"/>
          </a:p>
        </p:txBody>
      </p:sp>
      <p:sp>
        <p:nvSpPr>
          <p:cNvPr id="11" name="Text 8"/>
          <p:cNvSpPr/>
          <p:nvPr/>
        </p:nvSpPr>
        <p:spPr>
          <a:xfrm>
            <a:off x="3524250" y="2181225"/>
            <a:ext cx="395288" cy="100013"/>
          </a:xfrm>
          <a:prstGeom prst="rect">
            <a:avLst/>
          </a:prstGeom>
          <a:noFill/>
          <a:ln/>
        </p:spPr>
        <p:txBody>
          <a:bodyPr wrap="square" lIns="0" tIns="0" rIns="0" bIns="0" rtlCol="0" anchor="t"/>
          <a:lstStyle/>
          <a:p>
            <a:pPr algn="l" indent="0" marL="0">
              <a:lnSpc>
                <a:spcPts val="733"/>
              </a:lnSpc>
              <a:buNone/>
            </a:pPr>
            <a:r>
              <a:rPr lang="en-US" sz="606" b="1" dirty="0">
                <a:solidFill>
                  <a:srgbClr val="9AA0B4">
                    <a:alpha val="99000"/>
                  </a:srgbClr>
                </a:solidFill>
                <a:latin typeface="Inter" pitchFamily="34" charset="0"/>
                <a:ea typeface="Inter" pitchFamily="34" charset="-122"/>
                <a:cs typeface="Inter" pitchFamily="34" charset="-120"/>
              </a:rPr>
              <a:t>POSICIÓN</a:t>
            </a:r>
            <a:endParaRPr lang="en-US" sz="606" dirty="0"/>
          </a:p>
        </p:txBody>
      </p:sp>
      <p:sp>
        <p:nvSpPr>
          <p:cNvPr id="12" name="Text 9"/>
          <p:cNvSpPr/>
          <p:nvPr/>
        </p:nvSpPr>
        <p:spPr>
          <a:xfrm>
            <a:off x="3524250" y="2314575"/>
            <a:ext cx="2095500" cy="47625"/>
          </a:xfrm>
          <a:prstGeom prst="rect">
            <a:avLst/>
          </a:prstGeom>
          <a:noFill/>
          <a:ln/>
        </p:spPr>
        <p:txBody>
          <a:bodyPr wrap="square" lIns="0" tIns="0" rIns="0" bIns="0" rtlCol="0" anchor="t"/>
          <a:lstStyle/>
          <a:p>
            <a:pPr algn="l" indent="0" marL="0">
              <a:lnSpc>
                <a:spcPts val="1069"/>
              </a:lnSpc>
              <a:buNone/>
            </a:pPr>
            <a:r>
              <a:rPr lang="en-US" sz="784" dirty="0">
                <a:solidFill>
                  <a:srgbClr val="FFFFFF">
                    <a:alpha val="99000"/>
                  </a:srgbClr>
                </a:solidFill>
                <a:latin typeface="Inter" pitchFamily="34" charset="0"/>
                <a:ea typeface="Inter" pitchFamily="34" charset="-122"/>
                <a:cs typeface="Inter" pitchFamily="34" charset="-120"/>
              </a:rPr>
              <a:t>Definir primero: ¿es producto o es tooling de los doce equipos?</a:t>
            </a:r>
            <a:endParaRPr lang="en-US" sz="784" dirty="0"/>
          </a:p>
        </p:txBody>
      </p:sp>
      <p:sp>
        <p:nvSpPr>
          <p:cNvPr id="13" name="Shape 10"/>
          <p:cNvSpPr/>
          <p:nvPr/>
        </p:nvSpPr>
        <p:spPr>
          <a:xfrm>
            <a:off x="3524250" y="2771775"/>
            <a:ext cx="266700" cy="14288"/>
          </a:xfrm>
          <a:prstGeom prst="rect">
            <a:avLst/>
          </a:prstGeom>
          <a:solidFill>
            <a:srgbClr val="9AA0B4"/>
          </a:solidFill>
          <a:ln/>
        </p:spPr>
      </p:sp>
      <p:sp>
        <p:nvSpPr>
          <p:cNvPr id="14" name="Text 11"/>
          <p:cNvSpPr/>
          <p:nvPr/>
        </p:nvSpPr>
        <p:spPr>
          <a:xfrm>
            <a:off x="3524250" y="2905125"/>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Si es producto, RF-IA-35 y RF-IA-24 ya asignan el gobierno al ADMIN: el Tema 12 (Backoffice) administra y el Tema 07 (LLM) define el contrato de capacidades.</a:t>
            </a:r>
            <a:endParaRPr lang="en-US" sz="748" dirty="0"/>
          </a:p>
        </p:txBody>
      </p:sp>
      <p:sp>
        <p:nvSpPr>
          <p:cNvPr id="15" name="Text 12"/>
          <p:cNvSpPr/>
          <p:nvPr/>
        </p:nvSpPr>
        <p:spPr>
          <a:xfrm>
            <a:off x="3524250" y="3486150"/>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Sin adyacencia de dominio: no invocamos modelos ni administramos configuración global.</a:t>
            </a:r>
            <a:endParaRPr lang="en-US" sz="748" dirty="0"/>
          </a:p>
        </p:txBody>
      </p:sp>
      <p:sp>
        <p:nvSpPr>
          <p:cNvPr id="16" name="Text 13"/>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17" name="Text 14"/>
          <p:cNvSpPr/>
          <p:nvPr/>
        </p:nvSpPr>
        <p:spPr>
          <a:xfrm>
            <a:off x="8286750" y="4705350"/>
            <a:ext cx="119063"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06</a:t>
            </a:r>
            <a:endParaRPr lang="en-US" sz="677" dirty="0"/>
          </a:p>
        </p:txBody>
      </p:sp>
      <p:sp>
        <p:nvSpPr>
          <p:cNvPr id="18" name="Shape 15"/>
          <p:cNvSpPr/>
          <p:nvPr/>
        </p:nvSpPr>
        <p:spPr>
          <a:xfrm>
            <a:off x="666750" y="1247775"/>
            <a:ext cx="2476500" cy="2800350"/>
          </a:xfrm>
          <a:prstGeom prst="roundRect">
            <a:avLst>
              <a:gd name="adj" fmla="val 7385"/>
            </a:avLst>
          </a:prstGeom>
          <a:solidFill>
            <a:srgbClr val="1B1D2F"/>
          </a:solidFill>
          <a:ln/>
        </p:spPr>
      </p:sp>
      <p:sp>
        <p:nvSpPr>
          <p:cNvPr id="19" name="Shape 16"/>
          <p:cNvSpPr/>
          <p:nvPr/>
        </p:nvSpPr>
        <p:spPr>
          <a:xfrm>
            <a:off x="666750" y="1247775"/>
            <a:ext cx="2476500" cy="28575"/>
          </a:xfrm>
          <a:prstGeom prst="rect">
            <a:avLst/>
          </a:prstGeom>
          <a:solidFill>
            <a:srgbClr val="4ADE80"/>
          </a:solidFill>
          <a:ln/>
        </p:spPr>
      </p:sp>
      <p:sp>
        <p:nvSpPr>
          <p:cNvPr id="20" name="Text 17"/>
          <p:cNvSpPr/>
          <p:nvPr/>
        </p:nvSpPr>
        <p:spPr>
          <a:xfrm>
            <a:off x="857250" y="1457325"/>
            <a:ext cx="2095500" cy="47625"/>
          </a:xfrm>
          <a:prstGeom prst="rect">
            <a:avLst/>
          </a:prstGeom>
          <a:noFill/>
          <a:ln/>
        </p:spPr>
        <p:txBody>
          <a:bodyPr wrap="square" lIns="0" tIns="0" rIns="0" bIns="0" rtlCol="0" anchor="t"/>
          <a:lstStyle/>
          <a:p>
            <a:pPr algn="l" indent="0" marL="0">
              <a:lnSpc>
                <a:spcPts val="1496"/>
              </a:lnSpc>
              <a:buNone/>
            </a:pPr>
            <a:r>
              <a:rPr lang="en-US" sz="1211" b="1" dirty="0">
                <a:solidFill>
                  <a:srgbClr val="FFFFFF">
                    <a:alpha val="99000"/>
                  </a:srgbClr>
                </a:solidFill>
                <a:latin typeface="Inter" pitchFamily="34" charset="0"/>
                <a:ea typeface="Inter" pitchFamily="34" charset="-122"/>
                <a:cs typeface="Inter" pitchFamily="34" charset="-120"/>
              </a:rPr>
              <a:t>Librería compartida</a:t>
            </a:r>
            <a:endParaRPr lang="en-US" sz="1211" dirty="0"/>
          </a:p>
        </p:txBody>
      </p:sp>
      <p:sp>
        <p:nvSpPr>
          <p:cNvPr id="21" name="Shape 18"/>
          <p:cNvSpPr/>
          <p:nvPr/>
        </p:nvSpPr>
        <p:spPr>
          <a:xfrm>
            <a:off x="857250" y="1800225"/>
            <a:ext cx="795338" cy="209550"/>
          </a:xfrm>
          <a:prstGeom prst="roundRect">
            <a:avLst>
              <a:gd name="adj" fmla="val 96000"/>
            </a:avLst>
          </a:prstGeom>
          <a:solidFill>
            <a:srgbClr val="10321E"/>
          </a:solidFill>
          <a:ln/>
        </p:spPr>
      </p:sp>
      <p:sp>
        <p:nvSpPr>
          <p:cNvPr id="22" name="Text 19"/>
          <p:cNvSpPr/>
          <p:nvPr/>
        </p:nvSpPr>
        <p:spPr>
          <a:xfrm>
            <a:off x="857250" y="1847136"/>
            <a:ext cx="795338" cy="47625"/>
          </a:xfrm>
          <a:prstGeom prst="rect">
            <a:avLst/>
          </a:prstGeom>
          <a:noFill/>
          <a:ln/>
        </p:spPr>
        <p:txBody>
          <a:bodyPr wrap="square" lIns="0" tIns="0" rIns="0" bIns="0" rtlCol="0" anchor="t"/>
          <a:lstStyle/>
          <a:p>
            <a:pPr algn="ctr" indent="0" marL="0">
              <a:lnSpc>
                <a:spcPts val="776"/>
              </a:lnSpc>
              <a:buNone/>
            </a:pPr>
            <a:r>
              <a:rPr lang="en-US" sz="641" b="1" dirty="0">
                <a:solidFill>
                  <a:srgbClr val="4ADE80">
                    <a:alpha val="99000"/>
                  </a:srgbClr>
                </a:solidFill>
                <a:latin typeface="Inter" pitchFamily="34" charset="0"/>
                <a:ea typeface="Inter" pitchFamily="34" charset="-122"/>
                <a:cs typeface="Inter" pitchFamily="34" charset="-120"/>
              </a:rPr>
              <a:t>CO-DUEÑOS</a:t>
            </a:r>
            <a:endParaRPr lang="en-US" sz="641" dirty="0"/>
          </a:p>
        </p:txBody>
      </p:sp>
      <p:sp>
        <p:nvSpPr>
          <p:cNvPr id="23" name="Text 20"/>
          <p:cNvSpPr/>
          <p:nvPr/>
        </p:nvSpPr>
        <p:spPr>
          <a:xfrm>
            <a:off x="857250" y="2181225"/>
            <a:ext cx="395288" cy="100013"/>
          </a:xfrm>
          <a:prstGeom prst="rect">
            <a:avLst/>
          </a:prstGeom>
          <a:noFill/>
          <a:ln/>
        </p:spPr>
        <p:txBody>
          <a:bodyPr wrap="square" lIns="0" tIns="0" rIns="0" bIns="0" rtlCol="0" anchor="t"/>
          <a:lstStyle/>
          <a:p>
            <a:pPr algn="l" indent="0" marL="0">
              <a:lnSpc>
                <a:spcPts val="733"/>
              </a:lnSpc>
              <a:buNone/>
            </a:pPr>
            <a:r>
              <a:rPr lang="en-US" sz="606" b="1" dirty="0">
                <a:solidFill>
                  <a:srgbClr val="9AA0B4">
                    <a:alpha val="99000"/>
                  </a:srgbClr>
                </a:solidFill>
                <a:latin typeface="Inter" pitchFamily="34" charset="0"/>
                <a:ea typeface="Inter" pitchFamily="34" charset="-122"/>
                <a:cs typeface="Inter" pitchFamily="34" charset="-120"/>
              </a:rPr>
              <a:t>POSICIÓN</a:t>
            </a:r>
            <a:endParaRPr lang="en-US" sz="606" dirty="0"/>
          </a:p>
        </p:txBody>
      </p:sp>
      <p:sp>
        <p:nvSpPr>
          <p:cNvPr id="24" name="Text 21"/>
          <p:cNvSpPr/>
          <p:nvPr/>
        </p:nvSpPr>
        <p:spPr>
          <a:xfrm>
            <a:off x="857250" y="2314575"/>
            <a:ext cx="2095500" cy="47625"/>
          </a:xfrm>
          <a:prstGeom prst="rect">
            <a:avLst/>
          </a:prstGeom>
          <a:noFill/>
          <a:ln/>
        </p:spPr>
        <p:txBody>
          <a:bodyPr wrap="square" lIns="0" tIns="0" rIns="0" bIns="0" rtlCol="0" anchor="t"/>
          <a:lstStyle/>
          <a:p>
            <a:pPr algn="l" indent="0" marL="0">
              <a:lnSpc>
                <a:spcPts val="1069"/>
              </a:lnSpc>
              <a:buNone/>
            </a:pPr>
            <a:r>
              <a:rPr lang="en-US" sz="784" dirty="0">
                <a:solidFill>
                  <a:srgbClr val="FFFFFF">
                    <a:alpha val="99000"/>
                  </a:srgbClr>
                </a:solidFill>
                <a:latin typeface="Inter" pitchFamily="34" charset="0"/>
                <a:ea typeface="Inter" pitchFamily="34" charset="-122"/>
                <a:cs typeface="Inter" pitchFamily="34" charset="-120"/>
              </a:rPr>
              <a:t>Co-propiedad con el Grupo 2 (Notificaciones y Chat)</a:t>
            </a:r>
            <a:endParaRPr lang="en-US" sz="784" dirty="0"/>
          </a:p>
        </p:txBody>
      </p:sp>
      <p:sp>
        <p:nvSpPr>
          <p:cNvPr id="25" name="Shape 22"/>
          <p:cNvSpPr/>
          <p:nvPr/>
        </p:nvSpPr>
        <p:spPr>
          <a:xfrm>
            <a:off x="857250" y="2771775"/>
            <a:ext cx="266700" cy="14288"/>
          </a:xfrm>
          <a:prstGeom prst="rect">
            <a:avLst/>
          </a:prstGeom>
          <a:solidFill>
            <a:srgbClr val="9AA0B4"/>
          </a:solidFill>
          <a:ln/>
        </p:spPr>
      </p:sp>
      <p:sp>
        <p:nvSpPr>
          <p:cNvPr id="26" name="Text 23"/>
          <p:cNvSpPr/>
          <p:nvPr/>
        </p:nvSpPr>
        <p:spPr>
          <a:xfrm>
            <a:off x="857250" y="2905125"/>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Somos el eje visual del sistema: el editor de roadmaps, el mapa del alumno, la tabla de ranking y el HUD de progreso.</a:t>
            </a:r>
            <a:endParaRPr lang="en-US" sz="748" dirty="0"/>
          </a:p>
        </p:txBody>
      </p:sp>
      <p:sp>
        <p:nvSpPr>
          <p:cNvPr id="27" name="Text 24"/>
          <p:cNvSpPr/>
          <p:nvPr/>
        </p:nvSpPr>
        <p:spPr>
          <a:xfrm>
            <a:off x="857250" y="3486150"/>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De ahí salen los componentes transversales. Y RF-NFR-06 nos pone en móvil: definimos también el responsive.</a:t>
            </a:r>
            <a:endParaRPr lang="en-US" sz="748" dirty="0"/>
          </a:p>
        </p:txBody>
      </p:sp>
      <p:sp>
        <p:nvSpPr>
          <p:cNvPr id="28" name="Shape 25"/>
          <p:cNvSpPr/>
          <p:nvPr/>
        </p:nvSpPr>
        <p:spPr>
          <a:xfrm>
            <a:off x="6000750" y="1247775"/>
            <a:ext cx="2476500" cy="2800350"/>
          </a:xfrm>
          <a:prstGeom prst="roundRect">
            <a:avLst>
              <a:gd name="adj" fmla="val 7385"/>
            </a:avLst>
          </a:prstGeom>
          <a:solidFill>
            <a:srgbClr val="1B1D2F"/>
          </a:solidFill>
          <a:ln/>
        </p:spPr>
      </p:sp>
      <p:sp>
        <p:nvSpPr>
          <p:cNvPr id="29" name="Shape 26"/>
          <p:cNvSpPr/>
          <p:nvPr/>
        </p:nvSpPr>
        <p:spPr>
          <a:xfrm>
            <a:off x="6000750" y="1247775"/>
            <a:ext cx="2476500" cy="28575"/>
          </a:xfrm>
          <a:prstGeom prst="rect">
            <a:avLst/>
          </a:prstGeom>
          <a:solidFill>
            <a:srgbClr val="F2545B"/>
          </a:solidFill>
          <a:ln/>
        </p:spPr>
      </p:sp>
      <p:sp>
        <p:nvSpPr>
          <p:cNvPr id="30" name="Text 27"/>
          <p:cNvSpPr/>
          <p:nvPr/>
        </p:nvSpPr>
        <p:spPr>
          <a:xfrm>
            <a:off x="6191250" y="1457325"/>
            <a:ext cx="2095500" cy="47625"/>
          </a:xfrm>
          <a:prstGeom prst="rect">
            <a:avLst/>
          </a:prstGeom>
          <a:noFill/>
          <a:ln/>
        </p:spPr>
        <p:txBody>
          <a:bodyPr wrap="square" lIns="0" tIns="0" rIns="0" bIns="0" rtlCol="0" anchor="t"/>
          <a:lstStyle/>
          <a:p>
            <a:pPr algn="l" indent="0" marL="0">
              <a:lnSpc>
                <a:spcPts val="1496"/>
              </a:lnSpc>
              <a:buNone/>
            </a:pPr>
            <a:r>
              <a:rPr lang="en-US" sz="1211" b="1" dirty="0">
                <a:solidFill>
                  <a:srgbClr val="FFFFFF">
                    <a:alpha val="99000"/>
                  </a:srgbClr>
                </a:solidFill>
                <a:latin typeface="Inter" pitchFamily="34" charset="0"/>
                <a:ea typeface="Inter" pitchFamily="34" charset="-122"/>
                <a:cs typeface="Inter" pitchFamily="34" charset="-120"/>
              </a:rPr>
              <a:t>BFF</a:t>
            </a:r>
            <a:endParaRPr lang="en-US" sz="1211" dirty="0"/>
          </a:p>
        </p:txBody>
      </p:sp>
      <p:sp>
        <p:nvSpPr>
          <p:cNvPr id="31" name="Shape 28"/>
          <p:cNvSpPr/>
          <p:nvPr/>
        </p:nvSpPr>
        <p:spPr>
          <a:xfrm>
            <a:off x="6191250" y="1800225"/>
            <a:ext cx="1042988" cy="209550"/>
          </a:xfrm>
          <a:prstGeom prst="roundRect">
            <a:avLst>
              <a:gd name="adj" fmla="val 96000"/>
            </a:avLst>
          </a:prstGeom>
          <a:solidFill>
            <a:srgbClr val="3C181B"/>
          </a:solidFill>
          <a:ln/>
        </p:spPr>
      </p:sp>
      <p:sp>
        <p:nvSpPr>
          <p:cNvPr id="32" name="Text 29"/>
          <p:cNvSpPr/>
          <p:nvPr/>
        </p:nvSpPr>
        <p:spPr>
          <a:xfrm>
            <a:off x="6191250" y="1847136"/>
            <a:ext cx="1042988" cy="47625"/>
          </a:xfrm>
          <a:prstGeom prst="rect">
            <a:avLst/>
          </a:prstGeom>
          <a:noFill/>
          <a:ln/>
        </p:spPr>
        <p:txBody>
          <a:bodyPr wrap="square" lIns="0" tIns="0" rIns="0" bIns="0" rtlCol="0" anchor="t"/>
          <a:lstStyle/>
          <a:p>
            <a:pPr algn="ctr" indent="0" marL="0">
              <a:lnSpc>
                <a:spcPts val="776"/>
              </a:lnSpc>
              <a:buNone/>
            </a:pPr>
            <a:r>
              <a:rPr lang="en-US" sz="641" b="1" dirty="0">
                <a:solidFill>
                  <a:srgbClr val="F2545B">
                    <a:alpha val="99000"/>
                  </a:srgbClr>
                </a:solidFill>
                <a:latin typeface="Inter" pitchFamily="34" charset="0"/>
                <a:ea typeface="Inter" pitchFamily="34" charset="-122"/>
                <a:cs typeface="Inter" pitchFamily="34" charset="-120"/>
              </a:rPr>
              <a:t>NO LO TOMAMOS</a:t>
            </a:r>
            <a:endParaRPr lang="en-US" sz="641" dirty="0"/>
          </a:p>
        </p:txBody>
      </p:sp>
      <p:sp>
        <p:nvSpPr>
          <p:cNvPr id="33" name="Text 30"/>
          <p:cNvSpPr/>
          <p:nvPr/>
        </p:nvSpPr>
        <p:spPr>
          <a:xfrm>
            <a:off x="6191250" y="2181225"/>
            <a:ext cx="395288" cy="100013"/>
          </a:xfrm>
          <a:prstGeom prst="rect">
            <a:avLst/>
          </a:prstGeom>
          <a:noFill/>
          <a:ln/>
        </p:spPr>
        <p:txBody>
          <a:bodyPr wrap="square" lIns="0" tIns="0" rIns="0" bIns="0" rtlCol="0" anchor="t"/>
          <a:lstStyle/>
          <a:p>
            <a:pPr algn="l" indent="0" marL="0">
              <a:lnSpc>
                <a:spcPts val="733"/>
              </a:lnSpc>
              <a:buNone/>
            </a:pPr>
            <a:r>
              <a:rPr lang="en-US" sz="606" b="1" dirty="0">
                <a:solidFill>
                  <a:srgbClr val="9AA0B4">
                    <a:alpha val="99000"/>
                  </a:srgbClr>
                </a:solidFill>
                <a:latin typeface="Inter" pitchFamily="34" charset="0"/>
                <a:ea typeface="Inter" pitchFamily="34" charset="-122"/>
                <a:cs typeface="Inter" pitchFamily="34" charset="-120"/>
              </a:rPr>
              <a:t>POSICIÓN</a:t>
            </a:r>
            <a:endParaRPr lang="en-US" sz="606" dirty="0"/>
          </a:p>
        </p:txBody>
      </p:sp>
      <p:sp>
        <p:nvSpPr>
          <p:cNvPr id="34" name="Text 31"/>
          <p:cNvSpPr/>
          <p:nvPr/>
        </p:nvSpPr>
        <p:spPr>
          <a:xfrm>
            <a:off x="6191250" y="2314575"/>
            <a:ext cx="2095500" cy="47625"/>
          </a:xfrm>
          <a:prstGeom prst="rect">
            <a:avLst/>
          </a:prstGeom>
          <a:noFill/>
          <a:ln/>
        </p:spPr>
        <p:txBody>
          <a:bodyPr wrap="square" lIns="0" tIns="0" rIns="0" bIns="0" rtlCol="0" anchor="t"/>
          <a:lstStyle/>
          <a:p>
            <a:pPr algn="l" indent="0" marL="0">
              <a:lnSpc>
                <a:spcPts val="1069"/>
              </a:lnSpc>
              <a:buNone/>
            </a:pPr>
            <a:r>
              <a:rPr lang="en-US" sz="784" dirty="0">
                <a:solidFill>
                  <a:srgbClr val="FFFFFF">
                    <a:alpha val="99000"/>
                  </a:srgbClr>
                </a:solidFill>
                <a:latin typeface="Inter" pitchFamily="34" charset="0"/>
                <a:ea typeface="Inter" pitchFamily="34" charset="-122"/>
                <a:cs typeface="Inter" pitchFamily="34" charset="-120"/>
              </a:rPr>
              <a:t>Somos consumidores, no constructores</a:t>
            </a:r>
            <a:endParaRPr lang="en-US" sz="784" dirty="0"/>
          </a:p>
        </p:txBody>
      </p:sp>
      <p:sp>
        <p:nvSpPr>
          <p:cNvPr id="35" name="Shape 32"/>
          <p:cNvSpPr/>
          <p:nvPr/>
        </p:nvSpPr>
        <p:spPr>
          <a:xfrm>
            <a:off x="6191250" y="2771775"/>
            <a:ext cx="266700" cy="14288"/>
          </a:xfrm>
          <a:prstGeom prst="rect">
            <a:avLst/>
          </a:prstGeom>
          <a:solidFill>
            <a:srgbClr val="9AA0B4"/>
          </a:solidFill>
          <a:ln/>
        </p:spPr>
      </p:sp>
      <p:sp>
        <p:nvSpPr>
          <p:cNvPr id="36" name="Text 33"/>
          <p:cNvSpPr/>
          <p:nvPr/>
        </p:nvSpPr>
        <p:spPr>
          <a:xfrm>
            <a:off x="6191250" y="2905125"/>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El modelo que sí defendemos es por experiencia: RF-NFR-06 ya define dos experiencias con funcionalidad distinta.</a:t>
            </a:r>
            <a:endParaRPr lang="en-US" sz="748" dirty="0"/>
          </a:p>
        </p:txBody>
      </p:sp>
      <p:sp>
        <p:nvSpPr>
          <p:cNvPr id="37" name="Text 34"/>
          <p:cNvSpPr/>
          <p:nvPr/>
        </p:nvSpPr>
        <p:spPr>
          <a:xfrm>
            <a:off x="6191250" y="3486150"/>
            <a:ext cx="20955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Le entregamos un contrato a quien lo construya: la fila del ranking viaja con identificable ya resuelto (RF-RNK-03).</a:t>
            </a:r>
            <a:endParaRPr lang="en-US" sz="748" dirty="0"/>
          </a:p>
        </p:txBody>
      </p:sp>
      <p:sp>
        <p:nvSpPr>
          <p:cNvPr id="38" name="Text 35"/>
          <p:cNvSpPr/>
          <p:nvPr/>
        </p:nvSpPr>
        <p:spPr>
          <a:xfrm>
            <a:off x="666750" y="4238625"/>
            <a:ext cx="7810500" cy="47625"/>
          </a:xfrm>
          <a:prstGeom prst="rect">
            <a:avLst/>
          </a:prstGeom>
          <a:noFill/>
          <a:ln/>
        </p:spPr>
        <p:txBody>
          <a:bodyPr wrap="square" lIns="0" tIns="0" rIns="0" bIns="0" rtlCol="0" anchor="t"/>
          <a:lstStyle/>
          <a:p>
            <a:pPr algn="l" indent="0" marL="0">
              <a:lnSpc>
                <a:spcPts val="1283"/>
              </a:lnSpc>
              <a:buNone/>
            </a:pPr>
            <a:r>
              <a:rPr lang="en-US" sz="926" dirty="0">
                <a:solidFill>
                  <a:srgbClr val="4CD4D8">
                    <a:alpha val="99000"/>
                  </a:srgbClr>
                </a:solidFill>
                <a:latin typeface="Inter" pitchFamily="34" charset="0"/>
                <a:ea typeface="Inter" pitchFamily="34" charset="-122"/>
                <a:cs typeface="Inter" pitchFamily="34" charset="-120"/>
              </a:rPr>
              <a:t>Ninguna de las tres posturas es un gusto: las tres salen del criterio de la lámina anterior.</a:t>
            </a:r>
            <a:endParaRPr lang="en-US" sz="92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2081212"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EL ROL TRANSVERSAL QUE TOMAMOS</a:t>
            </a:r>
            <a:endParaRPr lang="en-US" sz="819" dirty="0"/>
          </a:p>
        </p:txBody>
      </p:sp>
      <p:sp>
        <p:nvSpPr>
          <p:cNvPr id="5" name="Text 2"/>
          <p:cNvSpPr/>
          <p:nvPr/>
        </p:nvSpPr>
        <p:spPr>
          <a:xfrm>
            <a:off x="666750" y="552450"/>
            <a:ext cx="7715250" cy="47625"/>
          </a:xfrm>
          <a:prstGeom prst="rect">
            <a:avLst/>
          </a:prstGeom>
          <a:noFill/>
          <a:ln/>
        </p:spPr>
        <p:txBody>
          <a:bodyPr wrap="square" lIns="0" tIns="0" rIns="0" bIns="0" rtlCol="0" anchor="t"/>
          <a:lstStyle/>
          <a:p>
            <a:pPr algn="l" indent="0" marL="0">
              <a:lnSpc>
                <a:spcPts val="2280"/>
              </a:lnSpc>
              <a:buNone/>
            </a:pPr>
            <a:r>
              <a:rPr lang="en-US" sz="1924" b="1" dirty="0">
                <a:solidFill>
                  <a:srgbClr val="FFFFFF">
                    <a:alpha val="99000"/>
                  </a:srgbClr>
                </a:solidFill>
                <a:latin typeface="Inter" pitchFamily="34" charset="0"/>
                <a:ea typeface="Inter" pitchFamily="34" charset="-122"/>
                <a:cs typeface="Inter" pitchFamily="34" charset="-120"/>
              </a:rPr>
              <a:t>Librería de componentes compartidos, con el grupo 2</a:t>
            </a:r>
            <a:endParaRPr lang="en-US" sz="1924" dirty="0"/>
          </a:p>
        </p:txBody>
      </p:sp>
      <p:sp>
        <p:nvSpPr>
          <p:cNvPr id="6" name="Text 3"/>
          <p:cNvSpPr/>
          <p:nvPr/>
        </p:nvSpPr>
        <p:spPr>
          <a:xfrm>
            <a:off x="666750" y="1276350"/>
            <a:ext cx="2886075" cy="114300"/>
          </a:xfrm>
          <a:prstGeom prst="rect">
            <a:avLst/>
          </a:prstGeom>
          <a:noFill/>
          <a:ln/>
        </p:spPr>
        <p:txBody>
          <a:bodyPr wrap="square" lIns="0" tIns="0" rIns="0" bIns="0" rtlCol="0" anchor="t"/>
          <a:lstStyle/>
          <a:p>
            <a:pPr algn="l" indent="0" marL="0">
              <a:lnSpc>
                <a:spcPts val="862"/>
              </a:lnSpc>
              <a:buNone/>
            </a:pPr>
            <a:r>
              <a:rPr lang="en-US" sz="713" b="1" dirty="0">
                <a:solidFill>
                  <a:srgbClr val="4CD4D8">
                    <a:alpha val="99000"/>
                  </a:srgbClr>
                </a:solidFill>
                <a:latin typeface="Inter" pitchFamily="34" charset="0"/>
                <a:ea typeface="Inter" pitchFamily="34" charset="-122"/>
                <a:cs typeface="Inter" pitchFamily="34" charset="-120"/>
              </a:rPr>
              <a:t>POR QUÉ NOSOTROS · SOMOS EL EJE VISUAL DEL PRODUCTO</a:t>
            </a:r>
            <a:endParaRPr lang="en-US" sz="713" dirty="0"/>
          </a:p>
        </p:txBody>
      </p:sp>
      <p:sp>
        <p:nvSpPr>
          <p:cNvPr id="7" name="Text 4"/>
          <p:cNvSpPr/>
          <p:nvPr/>
        </p:nvSpPr>
        <p:spPr>
          <a:xfrm>
            <a:off x="666750" y="1485900"/>
            <a:ext cx="1433513"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Editor gráfico de roadmaps</a:t>
            </a:r>
            <a:endParaRPr lang="en-US" sz="819" dirty="0"/>
          </a:p>
        </p:txBody>
      </p:sp>
      <p:sp>
        <p:nvSpPr>
          <p:cNvPr id="8" name="Text 5"/>
          <p:cNvSpPr/>
          <p:nvPr/>
        </p:nvSpPr>
        <p:spPr>
          <a:xfrm>
            <a:off x="666750" y="1638300"/>
            <a:ext cx="3714750" cy="47625"/>
          </a:xfrm>
          <a:prstGeom prst="rect">
            <a:avLst/>
          </a:prstGeom>
          <a:noFill/>
          <a:ln/>
        </p:spPr>
        <p:txBody>
          <a:bodyPr wrap="square" lIns="0" tIns="0" rIns="0" bIns="0" rtlCol="0" anchor="t"/>
          <a:lstStyle/>
          <a:p>
            <a:pPr algn="l" indent="0" marL="0">
              <a:lnSpc>
                <a:spcPts val="926"/>
              </a:lnSpc>
              <a:buNone/>
            </a:pPr>
            <a:r>
              <a:rPr lang="en-US" sz="641" dirty="0">
                <a:solidFill>
                  <a:srgbClr val="9AA0B4">
                    <a:alpha val="99000"/>
                  </a:srgbClr>
                </a:solidFill>
                <a:latin typeface="Inter" pitchFamily="34" charset="0"/>
                <a:ea typeface="Inter" pitchFamily="34" charset="-122"/>
                <a:cs typeface="Inter" pitchFamily="34" charset="-120"/>
              </a:rPr>
              <a:t>La interfaz más compleja después del IDE (RF-CUR-04)</a:t>
            </a:r>
            <a:endParaRPr lang="en-US" sz="641" dirty="0"/>
          </a:p>
        </p:txBody>
      </p:sp>
      <p:sp>
        <p:nvSpPr>
          <p:cNvPr id="9" name="Text 6"/>
          <p:cNvSpPr/>
          <p:nvPr/>
        </p:nvSpPr>
        <p:spPr>
          <a:xfrm>
            <a:off x="666750" y="1847850"/>
            <a:ext cx="1476375"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Mapa navegable del alumno</a:t>
            </a:r>
            <a:endParaRPr lang="en-US" sz="819" dirty="0"/>
          </a:p>
        </p:txBody>
      </p:sp>
      <p:sp>
        <p:nvSpPr>
          <p:cNvPr id="10" name="Text 7"/>
          <p:cNvSpPr/>
          <p:nvPr/>
        </p:nvSpPr>
        <p:spPr>
          <a:xfrm>
            <a:off x="666750" y="2000250"/>
            <a:ext cx="3714750" cy="47625"/>
          </a:xfrm>
          <a:prstGeom prst="rect">
            <a:avLst/>
          </a:prstGeom>
          <a:noFill/>
          <a:ln/>
        </p:spPr>
        <p:txBody>
          <a:bodyPr wrap="square" lIns="0" tIns="0" rIns="0" bIns="0" rtlCol="0" anchor="t"/>
          <a:lstStyle/>
          <a:p>
            <a:pPr algn="l" indent="0" marL="0">
              <a:lnSpc>
                <a:spcPts val="926"/>
              </a:lnSpc>
              <a:buNone/>
            </a:pPr>
            <a:r>
              <a:rPr lang="en-US" sz="641" dirty="0">
                <a:solidFill>
                  <a:srgbClr val="9AA0B4">
                    <a:alpha val="99000"/>
                  </a:srgbClr>
                </a:solidFill>
                <a:latin typeface="Inter" pitchFamily="34" charset="0"/>
                <a:ea typeface="Inter" pitchFamily="34" charset="-122"/>
                <a:cs typeface="Inter" pitchFamily="34" charset="-120"/>
              </a:rPr>
              <a:t>Grafo interactivo con cuatro estados por nodo</a:t>
            </a:r>
            <a:endParaRPr lang="en-US" sz="641" dirty="0"/>
          </a:p>
        </p:txBody>
      </p:sp>
      <p:sp>
        <p:nvSpPr>
          <p:cNvPr id="11" name="Text 8"/>
          <p:cNvSpPr/>
          <p:nvPr/>
        </p:nvSpPr>
        <p:spPr>
          <a:xfrm>
            <a:off x="666750" y="2209800"/>
            <a:ext cx="876300"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Tabla de ranking</a:t>
            </a:r>
            <a:endParaRPr lang="en-US" sz="819" dirty="0"/>
          </a:p>
        </p:txBody>
      </p:sp>
      <p:sp>
        <p:nvSpPr>
          <p:cNvPr id="12" name="Text 9"/>
          <p:cNvSpPr/>
          <p:nvPr/>
        </p:nvSpPr>
        <p:spPr>
          <a:xfrm>
            <a:off x="666750" y="2362200"/>
            <a:ext cx="3714750" cy="47625"/>
          </a:xfrm>
          <a:prstGeom prst="rect">
            <a:avLst/>
          </a:prstGeom>
          <a:noFill/>
          <a:ln/>
        </p:spPr>
        <p:txBody>
          <a:bodyPr wrap="square" lIns="0" tIns="0" rIns="0" bIns="0" rtlCol="0" anchor="t"/>
          <a:lstStyle/>
          <a:p>
            <a:pPr algn="l" indent="0" marL="0">
              <a:lnSpc>
                <a:spcPts val="926"/>
              </a:lnSpc>
              <a:buNone/>
            </a:pPr>
            <a:r>
              <a:rPr lang="en-US" sz="641" dirty="0">
                <a:solidFill>
                  <a:srgbClr val="9AA0B4">
                    <a:alpha val="99000"/>
                  </a:srgbClr>
                </a:solidFill>
                <a:latin typeface="Inter" pitchFamily="34" charset="0"/>
                <a:ea typeface="Inter" pitchFamily="34" charset="-122"/>
                <a:cs typeface="Inter" pitchFamily="34" charset="-120"/>
              </a:rPr>
              <a:t>Visibilidad diferenciada por fila (RF-RNK-02/03/07)</a:t>
            </a:r>
            <a:endParaRPr lang="en-US" sz="641" dirty="0"/>
          </a:p>
        </p:txBody>
      </p:sp>
      <p:sp>
        <p:nvSpPr>
          <p:cNvPr id="13" name="Text 10"/>
          <p:cNvSpPr/>
          <p:nvPr/>
        </p:nvSpPr>
        <p:spPr>
          <a:xfrm>
            <a:off x="666750" y="2571750"/>
            <a:ext cx="909638"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HUD de progreso</a:t>
            </a:r>
            <a:endParaRPr lang="en-US" sz="819" dirty="0"/>
          </a:p>
        </p:txBody>
      </p:sp>
      <p:sp>
        <p:nvSpPr>
          <p:cNvPr id="14" name="Text 11"/>
          <p:cNvSpPr/>
          <p:nvPr/>
        </p:nvSpPr>
        <p:spPr>
          <a:xfrm>
            <a:off x="666750" y="2724150"/>
            <a:ext cx="3714750" cy="47625"/>
          </a:xfrm>
          <a:prstGeom prst="rect">
            <a:avLst/>
          </a:prstGeom>
          <a:noFill/>
          <a:ln/>
        </p:spPr>
        <p:txBody>
          <a:bodyPr wrap="square" lIns="0" tIns="0" rIns="0" bIns="0" rtlCol="0" anchor="t"/>
          <a:lstStyle/>
          <a:p>
            <a:pPr algn="l" indent="0" marL="0">
              <a:lnSpc>
                <a:spcPts val="926"/>
              </a:lnSpc>
              <a:buNone/>
            </a:pPr>
            <a:r>
              <a:rPr lang="en-US" sz="641" dirty="0">
                <a:solidFill>
                  <a:srgbClr val="9AA0B4">
                    <a:alpha val="99000"/>
                  </a:srgbClr>
                </a:solidFill>
                <a:latin typeface="Inter" pitchFamily="34" charset="0"/>
                <a:ea typeface="Inter" pitchFamily="34" charset="-122"/>
                <a:cs typeface="Inter" pitchFamily="34" charset="-120"/>
              </a:rPr>
              <a:t>Vive en el header de toda la aplicación</a:t>
            </a:r>
            <a:endParaRPr lang="en-US" sz="641" dirty="0"/>
          </a:p>
        </p:txBody>
      </p:sp>
      <p:sp>
        <p:nvSpPr>
          <p:cNvPr id="15" name="Text 12"/>
          <p:cNvSpPr/>
          <p:nvPr/>
        </p:nvSpPr>
        <p:spPr>
          <a:xfrm>
            <a:off x="666750" y="2933700"/>
            <a:ext cx="1433513"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Pantalla de cierre y reporte</a:t>
            </a:r>
            <a:endParaRPr lang="en-US" sz="819" dirty="0"/>
          </a:p>
        </p:txBody>
      </p:sp>
      <p:sp>
        <p:nvSpPr>
          <p:cNvPr id="16" name="Text 13"/>
          <p:cNvSpPr/>
          <p:nvPr/>
        </p:nvSpPr>
        <p:spPr>
          <a:xfrm>
            <a:off x="666750" y="3086100"/>
            <a:ext cx="3714750" cy="47625"/>
          </a:xfrm>
          <a:prstGeom prst="rect">
            <a:avLst/>
          </a:prstGeom>
          <a:noFill/>
          <a:ln/>
        </p:spPr>
        <p:txBody>
          <a:bodyPr wrap="square" lIns="0" tIns="0" rIns="0" bIns="0" rtlCol="0" anchor="t"/>
          <a:lstStyle/>
          <a:p>
            <a:pPr algn="l" indent="0" marL="0">
              <a:lnSpc>
                <a:spcPts val="926"/>
              </a:lnSpc>
              <a:buNone/>
            </a:pPr>
            <a:r>
              <a:rPr lang="en-US" sz="641" dirty="0">
                <a:solidFill>
                  <a:srgbClr val="9AA0B4">
                    <a:alpha val="99000"/>
                  </a:srgbClr>
                </a:solidFill>
                <a:latin typeface="Inter" pitchFamily="34" charset="0"/>
                <a:ea typeface="Inter" pitchFamily="34" charset="-122"/>
                <a:cs typeface="Inter" pitchFamily="34" charset="-120"/>
              </a:rPr>
              <a:t>Confirmación por alumno y exportación (RF-RNK-10/13)</a:t>
            </a:r>
            <a:endParaRPr lang="en-US" sz="641" dirty="0"/>
          </a:p>
        </p:txBody>
      </p:sp>
      <p:sp>
        <p:nvSpPr>
          <p:cNvPr id="17" name="Shape 14"/>
          <p:cNvSpPr/>
          <p:nvPr/>
        </p:nvSpPr>
        <p:spPr>
          <a:xfrm>
            <a:off x="666750" y="3324225"/>
            <a:ext cx="3810000" cy="561975"/>
          </a:xfrm>
          <a:prstGeom prst="roundRect">
            <a:avLst>
              <a:gd name="adj" fmla="val 26034"/>
            </a:avLst>
          </a:prstGeom>
          <a:solidFill>
            <a:srgbClr val="262943"/>
          </a:solidFill>
          <a:ln/>
        </p:spPr>
      </p:sp>
      <p:sp>
        <p:nvSpPr>
          <p:cNvPr id="18" name="Shape 15"/>
          <p:cNvSpPr/>
          <p:nvPr/>
        </p:nvSpPr>
        <p:spPr>
          <a:xfrm>
            <a:off x="666750" y="3324225"/>
            <a:ext cx="23813" cy="561975"/>
          </a:xfrm>
          <a:prstGeom prst="rect">
            <a:avLst/>
          </a:prstGeom>
          <a:solidFill>
            <a:srgbClr val="4CD4D8"/>
          </a:solidFill>
          <a:ln/>
        </p:spPr>
      </p:sp>
      <p:sp>
        <p:nvSpPr>
          <p:cNvPr id="19" name="Text 16"/>
          <p:cNvSpPr/>
          <p:nvPr/>
        </p:nvSpPr>
        <p:spPr>
          <a:xfrm>
            <a:off x="838200" y="3429000"/>
            <a:ext cx="471488" cy="104775"/>
          </a:xfrm>
          <a:prstGeom prst="rect">
            <a:avLst/>
          </a:prstGeom>
          <a:noFill/>
          <a:ln/>
        </p:spPr>
        <p:txBody>
          <a:bodyPr wrap="square" lIns="0" tIns="0" rIns="0" bIns="0" rtlCol="0" anchor="t"/>
          <a:lstStyle/>
          <a:p>
            <a:pPr algn="l" indent="0" marL="0">
              <a:lnSpc>
                <a:spcPts val="776"/>
              </a:lnSpc>
              <a:buNone/>
            </a:pPr>
            <a:r>
              <a:rPr lang="en-US" sz="641" b="1" dirty="0">
                <a:solidFill>
                  <a:srgbClr val="4CD4D8">
                    <a:alpha val="99000"/>
                  </a:srgbClr>
                </a:solidFill>
                <a:latin typeface="Inter" pitchFamily="34" charset="0"/>
                <a:ea typeface="Inter" pitchFamily="34" charset="-122"/>
                <a:cs typeface="Inter" pitchFamily="34" charset="-120"/>
              </a:rPr>
              <a:t>RF-NFR-06</a:t>
            </a:r>
            <a:endParaRPr lang="en-US" sz="641" dirty="0"/>
          </a:p>
        </p:txBody>
      </p:sp>
      <p:sp>
        <p:nvSpPr>
          <p:cNvPr id="20" name="Text 17"/>
          <p:cNvSpPr/>
          <p:nvPr/>
        </p:nvSpPr>
        <p:spPr>
          <a:xfrm>
            <a:off x="838200" y="3552825"/>
            <a:ext cx="3429000" cy="47625"/>
          </a:xfrm>
          <a:prstGeom prst="rect">
            <a:avLst/>
          </a:prstGeom>
          <a:noFill/>
          <a:ln/>
        </p:spPr>
        <p:txBody>
          <a:bodyPr wrap="square" lIns="0" tIns="0" rIns="0" bIns="0" rtlCol="0" anchor="t"/>
          <a:lstStyle/>
          <a:p>
            <a:pPr algn="l" indent="0" marL="0">
              <a:lnSpc>
                <a:spcPts val="998"/>
              </a:lnSpc>
              <a:buNone/>
            </a:pPr>
            <a:r>
              <a:rPr lang="en-US" sz="713" dirty="0">
                <a:solidFill>
                  <a:srgbClr val="FFFFFF">
                    <a:alpha val="99000"/>
                  </a:srgbClr>
                </a:solidFill>
                <a:latin typeface="Inter" pitchFamily="34" charset="0"/>
                <a:ea typeface="Inter" pitchFamily="34" charset="-122"/>
                <a:cs typeface="Inter" pitchFamily="34" charset="-120"/>
              </a:rPr>
              <a:t>Ranking, perfil, niveles e insignias están habilitados en móvil. Somos de las pocas pantallas que definen el comportamiento responsive del sistema.</a:t>
            </a:r>
            <a:endParaRPr lang="en-US" sz="713" dirty="0"/>
          </a:p>
        </p:txBody>
      </p:sp>
      <p:sp>
        <p:nvSpPr>
          <p:cNvPr id="21" name="Text 18"/>
          <p:cNvSpPr/>
          <p:nvPr/>
        </p:nvSpPr>
        <p:spPr>
          <a:xfrm>
            <a:off x="4667250" y="1276350"/>
            <a:ext cx="1604963" cy="114300"/>
          </a:xfrm>
          <a:prstGeom prst="rect">
            <a:avLst/>
          </a:prstGeom>
          <a:noFill/>
          <a:ln/>
        </p:spPr>
        <p:txBody>
          <a:bodyPr wrap="square" lIns="0" tIns="0" rIns="0" bIns="0" rtlCol="0" anchor="t"/>
          <a:lstStyle/>
          <a:p>
            <a:pPr algn="l" indent="0" marL="0">
              <a:lnSpc>
                <a:spcPts val="862"/>
              </a:lnSpc>
              <a:buNone/>
            </a:pPr>
            <a:r>
              <a:rPr lang="en-US" sz="713" b="1" dirty="0">
                <a:solidFill>
                  <a:srgbClr val="6B5CE7">
                    <a:alpha val="99000"/>
                  </a:srgbClr>
                </a:solidFill>
                <a:latin typeface="Inter" pitchFamily="34" charset="0"/>
                <a:ea typeface="Inter" pitchFamily="34" charset="-122"/>
                <a:cs typeface="Inter" pitchFamily="34" charset="-120"/>
              </a:rPr>
              <a:t>LO QUE PONEMOS EN LA LIBRERÍA</a:t>
            </a:r>
            <a:endParaRPr lang="en-US" sz="713" dirty="0"/>
          </a:p>
        </p:txBody>
      </p:sp>
      <p:sp>
        <p:nvSpPr>
          <p:cNvPr id="22" name="Shape 19"/>
          <p:cNvSpPr/>
          <p:nvPr/>
        </p:nvSpPr>
        <p:spPr>
          <a:xfrm>
            <a:off x="4667250" y="1428750"/>
            <a:ext cx="3810000" cy="1476375"/>
          </a:xfrm>
          <a:prstGeom prst="roundRect">
            <a:avLst>
              <a:gd name="adj" fmla="val 11148"/>
            </a:avLst>
          </a:prstGeom>
          <a:solidFill>
            <a:srgbClr val="1B1D2F"/>
          </a:solidFill>
          <a:ln/>
        </p:spPr>
      </p:sp>
      <p:sp>
        <p:nvSpPr>
          <p:cNvPr id="23" name="Shape 20"/>
          <p:cNvSpPr/>
          <p:nvPr/>
        </p:nvSpPr>
        <p:spPr>
          <a:xfrm>
            <a:off x="4667250" y="1428750"/>
            <a:ext cx="3810000" cy="23813"/>
          </a:xfrm>
          <a:prstGeom prst="rect">
            <a:avLst/>
          </a:prstGeom>
          <a:solidFill>
            <a:srgbClr val="6B5CE7"/>
          </a:solidFill>
          <a:ln/>
        </p:spPr>
      </p:sp>
      <p:sp>
        <p:nvSpPr>
          <p:cNvPr id="24" name="Shape 21"/>
          <p:cNvSpPr/>
          <p:nvPr/>
        </p:nvSpPr>
        <p:spPr>
          <a:xfrm>
            <a:off x="4857750" y="1676400"/>
            <a:ext cx="47625" cy="47625"/>
          </a:xfrm>
          <a:prstGeom prst="roundRect">
            <a:avLst/>
          </a:prstGeom>
          <a:solidFill>
            <a:srgbClr val="6B5CE7"/>
          </a:solidFill>
          <a:ln/>
        </p:spPr>
      </p:sp>
      <p:sp>
        <p:nvSpPr>
          <p:cNvPr id="25" name="Text 22"/>
          <p:cNvSpPr/>
          <p:nvPr/>
        </p:nvSpPr>
        <p:spPr>
          <a:xfrm>
            <a:off x="5000625" y="1619250"/>
            <a:ext cx="3286125" cy="47625"/>
          </a:xfrm>
          <a:prstGeom prst="rect">
            <a:avLst/>
          </a:prstGeom>
          <a:noFill/>
          <a:ln/>
        </p:spPr>
        <p:txBody>
          <a:bodyPr wrap="square" lIns="0" tIns="0" rIns="0" bIns="0" rtlCol="0" anchor="t"/>
          <a:lstStyle/>
          <a:p>
            <a:pPr algn="l" indent="0" marL="0">
              <a:lnSpc>
                <a:spcPts val="905"/>
              </a:lnSpc>
              <a:buNone/>
            </a:pPr>
            <a:r>
              <a:rPr lang="en-US" sz="748" dirty="0">
                <a:solidFill>
                  <a:srgbClr val="FFFFFF">
                    <a:alpha val="99000"/>
                  </a:srgbClr>
                </a:solidFill>
                <a:latin typeface="Inter" pitchFamily="34" charset="0"/>
                <a:ea typeface="Inter" pitchFamily="34" charset="-122"/>
                <a:cs typeface="Inter" pitchFamily="34" charset="-120"/>
              </a:rPr>
              <a:t>Canvas de grafo: nodos, conexiones y arrastre</a:t>
            </a:r>
            <a:endParaRPr lang="en-US" sz="748" dirty="0"/>
          </a:p>
        </p:txBody>
      </p:sp>
      <p:sp>
        <p:nvSpPr>
          <p:cNvPr id="26" name="Shape 23"/>
          <p:cNvSpPr/>
          <p:nvPr/>
        </p:nvSpPr>
        <p:spPr>
          <a:xfrm>
            <a:off x="4857750" y="1933575"/>
            <a:ext cx="47625" cy="47625"/>
          </a:xfrm>
          <a:prstGeom prst="roundRect">
            <a:avLst/>
          </a:prstGeom>
          <a:solidFill>
            <a:srgbClr val="6B5CE7"/>
          </a:solidFill>
          <a:ln/>
        </p:spPr>
      </p:sp>
      <p:sp>
        <p:nvSpPr>
          <p:cNvPr id="27" name="Text 24"/>
          <p:cNvSpPr/>
          <p:nvPr/>
        </p:nvSpPr>
        <p:spPr>
          <a:xfrm>
            <a:off x="5000625" y="1876425"/>
            <a:ext cx="3286125" cy="47625"/>
          </a:xfrm>
          <a:prstGeom prst="rect">
            <a:avLst/>
          </a:prstGeom>
          <a:noFill/>
          <a:ln/>
        </p:spPr>
        <p:txBody>
          <a:bodyPr wrap="square" lIns="0" tIns="0" rIns="0" bIns="0" rtlCol="0" anchor="t"/>
          <a:lstStyle/>
          <a:p>
            <a:pPr algn="l" indent="0" marL="0">
              <a:lnSpc>
                <a:spcPts val="905"/>
              </a:lnSpc>
              <a:buNone/>
            </a:pPr>
            <a:r>
              <a:rPr lang="en-US" sz="748" dirty="0">
                <a:solidFill>
                  <a:srgbClr val="FFFFFF">
                    <a:alpha val="99000"/>
                  </a:srgbClr>
                </a:solidFill>
                <a:latin typeface="Inter" pitchFamily="34" charset="0"/>
                <a:ea typeface="Inter" pitchFamily="34" charset="-122"/>
                <a:cs typeface="Inter" pitchFamily="34" charset="-120"/>
              </a:rPr>
              <a:t>Tabla con visibilidad condicional por fila</a:t>
            </a:r>
            <a:endParaRPr lang="en-US" sz="748" dirty="0"/>
          </a:p>
        </p:txBody>
      </p:sp>
      <p:sp>
        <p:nvSpPr>
          <p:cNvPr id="28" name="Shape 25"/>
          <p:cNvSpPr/>
          <p:nvPr/>
        </p:nvSpPr>
        <p:spPr>
          <a:xfrm>
            <a:off x="4857750" y="2190750"/>
            <a:ext cx="47625" cy="47625"/>
          </a:xfrm>
          <a:prstGeom prst="roundRect">
            <a:avLst/>
          </a:prstGeom>
          <a:solidFill>
            <a:srgbClr val="6B5CE7"/>
          </a:solidFill>
          <a:ln/>
        </p:spPr>
      </p:sp>
      <p:sp>
        <p:nvSpPr>
          <p:cNvPr id="29" name="Text 26"/>
          <p:cNvSpPr/>
          <p:nvPr/>
        </p:nvSpPr>
        <p:spPr>
          <a:xfrm>
            <a:off x="5000625" y="2133600"/>
            <a:ext cx="3286125" cy="47625"/>
          </a:xfrm>
          <a:prstGeom prst="rect">
            <a:avLst/>
          </a:prstGeom>
          <a:noFill/>
          <a:ln/>
        </p:spPr>
        <p:txBody>
          <a:bodyPr wrap="square" lIns="0" tIns="0" rIns="0" bIns="0" rtlCol="0" anchor="t"/>
          <a:lstStyle/>
          <a:p>
            <a:pPr algn="l" indent="0" marL="0">
              <a:lnSpc>
                <a:spcPts val="905"/>
              </a:lnSpc>
              <a:buNone/>
            </a:pPr>
            <a:r>
              <a:rPr lang="en-US" sz="748" dirty="0">
                <a:solidFill>
                  <a:srgbClr val="FFFFFF">
                    <a:alpha val="99000"/>
                  </a:srgbClr>
                </a:solidFill>
                <a:latin typeface="Inter" pitchFamily="34" charset="0"/>
                <a:ea typeface="Inter" pitchFamily="34" charset="-122"/>
                <a:cs typeface="Inter" pitchFamily="34" charset="-120"/>
              </a:rPr>
              <a:t>HUD de progreso: vidas, XP y nivel</a:t>
            </a:r>
            <a:endParaRPr lang="en-US" sz="748" dirty="0"/>
          </a:p>
        </p:txBody>
      </p:sp>
      <p:sp>
        <p:nvSpPr>
          <p:cNvPr id="30" name="Shape 27"/>
          <p:cNvSpPr/>
          <p:nvPr/>
        </p:nvSpPr>
        <p:spPr>
          <a:xfrm>
            <a:off x="4857750" y="2447925"/>
            <a:ext cx="47625" cy="47625"/>
          </a:xfrm>
          <a:prstGeom prst="roundRect">
            <a:avLst/>
          </a:prstGeom>
          <a:solidFill>
            <a:srgbClr val="6B5CE7"/>
          </a:solidFill>
          <a:ln/>
        </p:spPr>
      </p:sp>
      <p:sp>
        <p:nvSpPr>
          <p:cNvPr id="31" name="Text 28"/>
          <p:cNvSpPr/>
          <p:nvPr/>
        </p:nvSpPr>
        <p:spPr>
          <a:xfrm>
            <a:off x="5000625" y="2390775"/>
            <a:ext cx="3286125" cy="47625"/>
          </a:xfrm>
          <a:prstGeom prst="rect">
            <a:avLst/>
          </a:prstGeom>
          <a:noFill/>
          <a:ln/>
        </p:spPr>
        <p:txBody>
          <a:bodyPr wrap="square" lIns="0" tIns="0" rIns="0" bIns="0" rtlCol="0" anchor="t"/>
          <a:lstStyle/>
          <a:p>
            <a:pPr algn="l" indent="0" marL="0">
              <a:lnSpc>
                <a:spcPts val="905"/>
              </a:lnSpc>
              <a:buNone/>
            </a:pPr>
            <a:r>
              <a:rPr lang="en-US" sz="748" dirty="0">
                <a:solidFill>
                  <a:srgbClr val="FFFFFF">
                    <a:alpha val="99000"/>
                  </a:srgbClr>
                </a:solidFill>
                <a:latin typeface="Inter" pitchFamily="34" charset="0"/>
                <a:ea typeface="Inter" pitchFamily="34" charset="-122"/>
                <a:cs typeface="Inter" pitchFamily="34" charset="-120"/>
              </a:rPr>
              <a:t>Sistema de estados y badges de progreso</a:t>
            </a:r>
            <a:endParaRPr lang="en-US" sz="748" dirty="0"/>
          </a:p>
        </p:txBody>
      </p:sp>
      <p:sp>
        <p:nvSpPr>
          <p:cNvPr id="32" name="Shape 29"/>
          <p:cNvSpPr/>
          <p:nvPr/>
        </p:nvSpPr>
        <p:spPr>
          <a:xfrm>
            <a:off x="4857750" y="2705100"/>
            <a:ext cx="47625" cy="47625"/>
          </a:xfrm>
          <a:prstGeom prst="roundRect">
            <a:avLst/>
          </a:prstGeom>
          <a:solidFill>
            <a:srgbClr val="6B5CE7"/>
          </a:solidFill>
          <a:ln/>
        </p:spPr>
      </p:sp>
      <p:sp>
        <p:nvSpPr>
          <p:cNvPr id="33" name="Text 30"/>
          <p:cNvSpPr/>
          <p:nvPr/>
        </p:nvSpPr>
        <p:spPr>
          <a:xfrm>
            <a:off x="5000625" y="2647950"/>
            <a:ext cx="3286125" cy="47625"/>
          </a:xfrm>
          <a:prstGeom prst="rect">
            <a:avLst/>
          </a:prstGeom>
          <a:noFill/>
          <a:ln/>
        </p:spPr>
        <p:txBody>
          <a:bodyPr wrap="square" lIns="0" tIns="0" rIns="0" bIns="0" rtlCol="0" anchor="t"/>
          <a:lstStyle/>
          <a:p>
            <a:pPr algn="l" indent="0" marL="0">
              <a:lnSpc>
                <a:spcPts val="905"/>
              </a:lnSpc>
              <a:buNone/>
            </a:pPr>
            <a:r>
              <a:rPr lang="en-US" sz="748" dirty="0">
                <a:solidFill>
                  <a:srgbClr val="FFFFFF">
                    <a:alpha val="99000"/>
                  </a:srgbClr>
                </a:solidFill>
                <a:latin typeface="Inter" pitchFamily="34" charset="0"/>
                <a:ea typeface="Inter" pitchFamily="34" charset="-122"/>
                <a:cs typeface="Inter" pitchFamily="34" charset="-120"/>
              </a:rPr>
              <a:t>Patrones de validación y sugerencia (RF-CUR-07)</a:t>
            </a:r>
            <a:endParaRPr lang="en-US" sz="748" dirty="0"/>
          </a:p>
        </p:txBody>
      </p:sp>
      <p:sp>
        <p:nvSpPr>
          <p:cNvPr id="34" name="Shape 31"/>
          <p:cNvSpPr/>
          <p:nvPr/>
        </p:nvSpPr>
        <p:spPr>
          <a:xfrm>
            <a:off x="4667250" y="3019425"/>
            <a:ext cx="3810000" cy="904875"/>
          </a:xfrm>
          <a:prstGeom prst="roundRect">
            <a:avLst>
              <a:gd name="adj" fmla="val 16168"/>
            </a:avLst>
          </a:prstGeom>
          <a:solidFill>
            <a:srgbClr val="262943"/>
          </a:solidFill>
          <a:ln/>
        </p:spPr>
      </p:sp>
      <p:sp>
        <p:nvSpPr>
          <p:cNvPr id="35" name="Shape 32"/>
          <p:cNvSpPr/>
          <p:nvPr/>
        </p:nvSpPr>
        <p:spPr>
          <a:xfrm>
            <a:off x="4667250" y="3019425"/>
            <a:ext cx="23813" cy="904875"/>
          </a:xfrm>
          <a:prstGeom prst="rect">
            <a:avLst/>
          </a:prstGeom>
          <a:solidFill>
            <a:srgbClr val="4ADE80"/>
          </a:solidFill>
          <a:ln/>
        </p:spPr>
      </p:sp>
      <p:sp>
        <p:nvSpPr>
          <p:cNvPr id="36" name="Text 33"/>
          <p:cNvSpPr/>
          <p:nvPr/>
        </p:nvSpPr>
        <p:spPr>
          <a:xfrm>
            <a:off x="4838700" y="3133725"/>
            <a:ext cx="1843088" cy="109538"/>
          </a:xfrm>
          <a:prstGeom prst="rect">
            <a:avLst/>
          </a:prstGeom>
          <a:noFill/>
          <a:ln/>
        </p:spPr>
        <p:txBody>
          <a:bodyPr wrap="square" lIns="0" tIns="0" rIns="0" bIns="0" rtlCol="0" anchor="t"/>
          <a:lstStyle/>
          <a:p>
            <a:pPr algn="l" indent="0" marL="0">
              <a:lnSpc>
                <a:spcPts val="819"/>
              </a:lnSpc>
              <a:buNone/>
            </a:pPr>
            <a:r>
              <a:rPr lang="en-US" sz="677" b="1" dirty="0">
                <a:solidFill>
                  <a:srgbClr val="4ADE80">
                    <a:alpha val="99000"/>
                  </a:srgbClr>
                </a:solidFill>
                <a:latin typeface="Inter" pitchFamily="34" charset="0"/>
                <a:ea typeface="Inter" pitchFamily="34" charset="-122"/>
                <a:cs typeface="Inter" pitchFamily="34" charset="-120"/>
              </a:rPr>
              <a:t>CÓMO LO REPARTIMOS CON  EL GRUPO 2</a:t>
            </a:r>
            <a:endParaRPr lang="en-US" sz="677" dirty="0"/>
          </a:p>
        </p:txBody>
      </p:sp>
      <p:sp>
        <p:nvSpPr>
          <p:cNvPr id="37" name="Text 34"/>
          <p:cNvSpPr/>
          <p:nvPr/>
        </p:nvSpPr>
        <p:spPr>
          <a:xfrm>
            <a:off x="4838700" y="3276600"/>
            <a:ext cx="3429000" cy="47625"/>
          </a:xfrm>
          <a:prstGeom prst="rect">
            <a:avLst/>
          </a:prstGeom>
          <a:noFill/>
          <a:ln/>
        </p:spPr>
        <p:txBody>
          <a:bodyPr wrap="square" lIns="0" tIns="0" rIns="0" bIns="0" rtlCol="0" anchor="t"/>
          <a:lstStyle/>
          <a:p>
            <a:pPr algn="l" indent="0" marL="0">
              <a:lnSpc>
                <a:spcPts val="998"/>
              </a:lnSpc>
              <a:buNone/>
            </a:pPr>
            <a:r>
              <a:rPr lang="en-US" sz="713" dirty="0">
                <a:solidFill>
                  <a:srgbClr val="FFFFFF">
                    <a:alpha val="99000"/>
                  </a:srgbClr>
                </a:solidFill>
                <a:latin typeface="Inter" pitchFamily="34" charset="0"/>
                <a:ea typeface="Inter" pitchFamily="34" charset="-122"/>
                <a:cs typeface="Inter" pitchFamily="34" charset="-120"/>
              </a:rPr>
              <a:t>Co-propiedad del esqueleto, el pipeline y las convenciones. Cada grupo escribe los componentes de su dominio.</a:t>
            </a:r>
            <a:endParaRPr lang="en-US" sz="713" dirty="0"/>
          </a:p>
        </p:txBody>
      </p:sp>
      <p:sp>
        <p:nvSpPr>
          <p:cNvPr id="38" name="Shape 35"/>
          <p:cNvSpPr/>
          <p:nvPr/>
        </p:nvSpPr>
        <p:spPr>
          <a:xfrm>
            <a:off x="4838700" y="3590925"/>
            <a:ext cx="266700" cy="14288"/>
          </a:xfrm>
          <a:prstGeom prst="rect">
            <a:avLst/>
          </a:prstGeom>
          <a:solidFill>
            <a:srgbClr val="9AA0B4"/>
          </a:solidFill>
          <a:ln/>
        </p:spPr>
      </p:sp>
      <p:sp>
        <p:nvSpPr>
          <p:cNvPr id="39" name="Text 36"/>
          <p:cNvSpPr/>
          <p:nvPr/>
        </p:nvSpPr>
        <p:spPr>
          <a:xfrm>
            <a:off x="4838700" y="3676650"/>
            <a:ext cx="3429000" cy="47625"/>
          </a:xfrm>
          <a:prstGeom prst="rect">
            <a:avLst/>
          </a:prstGeom>
          <a:noFill/>
          <a:ln/>
        </p:spPr>
        <p:txBody>
          <a:bodyPr wrap="square" lIns="0" tIns="0" rIns="0" bIns="0" rtlCol="0" anchor="t"/>
          <a:lstStyle/>
          <a:p>
            <a:pPr algn="l" indent="0" marL="0">
              <a:lnSpc>
                <a:spcPts val="926"/>
              </a:lnSpc>
              <a:buNone/>
            </a:pPr>
            <a:r>
              <a:rPr lang="en-US" sz="641" dirty="0">
                <a:solidFill>
                  <a:srgbClr val="9AA0B4">
                    <a:alpha val="99000"/>
                  </a:srgbClr>
                </a:solidFill>
                <a:latin typeface="Inter" pitchFamily="34" charset="0"/>
                <a:ea typeface="Inter" pitchFamily="34" charset="-122"/>
                <a:cs typeface="Inter" pitchFamily="34" charset="-120"/>
              </a:rPr>
              <a:t>A acordar: SemVer, Storybook como criterio de aceptación, tokens antes que componentes y accesibilidad en el contrato.</a:t>
            </a:r>
            <a:endParaRPr lang="en-US" sz="641" dirty="0"/>
          </a:p>
        </p:txBody>
      </p:sp>
      <p:sp>
        <p:nvSpPr>
          <p:cNvPr id="40" name="Shape 37"/>
          <p:cNvSpPr/>
          <p:nvPr/>
        </p:nvSpPr>
        <p:spPr>
          <a:xfrm>
            <a:off x="666750" y="4029075"/>
            <a:ext cx="7810500" cy="523875"/>
          </a:xfrm>
          <a:prstGeom prst="roundRect">
            <a:avLst>
              <a:gd name="adj" fmla="val 27927"/>
            </a:avLst>
          </a:prstGeom>
          <a:solidFill>
            <a:srgbClr val="1B1D2F"/>
          </a:solidFill>
          <a:ln/>
        </p:spPr>
      </p:sp>
      <p:sp>
        <p:nvSpPr>
          <p:cNvPr id="41" name="Shape 38"/>
          <p:cNvSpPr/>
          <p:nvPr/>
        </p:nvSpPr>
        <p:spPr>
          <a:xfrm>
            <a:off x="666750" y="4029075"/>
            <a:ext cx="23813" cy="523875"/>
          </a:xfrm>
          <a:prstGeom prst="rect">
            <a:avLst/>
          </a:prstGeom>
          <a:solidFill>
            <a:srgbClr val="F2545B"/>
          </a:solidFill>
          <a:ln/>
        </p:spPr>
      </p:sp>
      <p:sp>
        <p:nvSpPr>
          <p:cNvPr id="42" name="Text 39"/>
          <p:cNvSpPr/>
          <p:nvPr/>
        </p:nvSpPr>
        <p:spPr>
          <a:xfrm>
            <a:off x="876300" y="4124325"/>
            <a:ext cx="2133600" cy="104775"/>
          </a:xfrm>
          <a:prstGeom prst="rect">
            <a:avLst/>
          </a:prstGeom>
          <a:noFill/>
          <a:ln/>
        </p:spPr>
        <p:txBody>
          <a:bodyPr wrap="square" lIns="0" tIns="0" rIns="0" bIns="0" rtlCol="0" anchor="t"/>
          <a:lstStyle/>
          <a:p>
            <a:pPr algn="l" indent="0" marL="0">
              <a:lnSpc>
                <a:spcPts val="776"/>
              </a:lnSpc>
              <a:buNone/>
            </a:pPr>
            <a:r>
              <a:rPr lang="en-US" sz="641" b="1" dirty="0">
                <a:solidFill>
                  <a:srgbClr val="F2545B">
                    <a:alpha val="99000"/>
                  </a:srgbClr>
                </a:solidFill>
                <a:latin typeface="Inter" pitchFamily="34" charset="0"/>
                <a:ea typeface="Inter" pitchFamily="34" charset="-122"/>
                <a:cs typeface="Inter" pitchFamily="34" charset="-120"/>
              </a:rPr>
              <a:t>SOBRE EL BFF · NO TOMAMOS SU CONSTRUCCIÓN</a:t>
            </a:r>
            <a:endParaRPr lang="en-US" sz="641" dirty="0"/>
          </a:p>
        </p:txBody>
      </p:sp>
      <p:sp>
        <p:nvSpPr>
          <p:cNvPr id="43" name="Text 40"/>
          <p:cNvSpPr/>
          <p:nvPr/>
        </p:nvSpPr>
        <p:spPr>
          <a:xfrm>
            <a:off x="876300" y="4257675"/>
            <a:ext cx="7381875" cy="47625"/>
          </a:xfrm>
          <a:prstGeom prst="rect">
            <a:avLst/>
          </a:prstGeom>
          <a:noFill/>
          <a:ln/>
        </p:spPr>
        <p:txBody>
          <a:bodyPr wrap="square" lIns="0" tIns="0" rIns="0" bIns="0" rtlCol="0" anchor="t"/>
          <a:lstStyle/>
          <a:p>
            <a:pPr algn="l" indent="0" marL="0">
              <a:lnSpc>
                <a:spcPts val="998"/>
              </a:lnSpc>
              <a:buNone/>
            </a:pPr>
            <a:r>
              <a:rPr lang="en-US" sz="748" dirty="0">
                <a:solidFill>
                  <a:srgbClr val="FFFFFF">
                    <a:alpha val="99000"/>
                  </a:srgbClr>
                </a:solidFill>
                <a:latin typeface="Inter" pitchFamily="34" charset="0"/>
                <a:ea typeface="Inter" pitchFamily="34" charset="-122"/>
                <a:cs typeface="Inter" pitchFamily="34" charset="-120"/>
              </a:rPr>
              <a:t>Pero le entregamos un contrato: la fila del ranking viaja con identificable: true/false ya resuelto, para que la regla de anonimato de RF-RNK-03 viva en un solo lugar y no se replique en cada experiencia.</a:t>
            </a:r>
            <a:endParaRPr lang="en-US" sz="748" dirty="0"/>
          </a:p>
        </p:txBody>
      </p:sp>
      <p:sp>
        <p:nvSpPr>
          <p:cNvPr id="44" name="Text 41"/>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45" name="Text 42"/>
          <p:cNvSpPr/>
          <p:nvPr/>
        </p:nvSpPr>
        <p:spPr>
          <a:xfrm>
            <a:off x="8286750" y="4705350"/>
            <a:ext cx="114300"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07</a:t>
            </a:r>
            <a:endParaRPr lang="en-US" sz="67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433388"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FLUJO 1</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Entrega de un desafío</a:t>
            </a:r>
            <a:endParaRPr lang="en-US" sz="1995" dirty="0"/>
          </a:p>
        </p:txBody>
      </p:sp>
      <p:sp>
        <p:nvSpPr>
          <p:cNvPr id="6" name="Shape 3"/>
          <p:cNvSpPr/>
          <p:nvPr/>
        </p:nvSpPr>
        <p:spPr>
          <a:xfrm>
            <a:off x="666750" y="1247775"/>
            <a:ext cx="7810500" cy="1352550"/>
          </a:xfrm>
          <a:prstGeom prst="roundRect">
            <a:avLst>
              <a:gd name="adj" fmla="val 13521"/>
            </a:avLst>
          </a:prstGeom>
          <a:solidFill>
            <a:srgbClr val="1B1D2F"/>
          </a:solidFill>
          <a:ln/>
        </p:spPr>
      </p:sp>
      <p:sp>
        <p:nvSpPr>
          <p:cNvPr id="7" name="Shape 4"/>
          <p:cNvSpPr/>
          <p:nvPr/>
        </p:nvSpPr>
        <p:spPr>
          <a:xfrm>
            <a:off x="666750" y="1247775"/>
            <a:ext cx="23813" cy="1352550"/>
          </a:xfrm>
          <a:prstGeom prst="rect">
            <a:avLst/>
          </a:prstGeom>
          <a:solidFill>
            <a:srgbClr val="4CD4D8"/>
          </a:solidFill>
          <a:ln/>
        </p:spPr>
      </p:sp>
      <p:sp>
        <p:nvSpPr>
          <p:cNvPr id="8" name="Text 5"/>
          <p:cNvSpPr/>
          <p:nvPr/>
        </p:nvSpPr>
        <p:spPr>
          <a:xfrm>
            <a:off x="904875" y="1419225"/>
            <a:ext cx="2705100"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ANTES DE ACEPTAR · SÍNCRONO, POR EL API GATEWAY</a:t>
            </a:r>
            <a:endParaRPr lang="en-US" sz="748" dirty="0"/>
          </a:p>
        </p:txBody>
      </p:sp>
      <p:sp>
        <p:nvSpPr>
          <p:cNvPr id="9" name="Text 6"/>
          <p:cNvSpPr/>
          <p:nvPr/>
        </p:nvSpPr>
        <p:spPr>
          <a:xfrm>
            <a:off x="904875" y="1552575"/>
            <a:ext cx="7239000" cy="47625"/>
          </a:xfrm>
          <a:prstGeom prst="rect">
            <a:avLst/>
          </a:prstGeom>
          <a:noFill/>
          <a:ln/>
        </p:spPr>
        <p:txBody>
          <a:bodyPr wrap="square" lIns="0" tIns="0" rIns="0" bIns="0" rtlCol="0" anchor="t"/>
          <a:lstStyle/>
          <a:p>
            <a:pPr algn="l" indent="0" marL="0">
              <a:lnSpc>
                <a:spcPts val="1496"/>
              </a:lnSpc>
              <a:buNone/>
            </a:pPr>
            <a:r>
              <a:rPr lang="en-US" sz="1140" b="1" dirty="0">
                <a:solidFill>
                  <a:srgbClr val="FFFFFF">
                    <a:alpha val="99000"/>
                  </a:srgbClr>
                </a:solidFill>
                <a:latin typeface="Inter" pitchFamily="34" charset="0"/>
                <a:ea typeface="Inter" pitchFamily="34" charset="-122"/>
                <a:cs typeface="Inter" pitchFamily="34" charset="-120"/>
              </a:rPr>
              <a:t>El Grupo 9 (Motor de desafios) pregunta antes de aceptar. Respondemos con un motivo, no con un booleano.</a:t>
            </a:r>
            <a:endParaRPr lang="en-US" sz="1140" dirty="0"/>
          </a:p>
        </p:txBody>
      </p:sp>
      <p:sp>
        <p:nvSpPr>
          <p:cNvPr id="10" name="Shape 7"/>
          <p:cNvSpPr/>
          <p:nvPr/>
        </p:nvSpPr>
        <p:spPr>
          <a:xfrm>
            <a:off x="904875" y="1985963"/>
            <a:ext cx="1285875" cy="219075"/>
          </a:xfrm>
          <a:prstGeom prst="roundRect">
            <a:avLst>
              <a:gd name="adj" fmla="val 96000"/>
            </a:avLst>
          </a:prstGeom>
          <a:solidFill>
            <a:srgbClr val="262943"/>
          </a:solidFill>
          <a:ln/>
        </p:spPr>
      </p:sp>
      <p:sp>
        <p:nvSpPr>
          <p:cNvPr id="11" name="Text 8"/>
          <p:cNvSpPr/>
          <p:nvPr/>
        </p:nvSpPr>
        <p:spPr>
          <a:xfrm>
            <a:off x="904875" y="2034421"/>
            <a:ext cx="1285875" cy="47625"/>
          </a:xfrm>
          <a:prstGeom prst="rect">
            <a:avLst/>
          </a:prstGeom>
          <a:noFill/>
          <a:ln/>
        </p:spPr>
        <p:txBody>
          <a:bodyPr wrap="square" lIns="0" tIns="0" rIns="0" bIns="0" rtlCol="0" anchor="t"/>
          <a:lstStyle/>
          <a:p>
            <a:pPr algn="ctr" indent="0" marL="0">
              <a:lnSpc>
                <a:spcPts val="819"/>
              </a:lnSpc>
              <a:buNone/>
            </a:pPr>
            <a:r>
              <a:rPr lang="en-US" sz="677" b="1" dirty="0">
                <a:solidFill>
                  <a:srgbClr val="4CD4D8">
                    <a:alpha val="99000"/>
                  </a:srgbClr>
                </a:solidFill>
                <a:latin typeface="Inter" pitchFamily="34" charset="0"/>
                <a:ea typeface="Inter" pitchFamily="34" charset="-122"/>
                <a:cs typeface="Inter" pitchFamily="34" charset="-120"/>
              </a:rPr>
              <a:t>bloqueado_por_umbral</a:t>
            </a:r>
            <a:endParaRPr lang="en-US" sz="677" dirty="0"/>
          </a:p>
        </p:txBody>
      </p:sp>
      <p:sp>
        <p:nvSpPr>
          <p:cNvPr id="12" name="Shape 9"/>
          <p:cNvSpPr/>
          <p:nvPr/>
        </p:nvSpPr>
        <p:spPr>
          <a:xfrm>
            <a:off x="2309813" y="1985963"/>
            <a:ext cx="714375" cy="219075"/>
          </a:xfrm>
          <a:prstGeom prst="roundRect">
            <a:avLst>
              <a:gd name="adj" fmla="val 96000"/>
            </a:avLst>
          </a:prstGeom>
          <a:solidFill>
            <a:srgbClr val="262943"/>
          </a:solidFill>
          <a:ln/>
        </p:spPr>
      </p:sp>
      <p:sp>
        <p:nvSpPr>
          <p:cNvPr id="13" name="Text 10"/>
          <p:cNvSpPr/>
          <p:nvPr/>
        </p:nvSpPr>
        <p:spPr>
          <a:xfrm>
            <a:off x="2309813" y="2034421"/>
            <a:ext cx="714375" cy="47625"/>
          </a:xfrm>
          <a:prstGeom prst="rect">
            <a:avLst/>
          </a:prstGeom>
          <a:noFill/>
          <a:ln/>
        </p:spPr>
        <p:txBody>
          <a:bodyPr wrap="square" lIns="0" tIns="0" rIns="0" bIns="0" rtlCol="0" anchor="t"/>
          <a:lstStyle/>
          <a:p>
            <a:pPr algn="ctr" indent="0" marL="0">
              <a:lnSpc>
                <a:spcPts val="819"/>
              </a:lnSpc>
              <a:buNone/>
            </a:pPr>
            <a:r>
              <a:rPr lang="en-US" sz="677" b="1" dirty="0">
                <a:solidFill>
                  <a:srgbClr val="4CD4D8">
                    <a:alpha val="99000"/>
                  </a:srgbClr>
                </a:solidFill>
                <a:latin typeface="Inter" pitchFamily="34" charset="0"/>
                <a:ea typeface="Inter" pitchFamily="34" charset="-122"/>
                <a:cs typeface="Inter" pitchFamily="34" charset="-120"/>
              </a:rPr>
              <a:t>sin_vidas</a:t>
            </a:r>
            <a:endParaRPr lang="en-US" sz="677" dirty="0"/>
          </a:p>
        </p:txBody>
      </p:sp>
      <p:sp>
        <p:nvSpPr>
          <p:cNvPr id="14" name="Shape 11"/>
          <p:cNvSpPr/>
          <p:nvPr/>
        </p:nvSpPr>
        <p:spPr>
          <a:xfrm>
            <a:off x="3143250" y="1985963"/>
            <a:ext cx="1428750" cy="219075"/>
          </a:xfrm>
          <a:prstGeom prst="roundRect">
            <a:avLst>
              <a:gd name="adj" fmla="val 96000"/>
            </a:avLst>
          </a:prstGeom>
          <a:solidFill>
            <a:srgbClr val="262943"/>
          </a:solidFill>
          <a:ln/>
        </p:spPr>
      </p:sp>
      <p:sp>
        <p:nvSpPr>
          <p:cNvPr id="15" name="Text 12"/>
          <p:cNvSpPr/>
          <p:nvPr/>
        </p:nvSpPr>
        <p:spPr>
          <a:xfrm>
            <a:off x="3143250" y="2034421"/>
            <a:ext cx="1428750" cy="47625"/>
          </a:xfrm>
          <a:prstGeom prst="rect">
            <a:avLst/>
          </a:prstGeom>
          <a:noFill/>
          <a:ln/>
        </p:spPr>
        <p:txBody>
          <a:bodyPr wrap="square" lIns="0" tIns="0" rIns="0" bIns="0" rtlCol="0" anchor="t"/>
          <a:lstStyle/>
          <a:p>
            <a:pPr algn="ctr" indent="0" marL="0">
              <a:lnSpc>
                <a:spcPts val="819"/>
              </a:lnSpc>
              <a:buNone/>
            </a:pPr>
            <a:r>
              <a:rPr lang="en-US" sz="677" b="1" dirty="0">
                <a:solidFill>
                  <a:srgbClr val="4CD4D8">
                    <a:alpha val="99000"/>
                  </a:srgbClr>
                </a:solidFill>
                <a:latin typeface="Inter" pitchFamily="34" charset="0"/>
                <a:ea typeface="Inter" pitchFamily="34" charset="-122"/>
                <a:cs typeface="Inter" pitchFamily="34" charset="-120"/>
              </a:rPr>
              <a:t>recuperacion_pendiente</a:t>
            </a:r>
            <a:endParaRPr lang="en-US" sz="677" dirty="0"/>
          </a:p>
        </p:txBody>
      </p:sp>
      <p:sp>
        <p:nvSpPr>
          <p:cNvPr id="16" name="Text 13"/>
          <p:cNvSpPr/>
          <p:nvPr/>
        </p:nvSpPr>
        <p:spPr>
          <a:xfrm>
            <a:off x="904875" y="2257425"/>
            <a:ext cx="7239000" cy="47625"/>
          </a:xfrm>
          <a:prstGeom prst="rect">
            <a:avLst/>
          </a:prstGeom>
          <a:noFill/>
          <a:ln/>
        </p:spPr>
        <p:txBody>
          <a:bodyPr wrap="square" lIns="0" tIns="0" rIns="0" bIns="0" rtlCol="0" anchor="t"/>
          <a:lstStyle/>
          <a:p>
            <a:pPr algn="l" indent="0" marL="0">
              <a:lnSpc>
                <a:spcPts val="1140"/>
              </a:lnSpc>
              <a:buNone/>
            </a:pPr>
            <a:r>
              <a:rPr lang="en-US" sz="784" dirty="0">
                <a:solidFill>
                  <a:srgbClr val="9AA0B4">
                    <a:alpha val="99000"/>
                  </a:srgbClr>
                </a:solidFill>
                <a:latin typeface="Inter" pitchFamily="34" charset="0"/>
                <a:ea typeface="Inter" pitchFamily="34" charset="-122"/>
                <a:cs typeface="Inter" pitchFamily="34" charset="-120"/>
              </a:rPr>
              <a:t>Es un gate, no un aviso (Sección 1.3). Con una proyección eventual en el Grupo 9 se habilitan entregas en secciones bloqueadas, y RF-CFG-06 no deja recalcular hacia atrás: el XP mal otorgado queda.</a:t>
            </a:r>
            <a:endParaRPr lang="en-US" sz="784" dirty="0"/>
          </a:p>
        </p:txBody>
      </p:sp>
      <p:sp>
        <p:nvSpPr>
          <p:cNvPr id="17" name="Shape 14"/>
          <p:cNvSpPr/>
          <p:nvPr/>
        </p:nvSpPr>
        <p:spPr>
          <a:xfrm>
            <a:off x="666750" y="2752725"/>
            <a:ext cx="7810500" cy="1524000"/>
          </a:xfrm>
          <a:prstGeom prst="roundRect">
            <a:avLst>
              <a:gd name="adj" fmla="val 12000"/>
            </a:avLst>
          </a:prstGeom>
          <a:solidFill>
            <a:srgbClr val="1B1D2F"/>
          </a:solidFill>
          <a:ln/>
        </p:spPr>
      </p:sp>
      <p:sp>
        <p:nvSpPr>
          <p:cNvPr id="18" name="Shape 15"/>
          <p:cNvSpPr/>
          <p:nvPr/>
        </p:nvSpPr>
        <p:spPr>
          <a:xfrm>
            <a:off x="666750" y="2752725"/>
            <a:ext cx="23813" cy="1524000"/>
          </a:xfrm>
          <a:prstGeom prst="rect">
            <a:avLst/>
          </a:prstGeom>
          <a:solidFill>
            <a:srgbClr val="F5A623"/>
          </a:solidFill>
          <a:ln/>
        </p:spPr>
      </p:sp>
      <p:sp>
        <p:nvSpPr>
          <p:cNvPr id="19" name="Text 16"/>
          <p:cNvSpPr/>
          <p:nvPr/>
        </p:nvSpPr>
        <p:spPr>
          <a:xfrm>
            <a:off x="904875" y="2905125"/>
            <a:ext cx="2386013" cy="119063"/>
          </a:xfrm>
          <a:prstGeom prst="rect">
            <a:avLst/>
          </a:prstGeom>
          <a:noFill/>
          <a:ln/>
        </p:spPr>
        <p:txBody>
          <a:bodyPr wrap="square" lIns="0" tIns="0" rIns="0" bIns="0" rtlCol="0" anchor="t"/>
          <a:lstStyle/>
          <a:p>
            <a:pPr algn="l" indent="0" marL="0">
              <a:lnSpc>
                <a:spcPts val="905"/>
              </a:lnSpc>
              <a:buNone/>
            </a:pPr>
            <a:r>
              <a:rPr lang="en-US" sz="748" b="1" dirty="0">
                <a:solidFill>
                  <a:srgbClr val="F5A623">
                    <a:alpha val="99000"/>
                  </a:srgbClr>
                </a:solidFill>
                <a:latin typeface="Inter" pitchFamily="34" charset="0"/>
                <a:ea typeface="Inter" pitchFamily="34" charset="-122"/>
                <a:cs typeface="Inter" pitchFamily="34" charset="-120"/>
              </a:rPr>
              <a:t>DESPUÉS DE LA ENTREGA · EVENTO, POR EL BUS</a:t>
            </a:r>
            <a:endParaRPr lang="en-US" sz="748" dirty="0"/>
          </a:p>
        </p:txBody>
      </p:sp>
      <p:sp>
        <p:nvSpPr>
          <p:cNvPr id="20" name="Text 17"/>
          <p:cNvSpPr/>
          <p:nvPr/>
        </p:nvSpPr>
        <p:spPr>
          <a:xfrm>
            <a:off x="904875" y="3076575"/>
            <a:ext cx="7239000" cy="47625"/>
          </a:xfrm>
          <a:prstGeom prst="rect">
            <a:avLst/>
          </a:prstGeom>
          <a:noFill/>
          <a:ln/>
        </p:spPr>
        <p:txBody>
          <a:bodyPr wrap="square" lIns="0" tIns="0" rIns="0" bIns="0" rtlCol="0" anchor="t"/>
          <a:lstStyle/>
          <a:p>
            <a:pPr algn="l" indent="0" marL="0">
              <a:lnSpc>
                <a:spcPts val="1425"/>
              </a:lnSpc>
              <a:buNone/>
            </a:pPr>
            <a:r>
              <a:rPr lang="en-US" sz="1069" b="1" dirty="0">
                <a:solidFill>
                  <a:srgbClr val="FFFFFF">
                    <a:alpha val="99000"/>
                  </a:srgbClr>
                </a:solidFill>
                <a:latin typeface="Inter" pitchFamily="34" charset="0"/>
                <a:ea typeface="Inter" pitchFamily="34" charset="-122"/>
                <a:cs typeface="Inter" pitchFamily="34" charset="-120"/>
              </a:rPr>
              <a:t>Motor de desafios publica y no espera a nadie. Nosotros y el Banco escuchamos el mismo evento en paralelo.</a:t>
            </a:r>
            <a:endParaRPr lang="en-US" sz="1069" dirty="0"/>
          </a:p>
        </p:txBody>
      </p:sp>
      <p:sp>
        <p:nvSpPr>
          <p:cNvPr id="21" name="Shape 18"/>
          <p:cNvSpPr/>
          <p:nvPr/>
        </p:nvSpPr>
        <p:spPr>
          <a:xfrm>
            <a:off x="904875" y="3524250"/>
            <a:ext cx="2238375" cy="409575"/>
          </a:xfrm>
          <a:prstGeom prst="roundRect">
            <a:avLst>
              <a:gd name="adj" fmla="val 31256"/>
            </a:avLst>
          </a:prstGeom>
          <a:solidFill>
            <a:srgbClr val="262943"/>
          </a:solidFill>
          <a:ln/>
        </p:spPr>
      </p:sp>
      <p:sp>
        <p:nvSpPr>
          <p:cNvPr id="22" name="Shape 19"/>
          <p:cNvSpPr/>
          <p:nvPr/>
        </p:nvSpPr>
        <p:spPr>
          <a:xfrm>
            <a:off x="904875" y="3524250"/>
            <a:ext cx="19050" cy="409575"/>
          </a:xfrm>
          <a:prstGeom prst="rect">
            <a:avLst/>
          </a:prstGeom>
          <a:solidFill>
            <a:srgbClr val="6B5CE7"/>
          </a:solidFill>
          <a:ln/>
        </p:spPr>
      </p:sp>
      <p:sp>
        <p:nvSpPr>
          <p:cNvPr id="23" name="Text 20"/>
          <p:cNvSpPr/>
          <p:nvPr/>
        </p:nvSpPr>
        <p:spPr>
          <a:xfrm>
            <a:off x="1038225" y="3609975"/>
            <a:ext cx="1095375" cy="133350"/>
          </a:xfrm>
          <a:prstGeom prst="rect">
            <a:avLst/>
          </a:prstGeom>
          <a:noFill/>
          <a:ln/>
        </p:spPr>
        <p:txBody>
          <a:bodyPr wrap="square" lIns="0" tIns="0" rIns="0" bIns="0" rtlCol="0" anchor="t"/>
          <a:lstStyle/>
          <a:p>
            <a:pPr algn="l" indent="0" marL="0">
              <a:lnSpc>
                <a:spcPts val="992"/>
              </a:lnSpc>
              <a:buNone/>
            </a:pPr>
            <a:r>
              <a:rPr lang="en-US" sz="819" b="1" dirty="0">
                <a:solidFill>
                  <a:srgbClr val="6B5CE7">
                    <a:alpha val="99000"/>
                  </a:srgbClr>
                </a:solidFill>
                <a:latin typeface="Inter" pitchFamily="34" charset="0"/>
                <a:ea typeface="Inter" pitchFamily="34" charset="-122"/>
                <a:cs typeface="Inter" pitchFamily="34" charset="-120"/>
              </a:rPr>
              <a:t>Grupo 10 (Roadmap)</a:t>
            </a:r>
            <a:endParaRPr lang="en-US" sz="819" dirty="0"/>
          </a:p>
        </p:txBody>
      </p:sp>
      <p:sp>
        <p:nvSpPr>
          <p:cNvPr id="24" name="Text 21"/>
          <p:cNvSpPr/>
          <p:nvPr/>
        </p:nvSpPr>
        <p:spPr>
          <a:xfrm>
            <a:off x="1038225" y="3762375"/>
            <a:ext cx="1952625"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deriva el XP y el efecto sobre el progreso</a:t>
            </a:r>
            <a:endParaRPr lang="en-US" sz="677" dirty="0"/>
          </a:p>
        </p:txBody>
      </p:sp>
      <p:sp>
        <p:nvSpPr>
          <p:cNvPr id="25" name="Shape 22"/>
          <p:cNvSpPr/>
          <p:nvPr/>
        </p:nvSpPr>
        <p:spPr>
          <a:xfrm>
            <a:off x="3333750" y="3524250"/>
            <a:ext cx="2238375" cy="409575"/>
          </a:xfrm>
          <a:prstGeom prst="roundRect">
            <a:avLst>
              <a:gd name="adj" fmla="val 31256"/>
            </a:avLst>
          </a:prstGeom>
          <a:solidFill>
            <a:srgbClr val="262943"/>
          </a:solidFill>
          <a:ln/>
        </p:spPr>
      </p:sp>
      <p:sp>
        <p:nvSpPr>
          <p:cNvPr id="26" name="Shape 23"/>
          <p:cNvSpPr/>
          <p:nvPr/>
        </p:nvSpPr>
        <p:spPr>
          <a:xfrm>
            <a:off x="3333750" y="3524250"/>
            <a:ext cx="19050" cy="409575"/>
          </a:xfrm>
          <a:prstGeom prst="rect">
            <a:avLst/>
          </a:prstGeom>
          <a:solidFill>
            <a:srgbClr val="F5A623"/>
          </a:solidFill>
          <a:ln/>
        </p:spPr>
      </p:sp>
      <p:sp>
        <p:nvSpPr>
          <p:cNvPr id="27" name="Text 24"/>
          <p:cNvSpPr/>
          <p:nvPr/>
        </p:nvSpPr>
        <p:spPr>
          <a:xfrm>
            <a:off x="3467100" y="3609975"/>
            <a:ext cx="923925" cy="133350"/>
          </a:xfrm>
          <a:prstGeom prst="rect">
            <a:avLst/>
          </a:prstGeom>
          <a:noFill/>
          <a:ln/>
        </p:spPr>
        <p:txBody>
          <a:bodyPr wrap="square" lIns="0" tIns="0" rIns="0" bIns="0" rtlCol="0" anchor="t"/>
          <a:lstStyle/>
          <a:p>
            <a:pPr algn="l" indent="0" marL="0">
              <a:lnSpc>
                <a:spcPts val="992"/>
              </a:lnSpc>
              <a:buNone/>
            </a:pPr>
            <a:r>
              <a:rPr lang="en-US" sz="819" b="1" dirty="0">
                <a:solidFill>
                  <a:srgbClr val="F5A623">
                    <a:alpha val="99000"/>
                  </a:srgbClr>
                </a:solidFill>
                <a:latin typeface="Inter" pitchFamily="34" charset="0"/>
                <a:ea typeface="Inter" pitchFamily="34" charset="-122"/>
                <a:cs typeface="Inter" pitchFamily="34" charset="-120"/>
              </a:rPr>
              <a:t>Grupo 12 (Banco)</a:t>
            </a:r>
            <a:endParaRPr lang="en-US" sz="819" dirty="0"/>
          </a:p>
        </p:txBody>
      </p:sp>
      <p:sp>
        <p:nvSpPr>
          <p:cNvPr id="28" name="Text 25"/>
          <p:cNvSpPr/>
          <p:nvPr/>
        </p:nvSpPr>
        <p:spPr>
          <a:xfrm>
            <a:off x="3467100" y="3762375"/>
            <a:ext cx="1952625"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acredita las monedas (PAR-03)</a:t>
            </a:r>
            <a:endParaRPr lang="en-US" sz="677" dirty="0"/>
          </a:p>
        </p:txBody>
      </p:sp>
      <p:sp>
        <p:nvSpPr>
          <p:cNvPr id="29" name="Text 26"/>
          <p:cNvSpPr/>
          <p:nvPr/>
        </p:nvSpPr>
        <p:spPr>
          <a:xfrm>
            <a:off x="904875" y="3981450"/>
            <a:ext cx="7239000" cy="47625"/>
          </a:xfrm>
          <a:prstGeom prst="rect">
            <a:avLst/>
          </a:prstGeom>
          <a:noFill/>
          <a:ln/>
        </p:spPr>
        <p:txBody>
          <a:bodyPr wrap="square" lIns="0" tIns="0" rIns="0" bIns="0" rtlCol="0" anchor="t"/>
          <a:lstStyle/>
          <a:p>
            <a:pPr algn="l" indent="0" marL="0">
              <a:lnSpc>
                <a:spcPts val="1069"/>
              </a:lnSpc>
              <a:buNone/>
            </a:pPr>
            <a:r>
              <a:rPr lang="en-US" sz="748" dirty="0">
                <a:solidFill>
                  <a:srgbClr val="9AA0B4">
                    <a:alpha val="99000"/>
                  </a:srgbClr>
                </a:solidFill>
                <a:latin typeface="Inter" pitchFamily="34" charset="0"/>
                <a:ea typeface="Inter" pitchFamily="34" charset="-122"/>
                <a:cs typeface="Inter" pitchFamily="34" charset="-120"/>
              </a:rPr>
              <a:t>No mediamos entre ellos. Y como el mismo evento tiene dos consumidores con lógicas distintas, no puede traer el XP ya calculado: trae mediciones, y cada uno aplica sus propias tasas.</a:t>
            </a:r>
            <a:endParaRPr lang="en-US" sz="748" dirty="0"/>
          </a:p>
        </p:txBody>
      </p:sp>
      <p:sp>
        <p:nvSpPr>
          <p:cNvPr id="30" name="Text 27"/>
          <p:cNvSpPr/>
          <p:nvPr/>
        </p:nvSpPr>
        <p:spPr>
          <a:xfrm>
            <a:off x="666750" y="4381500"/>
            <a:ext cx="7810500" cy="47625"/>
          </a:xfrm>
          <a:prstGeom prst="rect">
            <a:avLst/>
          </a:prstGeom>
          <a:noFill/>
          <a:ln/>
        </p:spPr>
        <p:txBody>
          <a:bodyPr wrap="square" lIns="0" tIns="0" rIns="0" bIns="0" rtlCol="0" anchor="t"/>
          <a:lstStyle/>
          <a:p>
            <a:pPr algn="l" indent="0" marL="0">
              <a:lnSpc>
                <a:spcPts val="1211"/>
              </a:lnSpc>
              <a:buNone/>
            </a:pPr>
            <a:r>
              <a:rPr lang="en-US" sz="855" dirty="0">
                <a:solidFill>
                  <a:srgbClr val="4CD4D8">
                    <a:alpha val="99000"/>
                  </a:srgbClr>
                </a:solidFill>
                <a:latin typeface="Inter" pitchFamily="34" charset="0"/>
                <a:ea typeface="Inter" pitchFamily="34" charset="-122"/>
                <a:cs typeface="Inter" pitchFamily="34" charset="-120"/>
              </a:rPr>
              <a:t>Lámina 4.3: si el 04 o el 05 pudieran otorgar XP por su cuenta, las reglas de la economía quedarían escritas en tres lugares.</a:t>
            </a:r>
            <a:endParaRPr lang="en-US" sz="855" dirty="0"/>
          </a:p>
        </p:txBody>
      </p:sp>
      <p:sp>
        <p:nvSpPr>
          <p:cNvPr id="31" name="Text 28"/>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32" name="Text 29"/>
          <p:cNvSpPr/>
          <p:nvPr/>
        </p:nvSpPr>
        <p:spPr>
          <a:xfrm>
            <a:off x="8286750" y="4705350"/>
            <a:ext cx="119063"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08</a:t>
            </a:r>
            <a:endParaRPr lang="en-US" sz="67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452438"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FLUJO 2</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El alumno se queda sin vidas</a:t>
            </a:r>
            <a:endParaRPr lang="en-US" sz="1995" dirty="0"/>
          </a:p>
        </p:txBody>
      </p:sp>
      <p:sp>
        <p:nvSpPr>
          <p:cNvPr id="6" name="Shape 3"/>
          <p:cNvSpPr/>
          <p:nvPr/>
        </p:nvSpPr>
        <p:spPr>
          <a:xfrm>
            <a:off x="666750" y="1323975"/>
            <a:ext cx="1428750" cy="1409700"/>
          </a:xfrm>
          <a:prstGeom prst="roundRect">
            <a:avLst>
              <a:gd name="adj" fmla="val 11676"/>
            </a:avLst>
          </a:prstGeom>
          <a:solidFill>
            <a:srgbClr val="1B1D2F"/>
          </a:solidFill>
          <a:ln/>
        </p:spPr>
      </p:sp>
      <p:sp>
        <p:nvSpPr>
          <p:cNvPr id="7" name="Shape 4"/>
          <p:cNvSpPr/>
          <p:nvPr/>
        </p:nvSpPr>
        <p:spPr>
          <a:xfrm>
            <a:off x="819150" y="1476375"/>
            <a:ext cx="219075" cy="219075"/>
          </a:xfrm>
          <a:prstGeom prst="roundRect">
            <a:avLst>
              <a:gd name="adj" fmla="val 96000"/>
            </a:avLst>
          </a:prstGeom>
          <a:solidFill>
            <a:srgbClr val="201C44"/>
          </a:solidFill>
          <a:ln/>
        </p:spPr>
      </p:sp>
      <p:sp>
        <p:nvSpPr>
          <p:cNvPr id="8" name="Text 5"/>
          <p:cNvSpPr/>
          <p:nvPr/>
        </p:nvSpPr>
        <p:spPr>
          <a:xfrm>
            <a:off x="819150" y="1524000"/>
            <a:ext cx="219075" cy="47625"/>
          </a:xfrm>
          <a:prstGeom prst="rect">
            <a:avLst/>
          </a:prstGeom>
          <a:noFill/>
          <a:ln/>
        </p:spPr>
        <p:txBody>
          <a:bodyPr wrap="square" lIns="0" tIns="0" rIns="0" bIns="0" rtlCol="0" anchor="t"/>
          <a:lstStyle/>
          <a:p>
            <a:pPr algn="ctr" indent="0" marL="0">
              <a:lnSpc>
                <a:spcPts val="949"/>
              </a:lnSpc>
              <a:buNone/>
            </a:pPr>
            <a:r>
              <a:rPr lang="en-US" sz="784" b="1" dirty="0">
                <a:solidFill>
                  <a:srgbClr val="6B5CE7">
                    <a:alpha val="99000"/>
                  </a:srgbClr>
                </a:solidFill>
                <a:latin typeface="Inter" pitchFamily="34" charset="0"/>
                <a:ea typeface="Inter" pitchFamily="34" charset="-122"/>
                <a:cs typeface="Inter" pitchFamily="34" charset="-120"/>
              </a:rPr>
              <a:t>1</a:t>
            </a:r>
            <a:endParaRPr lang="en-US" sz="784" dirty="0"/>
          </a:p>
        </p:txBody>
      </p:sp>
      <p:sp>
        <p:nvSpPr>
          <p:cNvPr id="9" name="Text 6"/>
          <p:cNvSpPr/>
          <p:nvPr/>
        </p:nvSpPr>
        <p:spPr>
          <a:xfrm>
            <a:off x="819150" y="1809750"/>
            <a:ext cx="1123950" cy="47625"/>
          </a:xfrm>
          <a:prstGeom prst="rect">
            <a:avLst/>
          </a:prstGeom>
          <a:noFill/>
          <a:ln/>
        </p:spPr>
        <p:txBody>
          <a:bodyPr wrap="square" lIns="0" tIns="0" rIns="0" bIns="0" rtlCol="0" anchor="t"/>
          <a:lstStyle/>
          <a:p>
            <a:pPr algn="l" indent="0" marL="0">
              <a:lnSpc>
                <a:spcPts val="1140"/>
              </a:lnSpc>
              <a:buNone/>
            </a:pPr>
            <a:r>
              <a:rPr lang="en-US" sz="855" b="1" dirty="0">
                <a:solidFill>
                  <a:srgbClr val="FFFFFF">
                    <a:alpha val="99000"/>
                  </a:srgbClr>
                </a:solidFill>
                <a:latin typeface="Inter" pitchFamily="34" charset="0"/>
                <a:ea typeface="Inter" pitchFamily="34" charset="-122"/>
                <a:cs typeface="Inter" pitchFamily="34" charset="-120"/>
              </a:rPr>
              <a:t>Falla con los reintentos agotados</a:t>
            </a:r>
            <a:endParaRPr lang="en-US" sz="855" dirty="0"/>
          </a:p>
        </p:txBody>
      </p:sp>
      <p:sp>
        <p:nvSpPr>
          <p:cNvPr id="10" name="Text 7"/>
          <p:cNvSpPr/>
          <p:nvPr/>
        </p:nvSpPr>
        <p:spPr>
          <a:xfrm>
            <a:off x="819150" y="2190750"/>
            <a:ext cx="1123950"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Descontamos 1 vida (RF-DES-07)</a:t>
            </a:r>
            <a:endParaRPr lang="en-US" sz="677" dirty="0"/>
          </a:p>
        </p:txBody>
      </p:sp>
      <p:sp>
        <p:nvSpPr>
          <p:cNvPr id="11" name="Text 8"/>
          <p:cNvSpPr/>
          <p:nvPr/>
        </p:nvSpPr>
        <p:spPr>
          <a:xfrm>
            <a:off x="819150" y="2533650"/>
            <a:ext cx="342900" cy="90488"/>
          </a:xfrm>
          <a:prstGeom prst="rect">
            <a:avLst/>
          </a:prstGeom>
          <a:noFill/>
          <a:ln/>
        </p:spPr>
        <p:txBody>
          <a:bodyPr wrap="square" lIns="0" tIns="0" rIns="0" bIns="0" rtlCol="0" anchor="t"/>
          <a:lstStyle/>
          <a:p>
            <a:pPr algn="l" indent="0" marL="0">
              <a:lnSpc>
                <a:spcPts val="690"/>
              </a:lnSpc>
              <a:buNone/>
            </a:pPr>
            <a:r>
              <a:rPr lang="en-US" sz="570" dirty="0">
                <a:solidFill>
                  <a:srgbClr val="6B5CE7">
                    <a:alpha val="99000"/>
                  </a:srgbClr>
                </a:solidFill>
                <a:latin typeface="Inter" pitchFamily="34" charset="0"/>
                <a:ea typeface="Inter" pitchFamily="34" charset="-122"/>
                <a:cs typeface="Inter" pitchFamily="34" charset="-120"/>
              </a:rPr>
              <a:t>Roadmap</a:t>
            </a:r>
            <a:endParaRPr lang="en-US" sz="570" dirty="0"/>
          </a:p>
        </p:txBody>
      </p:sp>
      <p:sp>
        <p:nvSpPr>
          <p:cNvPr id="12" name="Shape 9"/>
          <p:cNvSpPr/>
          <p:nvPr/>
        </p:nvSpPr>
        <p:spPr>
          <a:xfrm>
            <a:off x="2262188" y="1323975"/>
            <a:ext cx="1428750" cy="1409700"/>
          </a:xfrm>
          <a:prstGeom prst="roundRect">
            <a:avLst>
              <a:gd name="adj" fmla="val 11676"/>
            </a:avLst>
          </a:prstGeom>
          <a:solidFill>
            <a:srgbClr val="1B1D2F"/>
          </a:solidFill>
          <a:ln/>
        </p:spPr>
      </p:sp>
      <p:sp>
        <p:nvSpPr>
          <p:cNvPr id="13" name="Shape 10"/>
          <p:cNvSpPr/>
          <p:nvPr/>
        </p:nvSpPr>
        <p:spPr>
          <a:xfrm>
            <a:off x="2414588" y="1476375"/>
            <a:ext cx="219075" cy="219075"/>
          </a:xfrm>
          <a:prstGeom prst="roundRect">
            <a:avLst>
              <a:gd name="adj" fmla="val 96000"/>
            </a:avLst>
          </a:prstGeom>
          <a:solidFill>
            <a:srgbClr val="37250B"/>
          </a:solidFill>
          <a:ln/>
        </p:spPr>
      </p:sp>
      <p:sp>
        <p:nvSpPr>
          <p:cNvPr id="14" name="Text 11"/>
          <p:cNvSpPr/>
          <p:nvPr/>
        </p:nvSpPr>
        <p:spPr>
          <a:xfrm>
            <a:off x="2414588" y="1524000"/>
            <a:ext cx="219075" cy="47625"/>
          </a:xfrm>
          <a:prstGeom prst="rect">
            <a:avLst/>
          </a:prstGeom>
          <a:noFill/>
          <a:ln/>
        </p:spPr>
        <p:txBody>
          <a:bodyPr wrap="square" lIns="0" tIns="0" rIns="0" bIns="0" rtlCol="0" anchor="t"/>
          <a:lstStyle/>
          <a:p>
            <a:pPr algn="ctr" indent="0" marL="0">
              <a:lnSpc>
                <a:spcPts val="949"/>
              </a:lnSpc>
              <a:buNone/>
            </a:pPr>
            <a:r>
              <a:rPr lang="en-US" sz="784" b="1" dirty="0">
                <a:solidFill>
                  <a:srgbClr val="F5A623">
                    <a:alpha val="99000"/>
                  </a:srgbClr>
                </a:solidFill>
                <a:latin typeface="Inter" pitchFamily="34" charset="0"/>
                <a:ea typeface="Inter" pitchFamily="34" charset="-122"/>
                <a:cs typeface="Inter" pitchFamily="34" charset="-120"/>
              </a:rPr>
              <a:t>2</a:t>
            </a:r>
            <a:endParaRPr lang="en-US" sz="784" dirty="0"/>
          </a:p>
        </p:txBody>
      </p:sp>
      <p:sp>
        <p:nvSpPr>
          <p:cNvPr id="15" name="Text 12"/>
          <p:cNvSpPr/>
          <p:nvPr/>
        </p:nvSpPr>
        <p:spPr>
          <a:xfrm>
            <a:off x="2414588" y="1809750"/>
            <a:ext cx="1123950" cy="47625"/>
          </a:xfrm>
          <a:prstGeom prst="rect">
            <a:avLst/>
          </a:prstGeom>
          <a:noFill/>
          <a:ln/>
        </p:spPr>
        <p:txBody>
          <a:bodyPr wrap="square" lIns="0" tIns="0" rIns="0" bIns="0" rtlCol="0" anchor="t"/>
          <a:lstStyle/>
          <a:p>
            <a:pPr algn="l" indent="0" marL="0">
              <a:lnSpc>
                <a:spcPts val="1140"/>
              </a:lnSpc>
              <a:buNone/>
            </a:pPr>
            <a:r>
              <a:rPr lang="en-US" sz="855" b="1" dirty="0">
                <a:solidFill>
                  <a:srgbClr val="FFFFFF">
                    <a:alpha val="99000"/>
                  </a:srgbClr>
                </a:solidFill>
                <a:latin typeface="Inter" pitchFamily="34" charset="0"/>
                <a:ea typeface="Inter" pitchFamily="34" charset="-122"/>
                <a:cs typeface="Inter" pitchFamily="34" charset="-120"/>
              </a:rPr>
              <a:t>Llega a 0 vidas</a:t>
            </a:r>
            <a:endParaRPr lang="en-US" sz="855" dirty="0"/>
          </a:p>
        </p:txBody>
      </p:sp>
      <p:sp>
        <p:nvSpPr>
          <p:cNvPr id="16" name="Text 13"/>
          <p:cNvSpPr/>
          <p:nvPr/>
        </p:nvSpPr>
        <p:spPr>
          <a:xfrm>
            <a:off x="2414588" y="2190750"/>
            <a:ext cx="1123950"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Publicamos progreso.vidas.agotadas</a:t>
            </a:r>
            <a:endParaRPr lang="en-US" sz="677" dirty="0"/>
          </a:p>
        </p:txBody>
      </p:sp>
      <p:sp>
        <p:nvSpPr>
          <p:cNvPr id="17" name="Text 14"/>
          <p:cNvSpPr/>
          <p:nvPr/>
        </p:nvSpPr>
        <p:spPr>
          <a:xfrm>
            <a:off x="2414588" y="2533650"/>
            <a:ext cx="314325" cy="90488"/>
          </a:xfrm>
          <a:prstGeom prst="rect">
            <a:avLst/>
          </a:prstGeom>
          <a:noFill/>
          <a:ln/>
        </p:spPr>
        <p:txBody>
          <a:bodyPr wrap="square" lIns="0" tIns="0" rIns="0" bIns="0" rtlCol="0" anchor="t"/>
          <a:lstStyle/>
          <a:p>
            <a:pPr algn="l" indent="0" marL="0">
              <a:lnSpc>
                <a:spcPts val="690"/>
              </a:lnSpc>
              <a:buNone/>
            </a:pPr>
            <a:r>
              <a:rPr lang="en-US" sz="570" b="1" dirty="0">
                <a:solidFill>
                  <a:srgbClr val="F5A623">
                    <a:alpha val="99000"/>
                  </a:srgbClr>
                </a:solidFill>
                <a:latin typeface="Inter" pitchFamily="34" charset="0"/>
                <a:ea typeface="Inter" pitchFamily="34" charset="-122"/>
                <a:cs typeface="Inter" pitchFamily="34" charset="-120"/>
              </a:rPr>
              <a:t>EVENTO</a:t>
            </a:r>
            <a:endParaRPr lang="en-US" sz="570" dirty="0"/>
          </a:p>
        </p:txBody>
      </p:sp>
      <p:sp>
        <p:nvSpPr>
          <p:cNvPr id="18" name="Shape 15"/>
          <p:cNvSpPr/>
          <p:nvPr/>
        </p:nvSpPr>
        <p:spPr>
          <a:xfrm>
            <a:off x="3857625" y="1323975"/>
            <a:ext cx="1428750" cy="1409700"/>
          </a:xfrm>
          <a:prstGeom prst="roundRect">
            <a:avLst>
              <a:gd name="adj" fmla="val 11676"/>
            </a:avLst>
          </a:prstGeom>
          <a:solidFill>
            <a:srgbClr val="1B1D2F"/>
          </a:solidFill>
          <a:ln/>
        </p:spPr>
      </p:sp>
      <p:sp>
        <p:nvSpPr>
          <p:cNvPr id="19" name="Shape 16"/>
          <p:cNvSpPr/>
          <p:nvPr/>
        </p:nvSpPr>
        <p:spPr>
          <a:xfrm>
            <a:off x="4010025" y="1476375"/>
            <a:ext cx="219075" cy="219075"/>
          </a:xfrm>
          <a:prstGeom prst="roundRect">
            <a:avLst>
              <a:gd name="adj" fmla="val 96000"/>
            </a:avLst>
          </a:prstGeom>
          <a:solidFill>
            <a:srgbClr val="10321E"/>
          </a:solidFill>
          <a:ln/>
        </p:spPr>
      </p:sp>
      <p:sp>
        <p:nvSpPr>
          <p:cNvPr id="20" name="Text 17"/>
          <p:cNvSpPr/>
          <p:nvPr/>
        </p:nvSpPr>
        <p:spPr>
          <a:xfrm>
            <a:off x="4010025" y="1524000"/>
            <a:ext cx="219075" cy="47625"/>
          </a:xfrm>
          <a:prstGeom prst="rect">
            <a:avLst/>
          </a:prstGeom>
          <a:noFill/>
          <a:ln/>
        </p:spPr>
        <p:txBody>
          <a:bodyPr wrap="square" lIns="0" tIns="0" rIns="0" bIns="0" rtlCol="0" anchor="t"/>
          <a:lstStyle/>
          <a:p>
            <a:pPr algn="ctr" indent="0" marL="0">
              <a:lnSpc>
                <a:spcPts val="949"/>
              </a:lnSpc>
              <a:buNone/>
            </a:pPr>
            <a:r>
              <a:rPr lang="en-US" sz="784" b="1" dirty="0">
                <a:solidFill>
                  <a:srgbClr val="4ADE80">
                    <a:alpha val="99000"/>
                  </a:srgbClr>
                </a:solidFill>
                <a:latin typeface="Inter" pitchFamily="34" charset="0"/>
                <a:ea typeface="Inter" pitchFamily="34" charset="-122"/>
                <a:cs typeface="Inter" pitchFamily="34" charset="-120"/>
              </a:rPr>
              <a:t>3</a:t>
            </a:r>
            <a:endParaRPr lang="en-US" sz="784" dirty="0"/>
          </a:p>
        </p:txBody>
      </p:sp>
      <p:sp>
        <p:nvSpPr>
          <p:cNvPr id="21" name="Text 18"/>
          <p:cNvSpPr/>
          <p:nvPr/>
        </p:nvSpPr>
        <p:spPr>
          <a:xfrm>
            <a:off x="4010025" y="1781175"/>
            <a:ext cx="1123950" cy="47625"/>
          </a:xfrm>
          <a:prstGeom prst="rect">
            <a:avLst/>
          </a:prstGeom>
          <a:noFill/>
          <a:ln/>
        </p:spPr>
        <p:txBody>
          <a:bodyPr wrap="square" lIns="0" tIns="0" rIns="0" bIns="0" rtlCol="0" anchor="t"/>
          <a:lstStyle/>
          <a:p>
            <a:pPr algn="l" indent="0" marL="0">
              <a:lnSpc>
                <a:spcPts val="1140"/>
              </a:lnSpc>
              <a:buNone/>
            </a:pPr>
            <a:r>
              <a:rPr lang="en-US" sz="855" b="1" dirty="0">
                <a:solidFill>
                  <a:srgbClr val="FFFFFF">
                    <a:alpha val="99000"/>
                  </a:srgbClr>
                </a:solidFill>
                <a:latin typeface="Inter" pitchFamily="34" charset="0"/>
                <a:ea typeface="Inter" pitchFamily="34" charset="-122"/>
                <a:cs typeface="Inter" pitchFamily="34" charset="-120"/>
              </a:rPr>
              <a:t>Motor de desafios elige del pool</a:t>
            </a:r>
            <a:endParaRPr lang="en-US" sz="855" dirty="0"/>
          </a:p>
        </p:txBody>
      </p:sp>
      <p:sp>
        <p:nvSpPr>
          <p:cNvPr id="22" name="Text 19"/>
          <p:cNvSpPr/>
          <p:nvPr/>
        </p:nvSpPr>
        <p:spPr>
          <a:xfrm>
            <a:off x="4010025" y="2128838"/>
            <a:ext cx="1123950"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Prioriza los que el alumno no resolvió antes (RF-REC-06)</a:t>
            </a:r>
            <a:endParaRPr lang="en-US" sz="677" dirty="0"/>
          </a:p>
        </p:txBody>
      </p:sp>
      <p:sp>
        <p:nvSpPr>
          <p:cNvPr id="23" name="Text 20"/>
          <p:cNvSpPr/>
          <p:nvPr/>
        </p:nvSpPr>
        <p:spPr>
          <a:xfrm>
            <a:off x="4010025" y="2533650"/>
            <a:ext cx="671513" cy="90488"/>
          </a:xfrm>
          <a:prstGeom prst="rect">
            <a:avLst/>
          </a:prstGeom>
          <a:noFill/>
          <a:ln/>
        </p:spPr>
        <p:txBody>
          <a:bodyPr wrap="square" lIns="0" tIns="0" rIns="0" bIns="0" rtlCol="0" anchor="t"/>
          <a:lstStyle/>
          <a:p>
            <a:pPr algn="l" indent="0" marL="0">
              <a:lnSpc>
                <a:spcPts val="690"/>
              </a:lnSpc>
              <a:buNone/>
            </a:pPr>
            <a:r>
              <a:rPr lang="en-US" sz="570" b="1" dirty="0">
                <a:solidFill>
                  <a:srgbClr val="4ADE80">
                    <a:alpha val="99000"/>
                  </a:srgbClr>
                </a:solidFill>
                <a:latin typeface="Inter" pitchFamily="34" charset="0"/>
                <a:ea typeface="Inter" pitchFamily="34" charset="-122"/>
                <a:cs typeface="Inter" pitchFamily="34" charset="-120"/>
              </a:rPr>
              <a:t>Motor de desafios</a:t>
            </a:r>
            <a:endParaRPr lang="en-US" sz="570" dirty="0"/>
          </a:p>
        </p:txBody>
      </p:sp>
      <p:sp>
        <p:nvSpPr>
          <p:cNvPr id="24" name="Shape 21"/>
          <p:cNvSpPr/>
          <p:nvPr/>
        </p:nvSpPr>
        <p:spPr>
          <a:xfrm>
            <a:off x="5453063" y="1323975"/>
            <a:ext cx="1428750" cy="1409700"/>
          </a:xfrm>
          <a:prstGeom prst="roundRect">
            <a:avLst>
              <a:gd name="adj" fmla="val 11676"/>
            </a:avLst>
          </a:prstGeom>
          <a:solidFill>
            <a:srgbClr val="1B1D2F"/>
          </a:solidFill>
          <a:ln/>
        </p:spPr>
      </p:sp>
      <p:sp>
        <p:nvSpPr>
          <p:cNvPr id="25" name="Shape 22"/>
          <p:cNvSpPr/>
          <p:nvPr/>
        </p:nvSpPr>
        <p:spPr>
          <a:xfrm>
            <a:off x="5605463" y="1476375"/>
            <a:ext cx="219075" cy="219075"/>
          </a:xfrm>
          <a:prstGeom prst="roundRect">
            <a:avLst>
              <a:gd name="adj" fmla="val 96000"/>
            </a:avLst>
          </a:prstGeom>
          <a:solidFill>
            <a:srgbClr val="0E2E32"/>
          </a:solidFill>
          <a:ln/>
        </p:spPr>
      </p:sp>
      <p:sp>
        <p:nvSpPr>
          <p:cNvPr id="26" name="Text 23"/>
          <p:cNvSpPr/>
          <p:nvPr/>
        </p:nvSpPr>
        <p:spPr>
          <a:xfrm>
            <a:off x="5605463" y="1524000"/>
            <a:ext cx="219075" cy="47625"/>
          </a:xfrm>
          <a:prstGeom prst="rect">
            <a:avLst/>
          </a:prstGeom>
          <a:noFill/>
          <a:ln/>
        </p:spPr>
        <p:txBody>
          <a:bodyPr wrap="square" lIns="0" tIns="0" rIns="0" bIns="0" rtlCol="0" anchor="t"/>
          <a:lstStyle/>
          <a:p>
            <a:pPr algn="ctr" indent="0" marL="0">
              <a:lnSpc>
                <a:spcPts val="949"/>
              </a:lnSpc>
              <a:buNone/>
            </a:pPr>
            <a:r>
              <a:rPr lang="en-US" sz="784" b="1" dirty="0">
                <a:solidFill>
                  <a:srgbClr val="4CD4D8">
                    <a:alpha val="99000"/>
                  </a:srgbClr>
                </a:solidFill>
                <a:latin typeface="Inter" pitchFamily="34" charset="0"/>
                <a:ea typeface="Inter" pitchFamily="34" charset="-122"/>
                <a:cs typeface="Inter" pitchFamily="34" charset="-120"/>
              </a:rPr>
              <a:t>4</a:t>
            </a:r>
            <a:endParaRPr lang="en-US" sz="784" dirty="0"/>
          </a:p>
        </p:txBody>
      </p:sp>
      <p:sp>
        <p:nvSpPr>
          <p:cNvPr id="27" name="Text 24"/>
          <p:cNvSpPr/>
          <p:nvPr/>
        </p:nvSpPr>
        <p:spPr>
          <a:xfrm>
            <a:off x="5605463" y="1809750"/>
            <a:ext cx="1123950" cy="47625"/>
          </a:xfrm>
          <a:prstGeom prst="rect">
            <a:avLst/>
          </a:prstGeom>
          <a:noFill/>
          <a:ln/>
        </p:spPr>
        <p:txBody>
          <a:bodyPr wrap="square" lIns="0" tIns="0" rIns="0" bIns="0" rtlCol="0" anchor="t"/>
          <a:lstStyle/>
          <a:p>
            <a:pPr algn="l" indent="0" marL="0">
              <a:lnSpc>
                <a:spcPts val="1140"/>
              </a:lnSpc>
              <a:buNone/>
            </a:pPr>
            <a:r>
              <a:rPr lang="en-US" sz="855" b="1" dirty="0">
                <a:solidFill>
                  <a:srgbClr val="FFFFFF">
                    <a:alpha val="99000"/>
                  </a:srgbClr>
                </a:solidFill>
                <a:latin typeface="Inter" pitchFamily="34" charset="0"/>
                <a:ea typeface="Inter" pitchFamily="34" charset="-122"/>
                <a:cs typeface="Inter" pitchFamily="34" charset="-120"/>
              </a:rPr>
              <a:t>Intenta tomar otro desafío</a:t>
            </a:r>
            <a:endParaRPr lang="en-US" sz="855" dirty="0"/>
          </a:p>
        </p:txBody>
      </p:sp>
      <p:sp>
        <p:nvSpPr>
          <p:cNvPr id="28" name="Text 25"/>
          <p:cNvSpPr/>
          <p:nvPr/>
        </p:nvSpPr>
        <p:spPr>
          <a:xfrm>
            <a:off x="5605463" y="2190750"/>
            <a:ext cx="1123950"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Rebota contra nuestro gate con motivo sin_vidas</a:t>
            </a:r>
            <a:endParaRPr lang="en-US" sz="677" dirty="0"/>
          </a:p>
        </p:txBody>
      </p:sp>
      <p:sp>
        <p:nvSpPr>
          <p:cNvPr id="29" name="Text 26"/>
          <p:cNvSpPr/>
          <p:nvPr/>
        </p:nvSpPr>
        <p:spPr>
          <a:xfrm>
            <a:off x="5605463" y="2533650"/>
            <a:ext cx="409575" cy="90488"/>
          </a:xfrm>
          <a:prstGeom prst="rect">
            <a:avLst/>
          </a:prstGeom>
          <a:noFill/>
          <a:ln/>
        </p:spPr>
        <p:txBody>
          <a:bodyPr wrap="square" lIns="0" tIns="0" rIns="0" bIns="0" rtlCol="0" anchor="t"/>
          <a:lstStyle/>
          <a:p>
            <a:pPr algn="l" indent="0" marL="0">
              <a:lnSpc>
                <a:spcPts val="690"/>
              </a:lnSpc>
              <a:buNone/>
            </a:pPr>
            <a:r>
              <a:rPr lang="en-US" sz="570" b="1" dirty="0">
                <a:solidFill>
                  <a:srgbClr val="4CD4D8">
                    <a:alpha val="99000"/>
                  </a:srgbClr>
                </a:solidFill>
                <a:latin typeface="Inter" pitchFamily="34" charset="0"/>
                <a:ea typeface="Inter" pitchFamily="34" charset="-122"/>
                <a:cs typeface="Inter" pitchFamily="34" charset="-120"/>
              </a:rPr>
              <a:t>SÍNCRONO</a:t>
            </a:r>
            <a:endParaRPr lang="en-US" sz="570" dirty="0"/>
          </a:p>
        </p:txBody>
      </p:sp>
      <p:sp>
        <p:nvSpPr>
          <p:cNvPr id="30" name="Shape 27"/>
          <p:cNvSpPr/>
          <p:nvPr/>
        </p:nvSpPr>
        <p:spPr>
          <a:xfrm>
            <a:off x="7048500" y="1323975"/>
            <a:ext cx="1428750" cy="1409700"/>
          </a:xfrm>
          <a:prstGeom prst="roundRect">
            <a:avLst>
              <a:gd name="adj" fmla="val 11676"/>
            </a:avLst>
          </a:prstGeom>
          <a:solidFill>
            <a:srgbClr val="1B1D2F"/>
          </a:solidFill>
          <a:ln/>
        </p:spPr>
      </p:sp>
      <p:sp>
        <p:nvSpPr>
          <p:cNvPr id="31" name="Shape 28"/>
          <p:cNvSpPr/>
          <p:nvPr/>
        </p:nvSpPr>
        <p:spPr>
          <a:xfrm>
            <a:off x="7200900" y="1476375"/>
            <a:ext cx="219075" cy="219075"/>
          </a:xfrm>
          <a:prstGeom prst="roundRect">
            <a:avLst>
              <a:gd name="adj" fmla="val 96000"/>
            </a:avLst>
          </a:prstGeom>
          <a:solidFill>
            <a:srgbClr val="201C44"/>
          </a:solidFill>
          <a:ln/>
        </p:spPr>
      </p:sp>
      <p:sp>
        <p:nvSpPr>
          <p:cNvPr id="32" name="Text 29"/>
          <p:cNvSpPr/>
          <p:nvPr/>
        </p:nvSpPr>
        <p:spPr>
          <a:xfrm>
            <a:off x="7200900" y="1524000"/>
            <a:ext cx="219075" cy="47625"/>
          </a:xfrm>
          <a:prstGeom prst="rect">
            <a:avLst/>
          </a:prstGeom>
          <a:noFill/>
          <a:ln/>
        </p:spPr>
        <p:txBody>
          <a:bodyPr wrap="square" lIns="0" tIns="0" rIns="0" bIns="0" rtlCol="0" anchor="t"/>
          <a:lstStyle/>
          <a:p>
            <a:pPr algn="ctr" indent="0" marL="0">
              <a:lnSpc>
                <a:spcPts val="949"/>
              </a:lnSpc>
              <a:buNone/>
            </a:pPr>
            <a:r>
              <a:rPr lang="en-US" sz="784" b="1" dirty="0">
                <a:solidFill>
                  <a:srgbClr val="6B5CE7">
                    <a:alpha val="99000"/>
                  </a:srgbClr>
                </a:solidFill>
                <a:latin typeface="Inter" pitchFamily="34" charset="0"/>
                <a:ea typeface="Inter" pitchFamily="34" charset="-122"/>
                <a:cs typeface="Inter" pitchFamily="34" charset="-120"/>
              </a:rPr>
              <a:t>5</a:t>
            </a:r>
            <a:endParaRPr lang="en-US" sz="784" dirty="0"/>
          </a:p>
        </p:txBody>
      </p:sp>
      <p:sp>
        <p:nvSpPr>
          <p:cNvPr id="33" name="Text 30"/>
          <p:cNvSpPr/>
          <p:nvPr/>
        </p:nvSpPr>
        <p:spPr>
          <a:xfrm>
            <a:off x="7200900" y="1809750"/>
            <a:ext cx="1123950" cy="47625"/>
          </a:xfrm>
          <a:prstGeom prst="rect">
            <a:avLst/>
          </a:prstGeom>
          <a:noFill/>
          <a:ln/>
        </p:spPr>
        <p:txBody>
          <a:bodyPr wrap="square" lIns="0" tIns="0" rIns="0" bIns="0" rtlCol="0" anchor="t"/>
          <a:lstStyle/>
          <a:p>
            <a:pPr algn="l" indent="0" marL="0">
              <a:lnSpc>
                <a:spcPts val="1140"/>
              </a:lnSpc>
              <a:buNone/>
            </a:pPr>
            <a:r>
              <a:rPr lang="en-US" sz="855" b="1" dirty="0">
                <a:solidFill>
                  <a:srgbClr val="FFFFFF">
                    <a:alpha val="99000"/>
                  </a:srgbClr>
                </a:solidFill>
                <a:latin typeface="Inter" pitchFamily="34" charset="0"/>
                <a:ea typeface="Inter" pitchFamily="34" charset="-122"/>
                <a:cs typeface="Inter" pitchFamily="34" charset="-120"/>
              </a:rPr>
              <a:t>Aprueba la recuperación</a:t>
            </a:r>
            <a:endParaRPr lang="en-US" sz="855" dirty="0"/>
          </a:p>
        </p:txBody>
      </p:sp>
      <p:sp>
        <p:nvSpPr>
          <p:cNvPr id="34" name="Text 31"/>
          <p:cNvSpPr/>
          <p:nvPr/>
        </p:nvSpPr>
        <p:spPr>
          <a:xfrm>
            <a:off x="7200900" y="2190750"/>
            <a:ext cx="1123950"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Acreditamos exactamente 1 vida (RF-REC-04)</a:t>
            </a:r>
            <a:endParaRPr lang="en-US" sz="677" dirty="0"/>
          </a:p>
        </p:txBody>
      </p:sp>
      <p:sp>
        <p:nvSpPr>
          <p:cNvPr id="35" name="Text 32"/>
          <p:cNvSpPr/>
          <p:nvPr/>
        </p:nvSpPr>
        <p:spPr>
          <a:xfrm>
            <a:off x="7200900" y="2533650"/>
            <a:ext cx="347663" cy="90488"/>
          </a:xfrm>
          <a:prstGeom prst="rect">
            <a:avLst/>
          </a:prstGeom>
          <a:noFill/>
          <a:ln/>
        </p:spPr>
        <p:txBody>
          <a:bodyPr wrap="square" lIns="0" tIns="0" rIns="0" bIns="0" rtlCol="0" anchor="t"/>
          <a:lstStyle/>
          <a:p>
            <a:pPr algn="l" indent="0" marL="0">
              <a:lnSpc>
                <a:spcPts val="690"/>
              </a:lnSpc>
              <a:buNone/>
            </a:pPr>
            <a:r>
              <a:rPr lang="en-US" sz="570" b="1" dirty="0">
                <a:solidFill>
                  <a:srgbClr val="6B5CE7">
                    <a:alpha val="99000"/>
                  </a:srgbClr>
                </a:solidFill>
                <a:latin typeface="Inter" pitchFamily="34" charset="0"/>
                <a:ea typeface="Inter" pitchFamily="34" charset="-122"/>
                <a:cs typeface="Inter" pitchFamily="34" charset="-120"/>
              </a:rPr>
              <a:t>Roadmap</a:t>
            </a:r>
            <a:endParaRPr lang="en-US" sz="570" dirty="0"/>
          </a:p>
        </p:txBody>
      </p:sp>
      <p:sp>
        <p:nvSpPr>
          <p:cNvPr id="36" name="Shape 33"/>
          <p:cNvSpPr/>
          <p:nvPr/>
        </p:nvSpPr>
        <p:spPr>
          <a:xfrm>
            <a:off x="2119313" y="2019300"/>
            <a:ext cx="119063" cy="14288"/>
          </a:xfrm>
          <a:prstGeom prst="rect">
            <a:avLst/>
          </a:prstGeom>
          <a:solidFill>
            <a:srgbClr val="9AA0B4"/>
          </a:solidFill>
          <a:ln/>
        </p:spPr>
      </p:sp>
      <p:sp>
        <p:nvSpPr>
          <p:cNvPr id="37" name="Shape 34"/>
          <p:cNvSpPr/>
          <p:nvPr/>
        </p:nvSpPr>
        <p:spPr>
          <a:xfrm>
            <a:off x="3714750" y="2019300"/>
            <a:ext cx="119063" cy="14288"/>
          </a:xfrm>
          <a:prstGeom prst="rect">
            <a:avLst/>
          </a:prstGeom>
          <a:solidFill>
            <a:srgbClr val="9AA0B4"/>
          </a:solidFill>
          <a:ln/>
        </p:spPr>
      </p:sp>
      <p:sp>
        <p:nvSpPr>
          <p:cNvPr id="38" name="Shape 35"/>
          <p:cNvSpPr/>
          <p:nvPr/>
        </p:nvSpPr>
        <p:spPr>
          <a:xfrm>
            <a:off x="5310188" y="2019300"/>
            <a:ext cx="119063" cy="14288"/>
          </a:xfrm>
          <a:prstGeom prst="rect">
            <a:avLst/>
          </a:prstGeom>
          <a:solidFill>
            <a:srgbClr val="9AA0B4"/>
          </a:solidFill>
          <a:ln/>
        </p:spPr>
      </p:sp>
      <p:sp>
        <p:nvSpPr>
          <p:cNvPr id="39" name="Shape 36"/>
          <p:cNvSpPr/>
          <p:nvPr/>
        </p:nvSpPr>
        <p:spPr>
          <a:xfrm>
            <a:off x="6905625" y="2019300"/>
            <a:ext cx="119063" cy="14288"/>
          </a:xfrm>
          <a:prstGeom prst="rect">
            <a:avLst/>
          </a:prstGeom>
          <a:solidFill>
            <a:srgbClr val="9AA0B4"/>
          </a:solidFill>
          <a:ln/>
        </p:spPr>
      </p:sp>
      <p:sp>
        <p:nvSpPr>
          <p:cNvPr id="40" name="Shape 37"/>
          <p:cNvSpPr/>
          <p:nvPr/>
        </p:nvSpPr>
        <p:spPr>
          <a:xfrm>
            <a:off x="666750" y="2952750"/>
            <a:ext cx="7810500" cy="1133475"/>
          </a:xfrm>
          <a:prstGeom prst="roundRect">
            <a:avLst>
              <a:gd name="adj" fmla="val 14521"/>
            </a:avLst>
          </a:prstGeom>
          <a:solidFill>
            <a:srgbClr val="262943"/>
          </a:solidFill>
          <a:ln/>
        </p:spPr>
      </p:sp>
      <p:sp>
        <p:nvSpPr>
          <p:cNvPr id="41" name="Shape 38"/>
          <p:cNvSpPr/>
          <p:nvPr/>
        </p:nvSpPr>
        <p:spPr>
          <a:xfrm>
            <a:off x="666750" y="2952750"/>
            <a:ext cx="23813" cy="1133475"/>
          </a:xfrm>
          <a:prstGeom prst="rect">
            <a:avLst/>
          </a:prstGeom>
          <a:solidFill>
            <a:srgbClr val="F2545B"/>
          </a:solidFill>
          <a:ln/>
        </p:spPr>
      </p:sp>
      <p:sp>
        <p:nvSpPr>
          <p:cNvPr id="42" name="Text 39"/>
          <p:cNvSpPr/>
          <p:nvPr/>
        </p:nvSpPr>
        <p:spPr>
          <a:xfrm>
            <a:off x="876300" y="3105150"/>
            <a:ext cx="1838325" cy="114300"/>
          </a:xfrm>
          <a:prstGeom prst="rect">
            <a:avLst/>
          </a:prstGeom>
          <a:noFill/>
          <a:ln/>
        </p:spPr>
        <p:txBody>
          <a:bodyPr wrap="square" lIns="0" tIns="0" rIns="0" bIns="0" rtlCol="0" anchor="t"/>
          <a:lstStyle/>
          <a:p>
            <a:pPr algn="l" indent="0" marL="0">
              <a:lnSpc>
                <a:spcPts val="862"/>
              </a:lnSpc>
              <a:buNone/>
            </a:pPr>
            <a:r>
              <a:rPr lang="en-US" sz="713" b="1" dirty="0">
                <a:solidFill>
                  <a:srgbClr val="F2545B">
                    <a:alpha val="99000"/>
                  </a:srgbClr>
                </a:solidFill>
                <a:latin typeface="Inter" pitchFamily="34" charset="0"/>
                <a:ea typeface="Inter" pitchFamily="34" charset="-122"/>
                <a:cs typeface="Inter" pitchFamily="34" charset="-120"/>
              </a:rPr>
              <a:t>ACLARACIÓN QUE PEDIMOS FIJAR HOY</a:t>
            </a:r>
            <a:endParaRPr lang="en-US" sz="713" dirty="0"/>
          </a:p>
        </p:txBody>
      </p:sp>
      <p:sp>
        <p:nvSpPr>
          <p:cNvPr id="43" name="Text 40"/>
          <p:cNvSpPr/>
          <p:nvPr/>
        </p:nvSpPr>
        <p:spPr>
          <a:xfrm>
            <a:off x="876300" y="3286125"/>
            <a:ext cx="7334250" cy="47625"/>
          </a:xfrm>
          <a:prstGeom prst="rect">
            <a:avLst/>
          </a:prstGeom>
          <a:noFill/>
          <a:ln/>
        </p:spPr>
        <p:txBody>
          <a:bodyPr wrap="square" lIns="0" tIns="0" rIns="0" bIns="0" rtlCol="0" anchor="t"/>
          <a:lstStyle/>
          <a:p>
            <a:pPr algn="l" indent="0" marL="0">
              <a:lnSpc>
                <a:spcPts val="1425"/>
              </a:lnSpc>
              <a:buNone/>
            </a:pPr>
            <a:r>
              <a:rPr lang="en-US" sz="1069" b="1" dirty="0">
                <a:solidFill>
                  <a:srgbClr val="FFFFFF">
                    <a:alpha val="99000"/>
                  </a:srgbClr>
                </a:solidFill>
                <a:latin typeface="Inter" pitchFamily="34" charset="0"/>
                <a:ea typeface="Inter" pitchFamily="34" charset="-122"/>
                <a:cs typeface="Inter" pitchFamily="34" charset="-120"/>
              </a:rPr>
              <a:t>El Banco no interviene. El Banco mueve monedas; no sabe qué es una vida.</a:t>
            </a:r>
            <a:endParaRPr lang="en-US" sz="1069" dirty="0"/>
          </a:p>
        </p:txBody>
      </p:sp>
      <p:sp>
        <p:nvSpPr>
          <p:cNvPr id="44" name="Text 41"/>
          <p:cNvSpPr/>
          <p:nvPr/>
        </p:nvSpPr>
        <p:spPr>
          <a:xfrm>
            <a:off x="876300" y="3552825"/>
            <a:ext cx="7334250" cy="47625"/>
          </a:xfrm>
          <a:prstGeom prst="rect">
            <a:avLst/>
          </a:prstGeom>
          <a:noFill/>
          <a:ln/>
        </p:spPr>
        <p:txBody>
          <a:bodyPr wrap="square" lIns="0" tIns="0" rIns="0" bIns="0" rtlCol="0" anchor="t"/>
          <a:lstStyle/>
          <a:p>
            <a:pPr algn="l" indent="0" marL="0">
              <a:lnSpc>
                <a:spcPts val="1140"/>
              </a:lnSpc>
              <a:buNone/>
            </a:pPr>
            <a:r>
              <a:rPr lang="en-US" sz="784" dirty="0">
                <a:solidFill>
                  <a:srgbClr val="9AA0B4">
                    <a:alpha val="99000"/>
                  </a:srgbClr>
                </a:solidFill>
                <a:latin typeface="Inter" pitchFamily="34" charset="0"/>
                <a:ea typeface="Inter" pitchFamily="34" charset="-122"/>
                <a:cs typeface="Inter" pitchFamily="34" charset="-120"/>
              </a:rPr>
              <a:t>Cuando el alumno compra una vida (RF-INT-01, 300 monedas por PAR-06), PAR-12 fija el techo de vidas vigentes en 3. Por eso Mercado tiene que consultarnos antes de cobrar: la lámina 4.5 dice que se reserva, se confirma, y si algo falla se libera.</a:t>
            </a:r>
            <a:endParaRPr lang="en-US" sz="784" dirty="0"/>
          </a:p>
        </p:txBody>
      </p:sp>
      <p:sp>
        <p:nvSpPr>
          <p:cNvPr id="45" name="Text 42"/>
          <p:cNvSpPr/>
          <p:nvPr/>
        </p:nvSpPr>
        <p:spPr>
          <a:xfrm>
            <a:off x="666750" y="4229100"/>
            <a:ext cx="7810500" cy="47625"/>
          </a:xfrm>
          <a:prstGeom prst="rect">
            <a:avLst/>
          </a:prstGeom>
          <a:noFill/>
          <a:ln/>
        </p:spPr>
        <p:txBody>
          <a:bodyPr wrap="square" lIns="0" tIns="0" rIns="0" bIns="0" rtlCol="0" anchor="t"/>
          <a:lstStyle/>
          <a:p>
            <a:pPr algn="l" indent="0" marL="0">
              <a:lnSpc>
                <a:spcPts val="1140"/>
              </a:lnSpc>
              <a:buNone/>
            </a:pPr>
            <a:r>
              <a:rPr lang="en-US" sz="819" dirty="0">
                <a:solidFill>
                  <a:srgbClr val="9AA0B4">
                    <a:alpha val="99000"/>
                  </a:srgbClr>
                </a:solidFill>
                <a:latin typeface="Inter" pitchFamily="34" charset="0"/>
                <a:ea typeface="Inter" pitchFamily="34" charset="-122"/>
                <a:cs typeface="Inter" pitchFamily="34" charset="-120"/>
              </a:rPr>
              <a:t>Quién selecciona el desafío de recuperación: el Grupo 9, porque priorizar los no resueltos exige su historial de resolución, no el nuestro.</a:t>
            </a:r>
            <a:endParaRPr lang="en-US" sz="819" dirty="0"/>
          </a:p>
        </p:txBody>
      </p:sp>
      <p:sp>
        <p:nvSpPr>
          <p:cNvPr id="46" name="Text 43"/>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47" name="Text 44"/>
          <p:cNvSpPr/>
          <p:nvPr/>
        </p:nvSpPr>
        <p:spPr>
          <a:xfrm>
            <a:off x="8286750" y="4705350"/>
            <a:ext cx="119063"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09</a:t>
            </a:r>
            <a:endParaRPr lang="en-US" sz="67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452438"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FLUJO 3</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Cierre de curso: tres precondiciones, tres dueños</a:t>
            </a:r>
            <a:endParaRPr lang="en-US" sz="1995" dirty="0"/>
          </a:p>
        </p:txBody>
      </p:sp>
      <p:sp>
        <p:nvSpPr>
          <p:cNvPr id="6" name="Text 3"/>
          <p:cNvSpPr/>
          <p:nvPr/>
        </p:nvSpPr>
        <p:spPr>
          <a:xfrm>
            <a:off x="809625" y="1295400"/>
            <a:ext cx="1352550"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PRECONDICIÓN DE RF-CUR-08b</a:t>
            </a:r>
            <a:endParaRPr lang="en-US" sz="641" dirty="0"/>
          </a:p>
        </p:txBody>
      </p:sp>
      <p:sp>
        <p:nvSpPr>
          <p:cNvPr id="7" name="Text 4"/>
          <p:cNvSpPr/>
          <p:nvPr/>
        </p:nvSpPr>
        <p:spPr>
          <a:xfrm>
            <a:off x="4524375" y="1295400"/>
            <a:ext cx="709613"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QUIÉN LA POSEE</a:t>
            </a:r>
            <a:endParaRPr lang="en-US" sz="641" dirty="0"/>
          </a:p>
        </p:txBody>
      </p:sp>
      <p:sp>
        <p:nvSpPr>
          <p:cNvPr id="8" name="Text 5"/>
          <p:cNvSpPr/>
          <p:nvPr/>
        </p:nvSpPr>
        <p:spPr>
          <a:xfrm>
            <a:off x="6429375" y="1295400"/>
            <a:ext cx="819150" cy="104775"/>
          </a:xfrm>
          <a:prstGeom prst="rect">
            <a:avLst/>
          </a:prstGeom>
          <a:noFill/>
          <a:ln/>
        </p:spPr>
        <p:txBody>
          <a:bodyPr wrap="square" lIns="0" tIns="0" rIns="0" bIns="0" rtlCol="0" anchor="t"/>
          <a:lstStyle/>
          <a:p>
            <a:pPr algn="l"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QUIÉN LA VERIFICA</a:t>
            </a:r>
            <a:endParaRPr lang="en-US" sz="641" dirty="0"/>
          </a:p>
        </p:txBody>
      </p:sp>
      <p:sp>
        <p:nvSpPr>
          <p:cNvPr id="9" name="Shape 6"/>
          <p:cNvSpPr/>
          <p:nvPr/>
        </p:nvSpPr>
        <p:spPr>
          <a:xfrm>
            <a:off x="666750" y="1504950"/>
            <a:ext cx="7810500" cy="466725"/>
          </a:xfrm>
          <a:prstGeom prst="roundRect">
            <a:avLst>
              <a:gd name="adj" fmla="val 27429"/>
            </a:avLst>
          </a:prstGeom>
          <a:solidFill>
            <a:srgbClr val="201C44"/>
          </a:solidFill>
          <a:ln/>
        </p:spPr>
      </p:sp>
      <p:sp>
        <p:nvSpPr>
          <p:cNvPr id="10" name="Shape 7"/>
          <p:cNvSpPr/>
          <p:nvPr/>
        </p:nvSpPr>
        <p:spPr>
          <a:xfrm>
            <a:off x="666750" y="1504950"/>
            <a:ext cx="23813" cy="466725"/>
          </a:xfrm>
          <a:prstGeom prst="rect">
            <a:avLst/>
          </a:prstGeom>
          <a:solidFill>
            <a:srgbClr val="6B5CE7"/>
          </a:solidFill>
          <a:ln/>
        </p:spPr>
      </p:sp>
      <p:sp>
        <p:nvSpPr>
          <p:cNvPr id="11" name="Text 8"/>
          <p:cNvSpPr/>
          <p:nvPr/>
        </p:nvSpPr>
        <p:spPr>
          <a:xfrm>
            <a:off x="819150" y="1619250"/>
            <a:ext cx="3524250" cy="47625"/>
          </a:xfrm>
          <a:prstGeom prst="rect">
            <a:avLst/>
          </a:prstGeom>
          <a:noFill/>
          <a:ln/>
        </p:spPr>
        <p:txBody>
          <a:bodyPr wrap="square" lIns="0" tIns="0" rIns="0" bIns="0" rtlCol="0" anchor="t"/>
          <a:lstStyle/>
          <a:p>
            <a:pPr algn="l" indent="0" marL="0">
              <a:lnSpc>
                <a:spcPts val="1140"/>
              </a:lnSpc>
              <a:buNone/>
            </a:pPr>
            <a:r>
              <a:rPr lang="en-US" sz="891" dirty="0">
                <a:solidFill>
                  <a:srgbClr val="FFFFFF">
                    <a:alpha val="99000"/>
                  </a:srgbClr>
                </a:solidFill>
                <a:latin typeface="Inter" pitchFamily="34" charset="0"/>
                <a:ea typeface="Inter" pitchFamily="34" charset="-122"/>
                <a:cs typeface="Inter" pitchFamily="34" charset="-120"/>
              </a:rPr>
              <a:t>Estado académico final confirmado para todos los alumnos (RF-RNK-10)</a:t>
            </a:r>
            <a:endParaRPr lang="en-US" sz="891" dirty="0"/>
          </a:p>
        </p:txBody>
      </p:sp>
      <p:sp>
        <p:nvSpPr>
          <p:cNvPr id="12" name="Text 9"/>
          <p:cNvSpPr/>
          <p:nvPr/>
        </p:nvSpPr>
        <p:spPr>
          <a:xfrm>
            <a:off x="4533900" y="1657350"/>
            <a:ext cx="542925" cy="142875"/>
          </a:xfrm>
          <a:prstGeom prst="rect">
            <a:avLst/>
          </a:prstGeom>
          <a:noFill/>
          <a:ln/>
        </p:spPr>
        <p:txBody>
          <a:bodyPr wrap="square" lIns="0" tIns="0" rIns="0" bIns="0" rtlCol="0" anchor="t"/>
          <a:lstStyle/>
          <a:p>
            <a:pPr algn="l" indent="0" marL="0">
              <a:lnSpc>
                <a:spcPts val="1078"/>
              </a:lnSpc>
              <a:buNone/>
            </a:pPr>
            <a:r>
              <a:rPr lang="en-US" sz="891" b="1" dirty="0">
                <a:solidFill>
                  <a:srgbClr val="6B5CE7">
                    <a:alpha val="99000"/>
                  </a:srgbClr>
                </a:solidFill>
                <a:latin typeface="Inter" pitchFamily="34" charset="0"/>
                <a:ea typeface="Inter" pitchFamily="34" charset="-122"/>
                <a:cs typeface="Inter" pitchFamily="34" charset="-120"/>
              </a:rPr>
              <a:t>Roadmap</a:t>
            </a:r>
            <a:endParaRPr lang="en-US" sz="891" dirty="0"/>
          </a:p>
        </p:txBody>
      </p:sp>
      <p:sp>
        <p:nvSpPr>
          <p:cNvPr id="13" name="Text 10"/>
          <p:cNvSpPr/>
          <p:nvPr/>
        </p:nvSpPr>
        <p:spPr>
          <a:xfrm>
            <a:off x="6438900" y="1666875"/>
            <a:ext cx="1905000" cy="47625"/>
          </a:xfrm>
          <a:prstGeom prst="rect">
            <a:avLst/>
          </a:prstGeom>
          <a:noFill/>
          <a:ln/>
        </p:spPr>
        <p:txBody>
          <a:bodyPr wrap="square" lIns="0" tIns="0" rIns="0" bIns="0" rtlCol="0" anchor="t"/>
          <a:lstStyle/>
          <a:p>
            <a:pPr algn="l" indent="0" marL="0">
              <a:lnSpc>
                <a:spcPts val="998"/>
              </a:lnSpc>
              <a:buNone/>
            </a:pPr>
            <a:r>
              <a:rPr lang="en-US" sz="748" dirty="0">
                <a:solidFill>
                  <a:srgbClr val="9AA0B4">
                    <a:alpha val="99000"/>
                  </a:srgbClr>
                </a:solidFill>
                <a:latin typeface="Inter" pitchFamily="34" charset="0"/>
                <a:ea typeface="Inter" pitchFamily="34" charset="-122"/>
                <a:cs typeface="Inter" pitchFamily="34" charset="-120"/>
              </a:rPr>
              <a:t>Cursos nos consulta</a:t>
            </a:r>
            <a:endParaRPr lang="en-US" sz="748" dirty="0"/>
          </a:p>
        </p:txBody>
      </p:sp>
      <p:sp>
        <p:nvSpPr>
          <p:cNvPr id="14" name="Shape 11"/>
          <p:cNvSpPr/>
          <p:nvPr/>
        </p:nvSpPr>
        <p:spPr>
          <a:xfrm>
            <a:off x="666750" y="2028825"/>
            <a:ext cx="7810500" cy="466725"/>
          </a:xfrm>
          <a:prstGeom prst="roundRect">
            <a:avLst>
              <a:gd name="adj" fmla="val 27429"/>
            </a:avLst>
          </a:prstGeom>
          <a:solidFill>
            <a:srgbClr val="1B1D2F"/>
          </a:solidFill>
          <a:ln/>
        </p:spPr>
      </p:sp>
      <p:sp>
        <p:nvSpPr>
          <p:cNvPr id="15" name="Shape 12"/>
          <p:cNvSpPr/>
          <p:nvPr/>
        </p:nvSpPr>
        <p:spPr>
          <a:xfrm>
            <a:off x="666750" y="2028825"/>
            <a:ext cx="23813" cy="466725"/>
          </a:xfrm>
          <a:prstGeom prst="rect">
            <a:avLst/>
          </a:prstGeom>
          <a:solidFill>
            <a:srgbClr val="4CD4D8"/>
          </a:solidFill>
          <a:ln/>
        </p:spPr>
      </p:sp>
      <p:sp>
        <p:nvSpPr>
          <p:cNvPr id="16" name="Text 13"/>
          <p:cNvSpPr/>
          <p:nvPr/>
        </p:nvSpPr>
        <p:spPr>
          <a:xfrm>
            <a:off x="819150" y="2181225"/>
            <a:ext cx="3524250" cy="47625"/>
          </a:xfrm>
          <a:prstGeom prst="rect">
            <a:avLst/>
          </a:prstGeom>
          <a:noFill/>
          <a:ln/>
        </p:spPr>
        <p:txBody>
          <a:bodyPr wrap="square" lIns="0" tIns="0" rIns="0" bIns="0" rtlCol="0" anchor="t"/>
          <a:lstStyle/>
          <a:p>
            <a:pPr algn="l" indent="0" marL="0">
              <a:lnSpc>
                <a:spcPts val="1140"/>
              </a:lnSpc>
              <a:buNone/>
            </a:pPr>
            <a:r>
              <a:rPr lang="en-US" sz="891" dirty="0">
                <a:solidFill>
                  <a:srgbClr val="FFFFFF">
                    <a:alpha val="99000"/>
                  </a:srgbClr>
                </a:solidFill>
                <a:latin typeface="Inter" pitchFamily="34" charset="0"/>
                <a:ea typeface="Inter" pitchFamily="34" charset="-122"/>
                <a:cs typeface="Inter" pitchFamily="34" charset="-120"/>
              </a:rPr>
              <a:t>Sin scores de IA pendientes de cálculo diferido (RF-IA-34)</a:t>
            </a:r>
            <a:endParaRPr lang="en-US" sz="891" dirty="0"/>
          </a:p>
        </p:txBody>
      </p:sp>
      <p:sp>
        <p:nvSpPr>
          <p:cNvPr id="17" name="Text 14"/>
          <p:cNvSpPr/>
          <p:nvPr/>
        </p:nvSpPr>
        <p:spPr>
          <a:xfrm>
            <a:off x="4533900" y="2181225"/>
            <a:ext cx="242888" cy="142875"/>
          </a:xfrm>
          <a:prstGeom prst="rect">
            <a:avLst/>
          </a:prstGeom>
          <a:noFill/>
          <a:ln/>
        </p:spPr>
        <p:txBody>
          <a:bodyPr wrap="square" lIns="0" tIns="0" rIns="0" bIns="0" rtlCol="0" anchor="t"/>
          <a:lstStyle/>
          <a:p>
            <a:pPr algn="l" indent="0" marL="0">
              <a:lnSpc>
                <a:spcPts val="1078"/>
              </a:lnSpc>
              <a:buNone/>
            </a:pPr>
            <a:r>
              <a:rPr lang="en-US" sz="891" dirty="0">
                <a:solidFill>
                  <a:srgbClr val="4CD4D8">
                    <a:alpha val="99000"/>
                  </a:srgbClr>
                </a:solidFill>
                <a:latin typeface="Inter" pitchFamily="34" charset="0"/>
                <a:ea typeface="Inter" pitchFamily="34" charset="-122"/>
                <a:cs typeface="Inter" pitchFamily="34" charset="-120"/>
              </a:rPr>
              <a:t>LLM</a:t>
            </a:r>
            <a:endParaRPr lang="en-US" sz="891" dirty="0"/>
          </a:p>
        </p:txBody>
      </p:sp>
      <p:sp>
        <p:nvSpPr>
          <p:cNvPr id="18" name="Text 15"/>
          <p:cNvSpPr/>
          <p:nvPr/>
        </p:nvSpPr>
        <p:spPr>
          <a:xfrm>
            <a:off x="6438900" y="2190750"/>
            <a:ext cx="1905000" cy="47625"/>
          </a:xfrm>
          <a:prstGeom prst="rect">
            <a:avLst/>
          </a:prstGeom>
          <a:noFill/>
          <a:ln/>
        </p:spPr>
        <p:txBody>
          <a:bodyPr wrap="square" lIns="0" tIns="0" rIns="0" bIns="0" rtlCol="0" anchor="t"/>
          <a:lstStyle/>
          <a:p>
            <a:pPr algn="l" indent="0" marL="0">
              <a:lnSpc>
                <a:spcPts val="998"/>
              </a:lnSpc>
              <a:buNone/>
            </a:pPr>
            <a:r>
              <a:rPr lang="en-US" sz="748" dirty="0">
                <a:solidFill>
                  <a:srgbClr val="9AA0B4">
                    <a:alpha val="99000"/>
                  </a:srgbClr>
                </a:solidFill>
                <a:latin typeface="Inter" pitchFamily="34" charset="0"/>
                <a:ea typeface="Inter" pitchFamily="34" charset="-122"/>
                <a:cs typeface="Inter" pitchFamily="34" charset="-120"/>
              </a:rPr>
              <a:t>Cursos les consulta</a:t>
            </a:r>
            <a:endParaRPr lang="en-US" sz="748" dirty="0"/>
          </a:p>
        </p:txBody>
      </p:sp>
      <p:sp>
        <p:nvSpPr>
          <p:cNvPr id="19" name="Shape 16"/>
          <p:cNvSpPr/>
          <p:nvPr/>
        </p:nvSpPr>
        <p:spPr>
          <a:xfrm>
            <a:off x="666750" y="2552700"/>
            <a:ext cx="7810500" cy="466725"/>
          </a:xfrm>
          <a:prstGeom prst="roundRect">
            <a:avLst>
              <a:gd name="adj" fmla="val 27429"/>
            </a:avLst>
          </a:prstGeom>
          <a:solidFill>
            <a:srgbClr val="1B1D2F"/>
          </a:solidFill>
          <a:ln/>
        </p:spPr>
      </p:sp>
      <p:sp>
        <p:nvSpPr>
          <p:cNvPr id="20" name="Shape 17"/>
          <p:cNvSpPr/>
          <p:nvPr/>
        </p:nvSpPr>
        <p:spPr>
          <a:xfrm>
            <a:off x="666750" y="2552700"/>
            <a:ext cx="23813" cy="466725"/>
          </a:xfrm>
          <a:prstGeom prst="rect">
            <a:avLst/>
          </a:prstGeom>
          <a:solidFill>
            <a:srgbClr val="F5A623"/>
          </a:solidFill>
          <a:ln/>
        </p:spPr>
      </p:sp>
      <p:sp>
        <p:nvSpPr>
          <p:cNvPr id="21" name="Text 18"/>
          <p:cNvSpPr/>
          <p:nvPr/>
        </p:nvSpPr>
        <p:spPr>
          <a:xfrm>
            <a:off x="819150" y="2705100"/>
            <a:ext cx="3524250" cy="47625"/>
          </a:xfrm>
          <a:prstGeom prst="rect">
            <a:avLst/>
          </a:prstGeom>
          <a:noFill/>
          <a:ln/>
        </p:spPr>
        <p:txBody>
          <a:bodyPr wrap="square" lIns="0" tIns="0" rIns="0" bIns="0" rtlCol="0" anchor="t"/>
          <a:lstStyle/>
          <a:p>
            <a:pPr algn="l" indent="0" marL="0">
              <a:lnSpc>
                <a:spcPts val="1140"/>
              </a:lnSpc>
              <a:buNone/>
            </a:pPr>
            <a:r>
              <a:rPr lang="en-US" sz="891" dirty="0">
                <a:solidFill>
                  <a:srgbClr val="FFFFFF">
                    <a:alpha val="99000"/>
                  </a:srgbClr>
                </a:solidFill>
                <a:latin typeface="Inter" pitchFamily="34" charset="0"/>
                <a:ea typeface="Inter" pitchFamily="34" charset="-122"/>
                <a:cs typeface="Inter" pitchFamily="34" charset="-120"/>
              </a:rPr>
              <a:t>Encuesta de cierre cumplida (RF-ENC-11)</a:t>
            </a:r>
            <a:endParaRPr lang="en-US" sz="891" dirty="0"/>
          </a:p>
        </p:txBody>
      </p:sp>
      <p:sp>
        <p:nvSpPr>
          <p:cNvPr id="22" name="Text 19"/>
          <p:cNvSpPr/>
          <p:nvPr/>
        </p:nvSpPr>
        <p:spPr>
          <a:xfrm>
            <a:off x="4533900" y="2705100"/>
            <a:ext cx="1009650" cy="142875"/>
          </a:xfrm>
          <a:prstGeom prst="rect">
            <a:avLst/>
          </a:prstGeom>
          <a:noFill/>
          <a:ln/>
        </p:spPr>
        <p:txBody>
          <a:bodyPr wrap="square" lIns="0" tIns="0" rIns="0" bIns="0" rtlCol="0" anchor="t"/>
          <a:lstStyle/>
          <a:p>
            <a:pPr algn="l" indent="0" marL="0">
              <a:lnSpc>
                <a:spcPts val="1078"/>
              </a:lnSpc>
              <a:buNone/>
            </a:pPr>
            <a:r>
              <a:rPr lang="en-US" sz="891" b="1" dirty="0">
                <a:solidFill>
                  <a:srgbClr val="F5A623">
                    <a:alpha val="99000"/>
                  </a:srgbClr>
                </a:solidFill>
                <a:latin typeface="Inter" pitchFamily="34" charset="0"/>
                <a:ea typeface="Inter" pitchFamily="34" charset="-122"/>
                <a:cs typeface="Inter" pitchFamily="34" charset="-120"/>
              </a:rPr>
              <a:t>Desafios teoricos</a:t>
            </a:r>
            <a:endParaRPr lang="en-US" sz="891" dirty="0"/>
          </a:p>
        </p:txBody>
      </p:sp>
      <p:sp>
        <p:nvSpPr>
          <p:cNvPr id="23" name="Text 20"/>
          <p:cNvSpPr/>
          <p:nvPr/>
        </p:nvSpPr>
        <p:spPr>
          <a:xfrm>
            <a:off x="6438900" y="2657475"/>
            <a:ext cx="1905000" cy="47625"/>
          </a:xfrm>
          <a:prstGeom prst="rect">
            <a:avLst/>
          </a:prstGeom>
          <a:noFill/>
          <a:ln/>
        </p:spPr>
        <p:txBody>
          <a:bodyPr wrap="square" lIns="0" tIns="0" rIns="0" bIns="0" rtlCol="0" anchor="t"/>
          <a:lstStyle/>
          <a:p>
            <a:pPr algn="l" indent="0" marL="0">
              <a:lnSpc>
                <a:spcPts val="998"/>
              </a:lnSpc>
              <a:buNone/>
            </a:pPr>
            <a:r>
              <a:rPr lang="en-US" sz="748" dirty="0">
                <a:solidFill>
                  <a:srgbClr val="9AA0B4">
                    <a:alpha val="99000"/>
                  </a:srgbClr>
                </a:solidFill>
                <a:latin typeface="Inter" pitchFamily="34" charset="0"/>
                <a:ea typeface="Inter" pitchFamily="34" charset="-122"/>
                <a:cs typeface="Inter" pitchFamily="34" charset="-120"/>
              </a:rPr>
              <a:t>Nosotros, solo para exponer el resultado al alumno</a:t>
            </a:r>
            <a:endParaRPr lang="en-US" sz="748" dirty="0"/>
          </a:p>
        </p:txBody>
      </p:sp>
      <p:sp>
        <p:nvSpPr>
          <p:cNvPr id="24" name="Shape 21"/>
          <p:cNvSpPr/>
          <p:nvPr/>
        </p:nvSpPr>
        <p:spPr>
          <a:xfrm>
            <a:off x="666750" y="3181350"/>
            <a:ext cx="3810000" cy="933450"/>
          </a:xfrm>
          <a:prstGeom prst="roundRect">
            <a:avLst>
              <a:gd name="adj" fmla="val 15673"/>
            </a:avLst>
          </a:prstGeom>
          <a:solidFill>
            <a:srgbClr val="262943"/>
          </a:solidFill>
          <a:ln/>
        </p:spPr>
      </p:sp>
      <p:sp>
        <p:nvSpPr>
          <p:cNvPr id="25" name="Shape 22"/>
          <p:cNvSpPr/>
          <p:nvPr/>
        </p:nvSpPr>
        <p:spPr>
          <a:xfrm>
            <a:off x="666750" y="3181350"/>
            <a:ext cx="23813" cy="933450"/>
          </a:xfrm>
          <a:prstGeom prst="rect">
            <a:avLst/>
          </a:prstGeom>
          <a:solidFill>
            <a:srgbClr val="F2545B"/>
          </a:solidFill>
          <a:ln/>
        </p:spPr>
      </p:sp>
      <p:sp>
        <p:nvSpPr>
          <p:cNvPr id="26" name="Text 23"/>
          <p:cNvSpPr/>
          <p:nvPr/>
        </p:nvSpPr>
        <p:spPr>
          <a:xfrm>
            <a:off x="838200" y="3324225"/>
            <a:ext cx="1776413" cy="109538"/>
          </a:xfrm>
          <a:prstGeom prst="rect">
            <a:avLst/>
          </a:prstGeom>
          <a:noFill/>
          <a:ln/>
        </p:spPr>
        <p:txBody>
          <a:bodyPr wrap="square" lIns="0" tIns="0" rIns="0" bIns="0" rtlCol="0" anchor="t"/>
          <a:lstStyle/>
          <a:p>
            <a:pPr algn="l" indent="0" marL="0">
              <a:lnSpc>
                <a:spcPts val="819"/>
              </a:lnSpc>
              <a:buNone/>
            </a:pPr>
            <a:r>
              <a:rPr lang="en-US" sz="677" b="1" dirty="0">
                <a:solidFill>
                  <a:srgbClr val="F2545B">
                    <a:alpha val="99000"/>
                  </a:srgbClr>
                </a:solidFill>
                <a:latin typeface="Inter" pitchFamily="34" charset="0"/>
                <a:ea typeface="Inter" pitchFamily="34" charset="-122"/>
                <a:cs typeface="Inter" pitchFamily="34" charset="-120"/>
              </a:rPr>
              <a:t>CORRECCIÓN A NUESTRO DOCUMENTO</a:t>
            </a:r>
            <a:endParaRPr lang="en-US" sz="677" dirty="0"/>
          </a:p>
        </p:txBody>
      </p:sp>
      <p:sp>
        <p:nvSpPr>
          <p:cNvPr id="27" name="Text 24"/>
          <p:cNvSpPr/>
          <p:nvPr/>
        </p:nvSpPr>
        <p:spPr>
          <a:xfrm>
            <a:off x="838200" y="3462338"/>
            <a:ext cx="3429000" cy="47625"/>
          </a:xfrm>
          <a:prstGeom prst="rect">
            <a:avLst/>
          </a:prstGeom>
          <a:noFill/>
          <a:ln/>
        </p:spPr>
        <p:txBody>
          <a:bodyPr wrap="square" lIns="0" tIns="0" rIns="0" bIns="0" rtlCol="0" anchor="t"/>
          <a:lstStyle/>
          <a:p>
            <a:pPr algn="l" indent="0" marL="0">
              <a:lnSpc>
                <a:spcPts val="1140"/>
              </a:lnSpc>
              <a:buNone/>
            </a:pPr>
            <a:r>
              <a:rPr lang="en-US" sz="784" dirty="0">
                <a:solidFill>
                  <a:srgbClr val="FFFFFF">
                    <a:alpha val="99000"/>
                  </a:srgbClr>
                </a:solidFill>
                <a:latin typeface="Inter" pitchFamily="34" charset="0"/>
                <a:ea typeface="Inter" pitchFamily="34" charset="-122"/>
                <a:cs typeface="Inter" pitchFamily="34" charset="-120"/>
              </a:rPr>
              <a:t>Teníamos las tres verificaciones adentro de nuestro flujo. RF-CUR-08b existe justamente para concentrar las condiciones de transición en un solo lugar: el ciclo de vida del curso, que es del Grupo 01.</a:t>
            </a:r>
            <a:endParaRPr lang="en-US" sz="784" dirty="0"/>
          </a:p>
        </p:txBody>
      </p:sp>
      <p:sp>
        <p:nvSpPr>
          <p:cNvPr id="28" name="Shape 25"/>
          <p:cNvSpPr/>
          <p:nvPr/>
        </p:nvSpPr>
        <p:spPr>
          <a:xfrm>
            <a:off x="4667250" y="3181350"/>
            <a:ext cx="3810000" cy="933450"/>
          </a:xfrm>
          <a:prstGeom prst="roundRect">
            <a:avLst>
              <a:gd name="adj" fmla="val 15673"/>
            </a:avLst>
          </a:prstGeom>
          <a:solidFill>
            <a:srgbClr val="262943"/>
          </a:solidFill>
          <a:ln/>
        </p:spPr>
      </p:sp>
      <p:sp>
        <p:nvSpPr>
          <p:cNvPr id="29" name="Shape 26"/>
          <p:cNvSpPr/>
          <p:nvPr/>
        </p:nvSpPr>
        <p:spPr>
          <a:xfrm>
            <a:off x="4667250" y="3181350"/>
            <a:ext cx="23813" cy="933450"/>
          </a:xfrm>
          <a:prstGeom prst="rect">
            <a:avLst/>
          </a:prstGeom>
          <a:solidFill>
            <a:srgbClr val="F2545B"/>
          </a:solidFill>
          <a:ln/>
        </p:spPr>
      </p:sp>
      <p:sp>
        <p:nvSpPr>
          <p:cNvPr id="30" name="Text 27"/>
          <p:cNvSpPr/>
          <p:nvPr/>
        </p:nvSpPr>
        <p:spPr>
          <a:xfrm>
            <a:off x="4838700" y="3324225"/>
            <a:ext cx="1076325" cy="109538"/>
          </a:xfrm>
          <a:prstGeom prst="rect">
            <a:avLst/>
          </a:prstGeom>
          <a:noFill/>
          <a:ln/>
        </p:spPr>
        <p:txBody>
          <a:bodyPr wrap="square" lIns="0" tIns="0" rIns="0" bIns="0" rtlCol="0" anchor="t"/>
          <a:lstStyle/>
          <a:p>
            <a:pPr algn="l" indent="0" marL="0">
              <a:lnSpc>
                <a:spcPts val="819"/>
              </a:lnSpc>
              <a:buNone/>
            </a:pPr>
            <a:r>
              <a:rPr lang="en-US" sz="677" b="1" dirty="0">
                <a:solidFill>
                  <a:srgbClr val="F2545B">
                    <a:alpha val="99000"/>
                  </a:srgbClr>
                </a:solidFill>
                <a:latin typeface="Inter" pitchFamily="34" charset="0"/>
                <a:ea typeface="Inter" pitchFamily="34" charset="-122"/>
                <a:cs typeface="Inter" pitchFamily="34" charset="-120"/>
              </a:rPr>
              <a:t>SEGUNDA CORRECCIÓN</a:t>
            </a:r>
            <a:endParaRPr lang="en-US" sz="677" dirty="0"/>
          </a:p>
        </p:txBody>
      </p:sp>
      <p:sp>
        <p:nvSpPr>
          <p:cNvPr id="31" name="Text 28"/>
          <p:cNvSpPr/>
          <p:nvPr/>
        </p:nvSpPr>
        <p:spPr>
          <a:xfrm>
            <a:off x="4838700" y="3505200"/>
            <a:ext cx="3429000" cy="47625"/>
          </a:xfrm>
          <a:prstGeom prst="rect">
            <a:avLst/>
          </a:prstGeom>
          <a:noFill/>
          <a:ln/>
        </p:spPr>
        <p:txBody>
          <a:bodyPr wrap="square" lIns="0" tIns="0" rIns="0" bIns="0" rtlCol="0" anchor="t"/>
          <a:lstStyle/>
          <a:p>
            <a:pPr algn="l" indent="0" marL="0">
              <a:lnSpc>
                <a:spcPts val="1140"/>
              </a:lnSpc>
              <a:buNone/>
            </a:pPr>
            <a:r>
              <a:rPr lang="en-US" sz="784" dirty="0">
                <a:solidFill>
                  <a:srgbClr val="FFFFFF">
                    <a:alpha val="99000"/>
                  </a:srgbClr>
                </a:solidFill>
                <a:latin typeface="Inter" pitchFamily="34" charset="0"/>
                <a:ea typeface="Inter" pitchFamily="34" charset="-122"/>
                <a:cs typeface="Inter" pitchFamily="34" charset="-120"/>
              </a:rPr>
              <a:t>Una llamada síncrona no puede esperar a que un profesor haga clic. La pantalla de cierre es nuestra y dura lo que dure; el endpoint que consulta Cursos responde en milisegundos.</a:t>
            </a:r>
            <a:endParaRPr lang="en-US" sz="784" dirty="0"/>
          </a:p>
        </p:txBody>
      </p:sp>
      <p:sp>
        <p:nvSpPr>
          <p:cNvPr id="32" name="Text 29"/>
          <p:cNvSpPr/>
          <p:nvPr/>
        </p:nvSpPr>
        <p:spPr>
          <a:xfrm>
            <a:off x="666750" y="4267200"/>
            <a:ext cx="7810500" cy="47625"/>
          </a:xfrm>
          <a:prstGeom prst="rect">
            <a:avLst/>
          </a:prstGeom>
          <a:noFill/>
          <a:ln/>
        </p:spPr>
        <p:txBody>
          <a:bodyPr wrap="square" lIns="0" tIns="0" rIns="0" bIns="0" rtlCol="0" anchor="t"/>
          <a:lstStyle/>
          <a:p>
            <a:pPr algn="l" indent="0" marL="0">
              <a:lnSpc>
                <a:spcPts val="1140"/>
              </a:lnSpc>
              <a:buNone/>
            </a:pPr>
            <a:r>
              <a:rPr lang="en-US" sz="784" dirty="0">
                <a:solidFill>
                  <a:srgbClr val="9AA0B4">
                    <a:alpha val="99000"/>
                  </a:srgbClr>
                </a:solidFill>
                <a:latin typeface="Inter" pitchFamily="34" charset="0"/>
                <a:ea typeface="Inter" pitchFamily="34" charset="-122"/>
                <a:cs typeface="Inter" pitchFamily="34" charset="-120"/>
              </a:rPr>
              <a:t>Lo que sí nos toca de RF-IA-34: mostramos la cantidad de evaluaciones pendientes en nuestra pantalla de cierre, pero se la pedimos al Grupo 03 y no la validamos.</a:t>
            </a:r>
            <a:endParaRPr lang="en-US" sz="784" dirty="0"/>
          </a:p>
        </p:txBody>
      </p:sp>
      <p:sp>
        <p:nvSpPr>
          <p:cNvPr id="33" name="Text 30"/>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34" name="Text 31"/>
          <p:cNvSpPr/>
          <p:nvPr/>
        </p:nvSpPr>
        <p:spPr>
          <a:xfrm>
            <a:off x="8286750" y="4705350"/>
            <a:ext cx="104775"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10</a:t>
            </a:r>
            <a:endParaRPr lang="en-US" sz="67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757238"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INTEGRACIÓN</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Con quién hablamos, y por qué canal</a:t>
            </a:r>
            <a:endParaRPr lang="en-US" sz="1995" dirty="0"/>
          </a:p>
        </p:txBody>
      </p:sp>
      <p:sp>
        <p:nvSpPr>
          <p:cNvPr id="6" name="Shape 3"/>
          <p:cNvSpPr/>
          <p:nvPr/>
        </p:nvSpPr>
        <p:spPr>
          <a:xfrm>
            <a:off x="666750" y="1276350"/>
            <a:ext cx="3810000" cy="19050"/>
          </a:xfrm>
          <a:prstGeom prst="rect">
            <a:avLst/>
          </a:prstGeom>
          <a:solidFill>
            <a:srgbClr val="4CD4D8"/>
          </a:solidFill>
          <a:ln/>
        </p:spPr>
      </p:sp>
      <p:sp>
        <p:nvSpPr>
          <p:cNvPr id="7" name="Text 4"/>
          <p:cNvSpPr/>
          <p:nvPr/>
        </p:nvSpPr>
        <p:spPr>
          <a:xfrm>
            <a:off x="666750" y="1381125"/>
            <a:ext cx="1671638" cy="119063"/>
          </a:xfrm>
          <a:prstGeom prst="rect">
            <a:avLst/>
          </a:prstGeom>
          <a:noFill/>
          <a:ln/>
        </p:spPr>
        <p:txBody>
          <a:bodyPr wrap="square" lIns="0" tIns="0" rIns="0" bIns="0" rtlCol="0" anchor="t"/>
          <a:lstStyle/>
          <a:p>
            <a:pPr algn="l" indent="0" marL="0">
              <a:lnSpc>
                <a:spcPts val="905"/>
              </a:lnSpc>
              <a:buNone/>
            </a:pPr>
            <a:r>
              <a:rPr lang="en-US" sz="748" b="1" dirty="0">
                <a:solidFill>
                  <a:srgbClr val="4CD4D8">
                    <a:alpha val="99000"/>
                  </a:srgbClr>
                </a:solidFill>
                <a:latin typeface="Inter" pitchFamily="34" charset="0"/>
                <a:ea typeface="Inter" pitchFamily="34" charset="-122"/>
                <a:cs typeface="Inter" pitchFamily="34" charset="-120"/>
              </a:rPr>
              <a:t>SÍNCRONO · POR EL API GATEWAY</a:t>
            </a:r>
            <a:endParaRPr lang="en-US" sz="748" dirty="0"/>
          </a:p>
        </p:txBody>
      </p:sp>
      <p:sp>
        <p:nvSpPr>
          <p:cNvPr id="8" name="Text 5"/>
          <p:cNvSpPr/>
          <p:nvPr/>
        </p:nvSpPr>
        <p:spPr>
          <a:xfrm>
            <a:off x="666750" y="1676400"/>
            <a:ext cx="1633538"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9 (Motor de desafios)</a:t>
            </a:r>
            <a:endParaRPr lang="en-US" sz="819" dirty="0"/>
          </a:p>
        </p:txBody>
      </p:sp>
      <p:sp>
        <p:nvSpPr>
          <p:cNvPr id="9" name="Text 6"/>
          <p:cNvSpPr/>
          <p:nvPr/>
        </p:nvSpPr>
        <p:spPr>
          <a:xfrm>
            <a:off x="666750" y="18383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Gate de habilitación: ¿nodo desbloqueado? ¿tiene vidas?</a:t>
            </a:r>
            <a:endParaRPr lang="en-US" sz="713" dirty="0"/>
          </a:p>
        </p:txBody>
      </p:sp>
      <p:sp>
        <p:nvSpPr>
          <p:cNvPr id="10" name="Text 7"/>
          <p:cNvSpPr/>
          <p:nvPr/>
        </p:nvSpPr>
        <p:spPr>
          <a:xfrm>
            <a:off x="666750" y="2095500"/>
            <a:ext cx="1052513"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12 (Banco)</a:t>
            </a:r>
            <a:endParaRPr lang="en-US" sz="819" dirty="0"/>
          </a:p>
        </p:txBody>
      </p:sp>
      <p:sp>
        <p:nvSpPr>
          <p:cNvPr id="11" name="Text 8"/>
          <p:cNvSpPr/>
          <p:nvPr/>
        </p:nvSpPr>
        <p:spPr>
          <a:xfrm>
            <a:off x="666750" y="22574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¿Admite crédito de vida? Techo de PAR-12</a:t>
            </a:r>
            <a:endParaRPr lang="en-US" sz="713" dirty="0"/>
          </a:p>
        </p:txBody>
      </p:sp>
      <p:sp>
        <p:nvSpPr>
          <p:cNvPr id="12" name="Text 9"/>
          <p:cNvSpPr/>
          <p:nvPr/>
        </p:nvSpPr>
        <p:spPr>
          <a:xfrm>
            <a:off x="671513" y="2514600"/>
            <a:ext cx="1033462"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1 (Cursos)</a:t>
            </a:r>
            <a:endParaRPr lang="en-US" sz="819" dirty="0"/>
          </a:p>
        </p:txBody>
      </p:sp>
      <p:pic>
        <p:nvPicPr>
          <p:cNvPr id="13" name="Image 0" descr="preencoded.png">    </p:cNvPr>
          <p:cNvPicPr>
            <a:picLocks noChangeAspect="1"/>
          </p:cNvPicPr>
          <p:nvPr/>
        </p:nvPicPr>
        <p:blipFill>
          <a:blip r:embed="rId1"/>
          <a:srcRect l="0" r="0" t="0" b="0"/>
          <a:stretch/>
        </p:blipFill>
        <p:spPr>
          <a:xfrm>
            <a:off x="2767013" y="2900363"/>
            <a:ext cx="476250" cy="476250"/>
          </a:xfrm>
          <a:prstGeom prst="rect">
            <a:avLst/>
          </a:prstGeom>
        </p:spPr>
      </p:pic>
      <p:sp>
        <p:nvSpPr>
          <p:cNvPr id="14" name="Text 10"/>
          <p:cNvSpPr/>
          <p:nvPr/>
        </p:nvSpPr>
        <p:spPr>
          <a:xfrm>
            <a:off x="666750" y="26765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¿Está confirmado el cierre académico? (RF-RNK-10)</a:t>
            </a:r>
            <a:endParaRPr lang="en-US" sz="713" dirty="0"/>
          </a:p>
        </p:txBody>
      </p:sp>
      <p:sp>
        <p:nvSpPr>
          <p:cNvPr id="15" name="Text 11"/>
          <p:cNvSpPr/>
          <p:nvPr/>
        </p:nvSpPr>
        <p:spPr>
          <a:xfrm>
            <a:off x="666750" y="2933700"/>
            <a:ext cx="1238250"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6 (Backoffice)</a:t>
            </a:r>
            <a:endParaRPr lang="en-US" sz="819" dirty="0"/>
          </a:p>
        </p:txBody>
      </p:sp>
      <p:sp>
        <p:nvSpPr>
          <p:cNvPr id="16" name="Text 12"/>
          <p:cNvSpPr/>
          <p:nvPr/>
        </p:nvSpPr>
        <p:spPr>
          <a:xfrm>
            <a:off x="666750" y="30956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Progreso agregado y alumno en riesgo, frescura ≤ 15 min</a:t>
            </a:r>
            <a:endParaRPr lang="en-US" sz="713" dirty="0"/>
          </a:p>
        </p:txBody>
      </p:sp>
      <p:sp>
        <p:nvSpPr>
          <p:cNvPr id="17" name="Text 13"/>
          <p:cNvSpPr/>
          <p:nvPr/>
        </p:nvSpPr>
        <p:spPr>
          <a:xfrm>
            <a:off x="666750" y="3352800"/>
            <a:ext cx="1133475" cy="133350"/>
          </a:xfrm>
          <a:prstGeom prst="rect">
            <a:avLst/>
          </a:prstGeom>
          <a:noFill/>
          <a:ln/>
        </p:spPr>
        <p:txBody>
          <a:bodyPr wrap="square" lIns="0" tIns="0" rIns="0" bIns="0" rtlCol="0" anchor="t"/>
          <a:lstStyle/>
          <a:p>
            <a:pPr algn="l" indent="0" marL="0">
              <a:lnSpc>
                <a:spcPts val="992"/>
              </a:lnSpc>
              <a:buNone/>
            </a:pPr>
            <a:r>
              <a:rPr lang="en-US" sz="819" b="1" dirty="0">
                <a:solidFill>
                  <a:srgbClr val="6B5CE7">
                    <a:alpha val="99000"/>
                  </a:srgbClr>
                </a:solidFill>
                <a:latin typeface="Inter" pitchFamily="34" charset="0"/>
                <a:ea typeface="Inter" pitchFamily="34" charset="-122"/>
                <a:cs typeface="Inter" pitchFamily="34" charset="-120"/>
              </a:rPr>
              <a:t>→ Grupo 7 (Usuarios)</a:t>
            </a:r>
            <a:endParaRPr lang="en-US" sz="819" dirty="0"/>
          </a:p>
        </p:txBody>
      </p:sp>
      <p:sp>
        <p:nvSpPr>
          <p:cNvPr id="18" name="Text 14"/>
          <p:cNvSpPr/>
          <p:nvPr/>
        </p:nvSpPr>
        <p:spPr>
          <a:xfrm>
            <a:off x="666750" y="35147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Perfiles en batch para las filas del ranking</a:t>
            </a:r>
            <a:endParaRPr lang="en-US" sz="713" dirty="0"/>
          </a:p>
        </p:txBody>
      </p:sp>
      <p:sp>
        <p:nvSpPr>
          <p:cNvPr id="19" name="Text 15"/>
          <p:cNvSpPr/>
          <p:nvPr/>
        </p:nvSpPr>
        <p:spPr>
          <a:xfrm>
            <a:off x="666750" y="3771900"/>
            <a:ext cx="1238250" cy="133350"/>
          </a:xfrm>
          <a:prstGeom prst="rect">
            <a:avLst/>
          </a:prstGeom>
          <a:noFill/>
          <a:ln/>
        </p:spPr>
        <p:txBody>
          <a:bodyPr wrap="square" lIns="0" tIns="0" rIns="0" bIns="0" rtlCol="0" anchor="t"/>
          <a:lstStyle/>
          <a:p>
            <a:pPr algn="l" indent="0" marL="0">
              <a:lnSpc>
                <a:spcPts val="992"/>
              </a:lnSpc>
              <a:buNone/>
            </a:pPr>
            <a:r>
              <a:rPr lang="en-US" sz="819" b="1" dirty="0">
                <a:solidFill>
                  <a:srgbClr val="6B5CE7">
                    <a:alpha val="99000"/>
                  </a:srgbClr>
                </a:solidFill>
                <a:latin typeface="Inter" pitchFamily="34" charset="0"/>
                <a:ea typeface="Inter" pitchFamily="34" charset="-122"/>
                <a:cs typeface="Inter" pitchFamily="34" charset="-120"/>
              </a:rPr>
              <a:t>→ Grupo 6 (Backoffice)</a:t>
            </a:r>
            <a:endParaRPr lang="en-US" sz="819" dirty="0"/>
          </a:p>
        </p:txBody>
      </p:sp>
      <p:sp>
        <p:nvSpPr>
          <p:cNvPr id="20" name="Text 16"/>
          <p:cNvSpPr/>
          <p:nvPr/>
        </p:nvSpPr>
        <p:spPr>
          <a:xfrm>
            <a:off x="666750" y="39338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Parámetros PAR-01, 02, 04, 05, 06, 08, 09 y 12</a:t>
            </a:r>
            <a:endParaRPr lang="en-US" sz="713" dirty="0"/>
          </a:p>
        </p:txBody>
      </p:sp>
      <p:sp>
        <p:nvSpPr>
          <p:cNvPr id="21" name="Shape 17"/>
          <p:cNvSpPr/>
          <p:nvPr/>
        </p:nvSpPr>
        <p:spPr>
          <a:xfrm>
            <a:off x="4667250" y="1276350"/>
            <a:ext cx="3810000" cy="19050"/>
          </a:xfrm>
          <a:prstGeom prst="rect">
            <a:avLst/>
          </a:prstGeom>
          <a:solidFill>
            <a:srgbClr val="F5A623"/>
          </a:solidFill>
          <a:ln/>
        </p:spPr>
      </p:sp>
      <p:sp>
        <p:nvSpPr>
          <p:cNvPr id="22" name="Text 18"/>
          <p:cNvSpPr/>
          <p:nvPr/>
        </p:nvSpPr>
        <p:spPr>
          <a:xfrm>
            <a:off x="4667250" y="1381125"/>
            <a:ext cx="1919288" cy="119063"/>
          </a:xfrm>
          <a:prstGeom prst="rect">
            <a:avLst/>
          </a:prstGeom>
          <a:noFill/>
          <a:ln/>
        </p:spPr>
        <p:txBody>
          <a:bodyPr wrap="square" lIns="0" tIns="0" rIns="0" bIns="0" rtlCol="0" anchor="t"/>
          <a:lstStyle/>
          <a:p>
            <a:pPr algn="l" indent="0" marL="0">
              <a:lnSpc>
                <a:spcPts val="905"/>
              </a:lnSpc>
              <a:buNone/>
            </a:pPr>
            <a:r>
              <a:rPr lang="en-US" sz="748" b="1" dirty="0">
                <a:solidFill>
                  <a:srgbClr val="F5A623">
                    <a:alpha val="99000"/>
                  </a:srgbClr>
                </a:solidFill>
                <a:latin typeface="Inter" pitchFamily="34" charset="0"/>
                <a:ea typeface="Inter" pitchFamily="34" charset="-122"/>
                <a:cs typeface="Inter" pitchFamily="34" charset="-120"/>
              </a:rPr>
              <a:t>ASÍNCRONO · POR EL BUS DE EVENTOS</a:t>
            </a:r>
            <a:endParaRPr lang="en-US" sz="748" dirty="0"/>
          </a:p>
        </p:txBody>
      </p:sp>
      <p:sp>
        <p:nvSpPr>
          <p:cNvPr id="23" name="Text 19"/>
          <p:cNvSpPr/>
          <p:nvPr/>
        </p:nvSpPr>
        <p:spPr>
          <a:xfrm>
            <a:off x="4667250" y="1676400"/>
            <a:ext cx="1633538"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9 (Motor de desafios)</a:t>
            </a:r>
            <a:endParaRPr lang="en-US" sz="819" dirty="0"/>
          </a:p>
        </p:txBody>
      </p:sp>
      <p:sp>
        <p:nvSpPr>
          <p:cNvPr id="24" name="Text 20"/>
          <p:cNvSpPr/>
          <p:nvPr/>
        </p:nvSpPr>
        <p:spPr>
          <a:xfrm>
            <a:off x="4667250" y="18383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DesafioCompletadoEvent, con la bandera consume_vida</a:t>
            </a:r>
            <a:endParaRPr lang="en-US" sz="713" dirty="0"/>
          </a:p>
        </p:txBody>
      </p:sp>
      <p:sp>
        <p:nvSpPr>
          <p:cNvPr id="25" name="Text 21"/>
          <p:cNvSpPr/>
          <p:nvPr/>
        </p:nvSpPr>
        <p:spPr>
          <a:xfrm>
            <a:off x="4667250" y="2095500"/>
            <a:ext cx="1033462"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1 (Cursos)</a:t>
            </a:r>
            <a:endParaRPr lang="en-US" sz="819" dirty="0"/>
          </a:p>
        </p:txBody>
      </p:sp>
      <p:sp>
        <p:nvSpPr>
          <p:cNvPr id="26" name="Text 22"/>
          <p:cNvSpPr/>
          <p:nvPr/>
        </p:nvSpPr>
        <p:spPr>
          <a:xfrm>
            <a:off x="4667250" y="22574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Matrícula creada · curso activado · curso archivado</a:t>
            </a:r>
            <a:endParaRPr lang="en-US" sz="713" dirty="0"/>
          </a:p>
        </p:txBody>
      </p:sp>
      <p:sp>
        <p:nvSpPr>
          <p:cNvPr id="27" name="Text 23"/>
          <p:cNvSpPr/>
          <p:nvPr/>
        </p:nvSpPr>
        <p:spPr>
          <a:xfrm>
            <a:off x="4667250" y="2514600"/>
            <a:ext cx="895350"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3 (LLM)</a:t>
            </a:r>
            <a:endParaRPr lang="en-US" sz="819" dirty="0"/>
          </a:p>
        </p:txBody>
      </p:sp>
      <p:sp>
        <p:nvSpPr>
          <p:cNvPr id="28" name="Text 24"/>
          <p:cNvSpPr/>
          <p:nvPr/>
        </p:nvSpPr>
        <p:spPr>
          <a:xfrm>
            <a:off x="4667250" y="26765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Score de IA, cálculo diferido y corrección por apelación</a:t>
            </a:r>
            <a:endParaRPr lang="en-US" sz="713" dirty="0"/>
          </a:p>
        </p:txBody>
      </p:sp>
      <p:sp>
        <p:nvSpPr>
          <p:cNvPr id="29" name="Text 25"/>
          <p:cNvSpPr/>
          <p:nvPr/>
        </p:nvSpPr>
        <p:spPr>
          <a:xfrm>
            <a:off x="4667250" y="2933700"/>
            <a:ext cx="1052513" cy="133350"/>
          </a:xfrm>
          <a:prstGeom prst="rect">
            <a:avLst/>
          </a:prstGeom>
          <a:noFill/>
          <a:ln/>
        </p:spPr>
        <p:txBody>
          <a:bodyPr wrap="square" lIns="0" tIns="0" rIns="0" bIns="0" rtlCol="0" anchor="t"/>
          <a:lstStyle/>
          <a:p>
            <a:pPr algn="l" indent="0" marL="0">
              <a:lnSpc>
                <a:spcPts val="992"/>
              </a:lnSpc>
              <a:buNone/>
            </a:pPr>
            <a:r>
              <a:rPr lang="en-US" sz="819" b="1" dirty="0">
                <a:solidFill>
                  <a:srgbClr val="FFFFFF">
                    <a:alpha val="99000"/>
                  </a:srgbClr>
                </a:solidFill>
                <a:latin typeface="Inter" pitchFamily="34" charset="0"/>
                <a:ea typeface="Inter" pitchFamily="34" charset="-122"/>
                <a:cs typeface="Inter" pitchFamily="34" charset="-120"/>
              </a:rPr>
              <a:t>← Grupo 12 (Banco)</a:t>
            </a:r>
            <a:endParaRPr lang="en-US" sz="819" dirty="0"/>
          </a:p>
        </p:txBody>
      </p:sp>
      <p:sp>
        <p:nvSpPr>
          <p:cNvPr id="30" name="Text 26"/>
          <p:cNvSpPr/>
          <p:nvPr/>
        </p:nvSpPr>
        <p:spPr>
          <a:xfrm>
            <a:off x="4667250" y="30956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Compra de vida confirmada</a:t>
            </a:r>
            <a:endParaRPr lang="en-US" sz="713" dirty="0"/>
          </a:p>
        </p:txBody>
      </p:sp>
      <p:sp>
        <p:nvSpPr>
          <p:cNvPr id="31" name="Text 27"/>
          <p:cNvSpPr/>
          <p:nvPr/>
        </p:nvSpPr>
        <p:spPr>
          <a:xfrm>
            <a:off x="4667250" y="3352800"/>
            <a:ext cx="1633538" cy="133350"/>
          </a:xfrm>
          <a:prstGeom prst="rect">
            <a:avLst/>
          </a:prstGeom>
          <a:noFill/>
          <a:ln/>
        </p:spPr>
        <p:txBody>
          <a:bodyPr wrap="square" lIns="0" tIns="0" rIns="0" bIns="0" rtlCol="0" anchor="t"/>
          <a:lstStyle/>
          <a:p>
            <a:pPr algn="l" indent="0" marL="0">
              <a:lnSpc>
                <a:spcPts val="992"/>
              </a:lnSpc>
              <a:buNone/>
            </a:pPr>
            <a:r>
              <a:rPr lang="en-US" sz="819" b="1" dirty="0">
                <a:solidFill>
                  <a:srgbClr val="6B5CE7">
                    <a:alpha val="99000"/>
                  </a:srgbClr>
                </a:solidFill>
                <a:latin typeface="Inter" pitchFamily="34" charset="0"/>
                <a:ea typeface="Inter" pitchFamily="34" charset="-122"/>
                <a:cs typeface="Inter" pitchFamily="34" charset="-120"/>
              </a:rPr>
              <a:t>→ Grupo 9 (Motor de desafios)</a:t>
            </a:r>
            <a:endParaRPr lang="en-US" sz="819" dirty="0"/>
          </a:p>
        </p:txBody>
      </p:sp>
      <p:sp>
        <p:nvSpPr>
          <p:cNvPr id="32" name="Text 28"/>
          <p:cNvSpPr/>
          <p:nvPr/>
        </p:nvSpPr>
        <p:spPr>
          <a:xfrm>
            <a:off x="4667250" y="35147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progreso.vidas.agotadas</a:t>
            </a:r>
            <a:endParaRPr lang="en-US" sz="713" dirty="0"/>
          </a:p>
        </p:txBody>
      </p:sp>
      <p:sp>
        <p:nvSpPr>
          <p:cNvPr id="33" name="Text 29"/>
          <p:cNvSpPr/>
          <p:nvPr/>
        </p:nvSpPr>
        <p:spPr>
          <a:xfrm>
            <a:off x="4667250" y="3771900"/>
            <a:ext cx="1171575" cy="133350"/>
          </a:xfrm>
          <a:prstGeom prst="rect">
            <a:avLst/>
          </a:prstGeom>
          <a:noFill/>
          <a:ln/>
        </p:spPr>
        <p:txBody>
          <a:bodyPr wrap="square" lIns="0" tIns="0" rIns="0" bIns="0" rtlCol="0" anchor="t"/>
          <a:lstStyle/>
          <a:p>
            <a:pPr algn="l" indent="0" marL="0">
              <a:lnSpc>
                <a:spcPts val="992"/>
              </a:lnSpc>
              <a:buNone/>
            </a:pPr>
            <a:r>
              <a:rPr lang="en-US" sz="819" b="1" dirty="0">
                <a:solidFill>
                  <a:srgbClr val="6B5CE7">
                    <a:alpha val="99000"/>
                  </a:srgbClr>
                </a:solidFill>
                <a:latin typeface="Inter" pitchFamily="34" charset="0"/>
                <a:ea typeface="Inter" pitchFamily="34" charset="-122"/>
                <a:cs typeface="Inter" pitchFamily="34" charset="-120"/>
              </a:rPr>
              <a:t>→ Grupo 11 (Mercado)</a:t>
            </a:r>
            <a:endParaRPr lang="en-US" sz="819" dirty="0"/>
          </a:p>
        </p:txBody>
      </p:sp>
      <p:sp>
        <p:nvSpPr>
          <p:cNvPr id="34" name="Text 30"/>
          <p:cNvSpPr/>
          <p:nvPr/>
        </p:nvSpPr>
        <p:spPr>
          <a:xfrm>
            <a:off x="4667250" y="3933825"/>
            <a:ext cx="371475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Zona P90/P10 · nivel alcanzado · insignia otorgada (sujeto a la duda abierta)</a:t>
            </a:r>
            <a:endParaRPr lang="en-US" sz="713" dirty="0"/>
          </a:p>
        </p:txBody>
      </p:sp>
      <p:sp>
        <p:nvSpPr>
          <p:cNvPr id="35" name="Text 31"/>
          <p:cNvSpPr/>
          <p:nvPr/>
        </p:nvSpPr>
        <p:spPr>
          <a:xfrm>
            <a:off x="666750" y="4286250"/>
            <a:ext cx="1552575" cy="119063"/>
          </a:xfrm>
          <a:prstGeom prst="rect">
            <a:avLst/>
          </a:prstGeom>
          <a:noFill/>
          <a:ln/>
        </p:spPr>
        <p:txBody>
          <a:bodyPr wrap="square" lIns="0" tIns="0" rIns="0" bIns="0" rtlCol="0" anchor="t"/>
          <a:lstStyle/>
          <a:p>
            <a:pPr algn="l" indent="0" marL="0">
              <a:lnSpc>
                <a:spcPts val="905"/>
              </a:lnSpc>
              <a:buNone/>
            </a:pPr>
            <a:r>
              <a:rPr lang="en-US" sz="748" dirty="0">
                <a:solidFill>
                  <a:srgbClr val="FFFFFF">
                    <a:alpha val="99000"/>
                  </a:srgbClr>
                </a:solidFill>
                <a:latin typeface="Inter" pitchFamily="34" charset="0"/>
                <a:ea typeface="Inter" pitchFamily="34" charset="-122"/>
                <a:cs typeface="Inter" pitchFamily="34" charset="-120"/>
              </a:rPr>
              <a:t>←   nos consultan o nos publican</a:t>
            </a:r>
            <a:endParaRPr lang="en-US" sz="748" dirty="0"/>
          </a:p>
        </p:txBody>
      </p:sp>
      <p:sp>
        <p:nvSpPr>
          <p:cNvPr id="36" name="Text 32"/>
          <p:cNvSpPr/>
          <p:nvPr/>
        </p:nvSpPr>
        <p:spPr>
          <a:xfrm>
            <a:off x="2952750" y="4286250"/>
            <a:ext cx="1881187" cy="119063"/>
          </a:xfrm>
          <a:prstGeom prst="rect">
            <a:avLst/>
          </a:prstGeom>
          <a:noFill/>
          <a:ln/>
        </p:spPr>
        <p:txBody>
          <a:bodyPr wrap="square" lIns="0" tIns="0" rIns="0" bIns="0" rtlCol="0" anchor="t"/>
          <a:lstStyle/>
          <a:p>
            <a:pPr algn="l" indent="0" marL="0">
              <a:lnSpc>
                <a:spcPts val="905"/>
              </a:lnSpc>
              <a:buNone/>
            </a:pPr>
            <a:r>
              <a:rPr lang="en-US" sz="748" dirty="0">
                <a:solidFill>
                  <a:srgbClr val="6B5CE7">
                    <a:alpha val="99000"/>
                  </a:srgbClr>
                </a:solidFill>
                <a:latin typeface="Inter" pitchFamily="34" charset="0"/>
                <a:ea typeface="Inter" pitchFamily="34" charset="-122"/>
                <a:cs typeface="Inter" pitchFamily="34" charset="-120"/>
              </a:rPr>
              <a:t>→   consultamos o publicamos nosotros</a:t>
            </a:r>
            <a:endParaRPr lang="en-US" sz="748" dirty="0"/>
          </a:p>
        </p:txBody>
      </p:sp>
      <p:sp>
        <p:nvSpPr>
          <p:cNvPr id="37" name="Text 33"/>
          <p:cNvSpPr/>
          <p:nvPr/>
        </p:nvSpPr>
        <p:spPr>
          <a:xfrm>
            <a:off x="5619750" y="4286250"/>
            <a:ext cx="2857500" cy="47625"/>
          </a:xfrm>
          <a:prstGeom prst="rect">
            <a:avLst/>
          </a:prstGeom>
          <a:noFill/>
          <a:ln/>
        </p:spPr>
        <p:txBody>
          <a:bodyPr wrap="square" lIns="0" tIns="0" rIns="0" bIns="0" rtlCol="0" anchor="t"/>
          <a:lstStyle/>
          <a:p>
            <a:pPr algn="l" indent="0" marL="0">
              <a:lnSpc>
                <a:spcPts val="998"/>
              </a:lnSpc>
              <a:buNone/>
            </a:pPr>
            <a:r>
              <a:rPr lang="en-US" sz="748" dirty="0">
                <a:solidFill>
                  <a:srgbClr val="9AA0B4">
                    <a:alpha val="99000"/>
                  </a:srgbClr>
                </a:solidFill>
                <a:latin typeface="Inter" pitchFamily="34" charset="0"/>
                <a:ea typeface="Inter" pitchFamily="34" charset="-122"/>
                <a:cs typeface="Inter" pitchFamily="34" charset="-120"/>
              </a:rPr>
              <a:t>Ninguna llamada directa entre microservicios: todo lo síncrono sale y vuelve a entrar por el gateway.</a:t>
            </a:r>
            <a:endParaRPr lang="en-US" sz="748" dirty="0"/>
          </a:p>
        </p:txBody>
      </p:sp>
      <p:sp>
        <p:nvSpPr>
          <p:cNvPr id="38" name="Text 34"/>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39" name="Text 35"/>
          <p:cNvSpPr/>
          <p:nvPr/>
        </p:nvSpPr>
        <p:spPr>
          <a:xfrm>
            <a:off x="8286750" y="4705350"/>
            <a:ext cx="90488"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11</a:t>
            </a:r>
            <a:endParaRPr lang="en-US" sz="67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1204913"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PEDIDOS CONCRETOS</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Cada línea con destinatario y con fecha</a:t>
            </a:r>
            <a:endParaRPr lang="en-US" sz="1995" dirty="0"/>
          </a:p>
        </p:txBody>
      </p:sp>
      <p:sp>
        <p:nvSpPr>
          <p:cNvPr id="6" name="Shape 3"/>
          <p:cNvSpPr/>
          <p:nvPr/>
        </p:nvSpPr>
        <p:spPr>
          <a:xfrm>
            <a:off x="666750" y="1266825"/>
            <a:ext cx="7810500" cy="561975"/>
          </a:xfrm>
          <a:prstGeom prst="roundRect">
            <a:avLst>
              <a:gd name="adj" fmla="val 26034"/>
            </a:avLst>
          </a:prstGeom>
          <a:solidFill>
            <a:srgbClr val="1B1D2F"/>
          </a:solidFill>
          <a:ln/>
        </p:spPr>
      </p:sp>
      <p:sp>
        <p:nvSpPr>
          <p:cNvPr id="7" name="Shape 4"/>
          <p:cNvSpPr/>
          <p:nvPr/>
        </p:nvSpPr>
        <p:spPr>
          <a:xfrm>
            <a:off x="800100" y="1443038"/>
            <a:ext cx="838200" cy="209550"/>
          </a:xfrm>
          <a:prstGeom prst="roundRect">
            <a:avLst>
              <a:gd name="adj" fmla="val 96000"/>
            </a:avLst>
          </a:prstGeom>
          <a:solidFill>
            <a:srgbClr val="201C44"/>
          </a:solidFill>
          <a:ln/>
        </p:spPr>
      </p:sp>
      <p:sp>
        <p:nvSpPr>
          <p:cNvPr id="8" name="Text 5"/>
          <p:cNvSpPr/>
          <p:nvPr/>
        </p:nvSpPr>
        <p:spPr>
          <a:xfrm>
            <a:off x="800100" y="1483519"/>
            <a:ext cx="838200" cy="47625"/>
          </a:xfrm>
          <a:prstGeom prst="rect">
            <a:avLst/>
          </a:prstGeom>
          <a:noFill/>
          <a:ln/>
        </p:spPr>
        <p:txBody>
          <a:bodyPr wrap="square" lIns="0" tIns="0" rIns="0" bIns="0" rtlCol="0" anchor="t"/>
          <a:lstStyle/>
          <a:p>
            <a:pPr algn="ctr" indent="0" marL="0">
              <a:lnSpc>
                <a:spcPts val="862"/>
              </a:lnSpc>
              <a:buNone/>
            </a:pPr>
            <a:r>
              <a:rPr lang="en-US" sz="713" b="1" dirty="0">
                <a:solidFill>
                  <a:srgbClr val="6B5CE7">
                    <a:alpha val="99000"/>
                  </a:srgbClr>
                </a:solidFill>
                <a:latin typeface="Inter" pitchFamily="34" charset="0"/>
                <a:ea typeface="Inter" pitchFamily="34" charset="-122"/>
                <a:cs typeface="Inter" pitchFamily="34" charset="-120"/>
              </a:rPr>
              <a:t>Grupo 11 (Mercado)</a:t>
            </a:r>
            <a:endParaRPr lang="en-US" sz="713" dirty="0"/>
          </a:p>
        </p:txBody>
      </p:sp>
      <p:sp>
        <p:nvSpPr>
          <p:cNvPr id="9" name="Text 6"/>
          <p:cNvSpPr/>
          <p:nvPr/>
        </p:nvSpPr>
        <p:spPr>
          <a:xfrm>
            <a:off x="1790700" y="1390650"/>
            <a:ext cx="5619750" cy="47625"/>
          </a:xfrm>
          <a:prstGeom prst="rect">
            <a:avLst/>
          </a:prstGeom>
          <a:noFill/>
          <a:ln/>
        </p:spPr>
        <p:txBody>
          <a:bodyPr wrap="square" lIns="0" tIns="0" rIns="0" bIns="0" rtlCol="0" anchor="t"/>
          <a:lstStyle/>
          <a:p>
            <a:pPr algn="l" indent="0" marL="0">
              <a:lnSpc>
                <a:spcPts val="1211"/>
              </a:lnSpc>
              <a:buNone/>
            </a:pPr>
            <a:r>
              <a:rPr lang="en-US" sz="891" dirty="0">
                <a:solidFill>
                  <a:srgbClr val="FFFFFF">
                    <a:alpha val="99000"/>
                  </a:srgbClr>
                </a:solidFill>
                <a:latin typeface="Inter" pitchFamily="34" charset="0"/>
                <a:ea typeface="Inter" pitchFamily="34" charset="-122"/>
                <a:cs typeface="Inter" pitchFamily="34" charset="-120"/>
              </a:rPr>
              <a:t>Contrato de eventos: identificador único y estable, curso_cohorte_id en todo evento de dominio, timestamp del hecho separado del de publicación, y versionado de esquema.</a:t>
            </a:r>
            <a:endParaRPr lang="en-US" sz="891" dirty="0"/>
          </a:p>
        </p:txBody>
      </p:sp>
      <p:sp>
        <p:nvSpPr>
          <p:cNvPr id="10" name="Text 7"/>
          <p:cNvSpPr/>
          <p:nvPr/>
        </p:nvSpPr>
        <p:spPr>
          <a:xfrm>
            <a:off x="7572375" y="1476375"/>
            <a:ext cx="771525" cy="47625"/>
          </a:xfrm>
          <a:prstGeom prst="rect">
            <a:avLst/>
          </a:prstGeom>
          <a:noFill/>
          <a:ln/>
        </p:spPr>
        <p:txBody>
          <a:bodyPr wrap="square" lIns="0" tIns="0" rIns="0" bIns="0" rtlCol="0" anchor="t"/>
          <a:lstStyle/>
          <a:p>
            <a:pPr algn="r"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SPRINT 1</a:t>
            </a:r>
            <a:endParaRPr lang="en-US" sz="641" dirty="0"/>
          </a:p>
        </p:txBody>
      </p:sp>
      <p:sp>
        <p:nvSpPr>
          <p:cNvPr id="11" name="Shape 8"/>
          <p:cNvSpPr/>
          <p:nvPr/>
        </p:nvSpPr>
        <p:spPr>
          <a:xfrm>
            <a:off x="666750" y="1876425"/>
            <a:ext cx="7810500" cy="561975"/>
          </a:xfrm>
          <a:prstGeom prst="roundRect">
            <a:avLst>
              <a:gd name="adj" fmla="val 26034"/>
            </a:avLst>
          </a:prstGeom>
          <a:solidFill>
            <a:srgbClr val="1B1D2F"/>
          </a:solidFill>
          <a:ln/>
        </p:spPr>
      </p:sp>
      <p:sp>
        <p:nvSpPr>
          <p:cNvPr id="12" name="Shape 9"/>
          <p:cNvSpPr/>
          <p:nvPr/>
        </p:nvSpPr>
        <p:spPr>
          <a:xfrm>
            <a:off x="800100" y="2052637"/>
            <a:ext cx="838200" cy="209550"/>
          </a:xfrm>
          <a:prstGeom prst="roundRect">
            <a:avLst>
              <a:gd name="adj" fmla="val 96000"/>
            </a:avLst>
          </a:prstGeom>
          <a:solidFill>
            <a:srgbClr val="0E2E32"/>
          </a:solidFill>
          <a:ln/>
        </p:spPr>
      </p:sp>
      <p:sp>
        <p:nvSpPr>
          <p:cNvPr id="13" name="Text 10"/>
          <p:cNvSpPr/>
          <p:nvPr/>
        </p:nvSpPr>
        <p:spPr>
          <a:xfrm>
            <a:off x="800100" y="2093119"/>
            <a:ext cx="838200" cy="47625"/>
          </a:xfrm>
          <a:prstGeom prst="rect">
            <a:avLst/>
          </a:prstGeom>
          <a:noFill/>
          <a:ln/>
        </p:spPr>
        <p:txBody>
          <a:bodyPr wrap="square" lIns="0" tIns="0" rIns="0" bIns="0" rtlCol="0" anchor="t"/>
          <a:lstStyle/>
          <a:p>
            <a:pPr algn="ctr" indent="0" marL="0">
              <a:lnSpc>
                <a:spcPts val="862"/>
              </a:lnSpc>
              <a:buNone/>
            </a:pPr>
            <a:r>
              <a:rPr lang="en-US" sz="713" b="1" dirty="0">
                <a:solidFill>
                  <a:srgbClr val="4CD4D8">
                    <a:alpha val="99000"/>
                  </a:srgbClr>
                </a:solidFill>
                <a:latin typeface="Inter" pitchFamily="34" charset="0"/>
                <a:ea typeface="Inter" pitchFamily="34" charset="-122"/>
                <a:cs typeface="Inter" pitchFamily="34" charset="-120"/>
              </a:rPr>
              <a:t>Grupo 9 (Motor de desafios)</a:t>
            </a:r>
            <a:endParaRPr lang="en-US" sz="713" dirty="0"/>
          </a:p>
        </p:txBody>
      </p:sp>
      <p:sp>
        <p:nvSpPr>
          <p:cNvPr id="14" name="Text 11"/>
          <p:cNvSpPr/>
          <p:nvPr/>
        </p:nvSpPr>
        <p:spPr>
          <a:xfrm>
            <a:off x="1790700" y="2000250"/>
            <a:ext cx="5619750" cy="47625"/>
          </a:xfrm>
          <a:prstGeom prst="rect">
            <a:avLst/>
          </a:prstGeom>
          <a:noFill/>
          <a:ln/>
        </p:spPr>
        <p:txBody>
          <a:bodyPr wrap="square" lIns="0" tIns="0" rIns="0" bIns="0" rtlCol="0" anchor="t"/>
          <a:lstStyle/>
          <a:p>
            <a:pPr algn="l" indent="0" marL="0">
              <a:lnSpc>
                <a:spcPts val="1211"/>
              </a:lnSpc>
              <a:buNone/>
            </a:pPr>
            <a:r>
              <a:rPr lang="en-US" sz="891" dirty="0">
                <a:solidFill>
                  <a:srgbClr val="FFFFFF">
                    <a:alpha val="99000"/>
                  </a:srgbClr>
                </a:solidFill>
                <a:latin typeface="Inter" pitchFamily="34" charset="0"/>
                <a:ea typeface="Inter" pitchFamily="34" charset="-122"/>
                <a:cs typeface="Inter" pitchFamily="34" charset="-120"/>
              </a:rPr>
              <a:t>Bandera consume_vida en el evento de resultado. Sin ella no distinguimos un fallo normal de un desafío de recuperación ni de un personalizado por LLM.</a:t>
            </a:r>
            <a:endParaRPr lang="en-US" sz="891" dirty="0"/>
          </a:p>
        </p:txBody>
      </p:sp>
      <p:sp>
        <p:nvSpPr>
          <p:cNvPr id="15" name="Text 12"/>
          <p:cNvSpPr/>
          <p:nvPr/>
        </p:nvSpPr>
        <p:spPr>
          <a:xfrm>
            <a:off x="7572375" y="2085975"/>
            <a:ext cx="771525" cy="47625"/>
          </a:xfrm>
          <a:prstGeom prst="rect">
            <a:avLst/>
          </a:prstGeom>
          <a:noFill/>
          <a:ln/>
        </p:spPr>
        <p:txBody>
          <a:bodyPr wrap="square" lIns="0" tIns="0" rIns="0" bIns="0" rtlCol="0" anchor="t"/>
          <a:lstStyle/>
          <a:p>
            <a:pPr algn="r"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SPRINT 1</a:t>
            </a:r>
            <a:endParaRPr lang="en-US" sz="641" dirty="0"/>
          </a:p>
        </p:txBody>
      </p:sp>
      <p:sp>
        <p:nvSpPr>
          <p:cNvPr id="16" name="Shape 13"/>
          <p:cNvSpPr/>
          <p:nvPr/>
        </p:nvSpPr>
        <p:spPr>
          <a:xfrm>
            <a:off x="666750" y="2486025"/>
            <a:ext cx="7810500" cy="561975"/>
          </a:xfrm>
          <a:prstGeom prst="roundRect">
            <a:avLst>
              <a:gd name="adj" fmla="val 26034"/>
            </a:avLst>
          </a:prstGeom>
          <a:solidFill>
            <a:srgbClr val="1B1D2F"/>
          </a:solidFill>
          <a:ln/>
        </p:spPr>
      </p:sp>
      <p:sp>
        <p:nvSpPr>
          <p:cNvPr id="17" name="Shape 14"/>
          <p:cNvSpPr/>
          <p:nvPr/>
        </p:nvSpPr>
        <p:spPr>
          <a:xfrm>
            <a:off x="800100" y="2662238"/>
            <a:ext cx="838200" cy="209550"/>
          </a:xfrm>
          <a:prstGeom prst="roundRect">
            <a:avLst>
              <a:gd name="adj" fmla="val 96000"/>
            </a:avLst>
          </a:prstGeom>
          <a:solidFill>
            <a:srgbClr val="0E2E32"/>
          </a:solidFill>
          <a:ln/>
        </p:spPr>
      </p:sp>
      <p:sp>
        <p:nvSpPr>
          <p:cNvPr id="18" name="Text 15"/>
          <p:cNvSpPr/>
          <p:nvPr/>
        </p:nvSpPr>
        <p:spPr>
          <a:xfrm>
            <a:off x="800100" y="2702719"/>
            <a:ext cx="838200" cy="47625"/>
          </a:xfrm>
          <a:prstGeom prst="rect">
            <a:avLst/>
          </a:prstGeom>
          <a:noFill/>
          <a:ln/>
        </p:spPr>
        <p:txBody>
          <a:bodyPr wrap="square" lIns="0" tIns="0" rIns="0" bIns="0" rtlCol="0" anchor="t"/>
          <a:lstStyle/>
          <a:p>
            <a:pPr algn="ctr" indent="0" marL="0">
              <a:lnSpc>
                <a:spcPts val="862"/>
              </a:lnSpc>
              <a:buNone/>
            </a:pPr>
            <a:r>
              <a:rPr lang="en-US" sz="713" b="1" dirty="0">
                <a:solidFill>
                  <a:srgbClr val="4CD4D8">
                    <a:alpha val="99000"/>
                  </a:srgbClr>
                </a:solidFill>
                <a:latin typeface="Inter" pitchFamily="34" charset="0"/>
                <a:ea typeface="Inter" pitchFamily="34" charset="-122"/>
                <a:cs typeface="Inter" pitchFamily="34" charset="-120"/>
              </a:rPr>
              <a:t>Grupo 9 (Motor de desafios)</a:t>
            </a:r>
            <a:endParaRPr lang="en-US" sz="713" dirty="0"/>
          </a:p>
        </p:txBody>
      </p:sp>
      <p:sp>
        <p:nvSpPr>
          <p:cNvPr id="19" name="Text 16"/>
          <p:cNvSpPr/>
          <p:nvPr/>
        </p:nvSpPr>
        <p:spPr>
          <a:xfrm>
            <a:off x="1790700" y="2609850"/>
            <a:ext cx="5619750" cy="47625"/>
          </a:xfrm>
          <a:prstGeom prst="rect">
            <a:avLst/>
          </a:prstGeom>
          <a:noFill/>
          <a:ln/>
        </p:spPr>
        <p:txBody>
          <a:bodyPr wrap="square" lIns="0" tIns="0" rIns="0" bIns="0" rtlCol="0" anchor="t"/>
          <a:lstStyle/>
          <a:p>
            <a:pPr algn="l" indent="0" marL="0">
              <a:lnSpc>
                <a:spcPts val="1211"/>
              </a:lnSpc>
              <a:buNone/>
            </a:pPr>
            <a:r>
              <a:rPr lang="en-US" sz="891" dirty="0">
                <a:solidFill>
                  <a:srgbClr val="FFFFFF">
                    <a:alpha val="99000"/>
                  </a:srgbClr>
                </a:solidFill>
                <a:latin typeface="Inter" pitchFamily="34" charset="0"/>
                <a:ea typeface="Inter" pitchFamily="34" charset="-122"/>
                <a:cs typeface="Inter" pitchFamily="34" charset="-120"/>
              </a:rPr>
              <a:t>El evento trae mediciones, no XP calculado. Y acuerdo sobre quién evalúa la regla de reintentos: RF-DES-06 la ubica al armar el roadmap del curso.</a:t>
            </a:r>
            <a:endParaRPr lang="en-US" sz="891" dirty="0"/>
          </a:p>
        </p:txBody>
      </p:sp>
      <p:sp>
        <p:nvSpPr>
          <p:cNvPr id="20" name="Text 17"/>
          <p:cNvSpPr/>
          <p:nvPr/>
        </p:nvSpPr>
        <p:spPr>
          <a:xfrm>
            <a:off x="7572375" y="2695575"/>
            <a:ext cx="771525" cy="47625"/>
          </a:xfrm>
          <a:prstGeom prst="rect">
            <a:avLst/>
          </a:prstGeom>
          <a:noFill/>
          <a:ln/>
        </p:spPr>
        <p:txBody>
          <a:bodyPr wrap="square" lIns="0" tIns="0" rIns="0" bIns="0" rtlCol="0" anchor="t"/>
          <a:lstStyle/>
          <a:p>
            <a:pPr algn="r"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SPRINT 1</a:t>
            </a:r>
            <a:endParaRPr lang="en-US" sz="641" dirty="0"/>
          </a:p>
        </p:txBody>
      </p:sp>
      <p:sp>
        <p:nvSpPr>
          <p:cNvPr id="21" name="Shape 18"/>
          <p:cNvSpPr/>
          <p:nvPr/>
        </p:nvSpPr>
        <p:spPr>
          <a:xfrm>
            <a:off x="666750" y="3095625"/>
            <a:ext cx="7810500" cy="561975"/>
          </a:xfrm>
          <a:prstGeom prst="roundRect">
            <a:avLst>
              <a:gd name="adj" fmla="val 26034"/>
            </a:avLst>
          </a:prstGeom>
          <a:solidFill>
            <a:srgbClr val="1B1D2F"/>
          </a:solidFill>
          <a:ln/>
        </p:spPr>
      </p:sp>
      <p:sp>
        <p:nvSpPr>
          <p:cNvPr id="22" name="Shape 19"/>
          <p:cNvSpPr/>
          <p:nvPr/>
        </p:nvSpPr>
        <p:spPr>
          <a:xfrm>
            <a:off x="781050" y="3267075"/>
            <a:ext cx="838200" cy="247650"/>
          </a:xfrm>
          <a:prstGeom prst="roundRect">
            <a:avLst>
              <a:gd name="adj" fmla="val 81231"/>
            </a:avLst>
          </a:prstGeom>
          <a:solidFill>
            <a:srgbClr val="10321E"/>
          </a:solidFill>
          <a:ln/>
        </p:spPr>
      </p:sp>
      <p:sp>
        <p:nvSpPr>
          <p:cNvPr id="23" name="Text 20"/>
          <p:cNvSpPr/>
          <p:nvPr/>
        </p:nvSpPr>
        <p:spPr>
          <a:xfrm>
            <a:off x="781050" y="3278981"/>
            <a:ext cx="838200" cy="47625"/>
          </a:xfrm>
          <a:prstGeom prst="rect">
            <a:avLst/>
          </a:prstGeom>
          <a:noFill/>
          <a:ln/>
        </p:spPr>
        <p:txBody>
          <a:bodyPr wrap="square" lIns="0" tIns="0" rIns="0" bIns="0" rtlCol="0" anchor="t"/>
          <a:lstStyle/>
          <a:p>
            <a:pPr algn="ctr" indent="0" marL="0">
              <a:lnSpc>
                <a:spcPts val="862"/>
              </a:lnSpc>
              <a:buNone/>
            </a:pPr>
            <a:r>
              <a:rPr lang="en-US" sz="713" b="1" dirty="0">
                <a:solidFill>
                  <a:srgbClr val="4ADE80">
                    <a:alpha val="99000"/>
                  </a:srgbClr>
                </a:solidFill>
                <a:latin typeface="Inter" pitchFamily="34" charset="0"/>
                <a:ea typeface="Inter" pitchFamily="34" charset="-122"/>
                <a:cs typeface="Inter" pitchFamily="34" charset="-120"/>
              </a:rPr>
              <a:t>Grupo 7 (Usuarios)</a:t>
            </a:r>
            <a:endParaRPr lang="en-US" sz="713" dirty="0"/>
          </a:p>
        </p:txBody>
      </p:sp>
      <p:sp>
        <p:nvSpPr>
          <p:cNvPr id="24" name="Text 21"/>
          <p:cNvSpPr/>
          <p:nvPr/>
        </p:nvSpPr>
        <p:spPr>
          <a:xfrm>
            <a:off x="1790700" y="3219450"/>
            <a:ext cx="5619750" cy="47625"/>
          </a:xfrm>
          <a:prstGeom prst="rect">
            <a:avLst/>
          </a:prstGeom>
          <a:noFill/>
          <a:ln/>
        </p:spPr>
        <p:txBody>
          <a:bodyPr wrap="square" lIns="0" tIns="0" rIns="0" bIns="0" rtlCol="0" anchor="t"/>
          <a:lstStyle/>
          <a:p>
            <a:pPr algn="l" indent="0" marL="0">
              <a:lnSpc>
                <a:spcPts val="1211"/>
              </a:lnSpc>
              <a:buNone/>
            </a:pPr>
            <a:r>
              <a:rPr lang="en-US" sz="891" dirty="0">
                <a:solidFill>
                  <a:srgbClr val="FFFFFF">
                    <a:alpha val="99000"/>
                  </a:srgbClr>
                </a:solidFill>
                <a:latin typeface="Inter" pitchFamily="34" charset="0"/>
                <a:ea typeface="Inter" pitchFamily="34" charset="-122"/>
                <a:cs typeface="Inter" pitchFamily="34" charset="-120"/>
              </a:rPr>
              <a:t>Endpoint batch de perfiles. Con 120 alumnos, una llamada por fila son 120 viajes por el gateway para pintar una sola tabla (RF-NFR-03).</a:t>
            </a:r>
            <a:endParaRPr lang="en-US" sz="891" dirty="0"/>
          </a:p>
        </p:txBody>
      </p:sp>
      <p:sp>
        <p:nvSpPr>
          <p:cNvPr id="25" name="Text 22"/>
          <p:cNvSpPr/>
          <p:nvPr/>
        </p:nvSpPr>
        <p:spPr>
          <a:xfrm>
            <a:off x="7572375" y="3305175"/>
            <a:ext cx="771525" cy="47625"/>
          </a:xfrm>
          <a:prstGeom prst="rect">
            <a:avLst/>
          </a:prstGeom>
          <a:noFill/>
          <a:ln/>
        </p:spPr>
        <p:txBody>
          <a:bodyPr wrap="square" lIns="0" tIns="0" rIns="0" bIns="0" rtlCol="0" anchor="t"/>
          <a:lstStyle/>
          <a:p>
            <a:pPr algn="r"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SPRINT 1</a:t>
            </a:r>
            <a:endParaRPr lang="en-US" sz="641" dirty="0"/>
          </a:p>
        </p:txBody>
      </p:sp>
      <p:sp>
        <p:nvSpPr>
          <p:cNvPr id="26" name="Shape 23"/>
          <p:cNvSpPr/>
          <p:nvPr/>
        </p:nvSpPr>
        <p:spPr>
          <a:xfrm>
            <a:off x="666750" y="3705225"/>
            <a:ext cx="7810500" cy="561975"/>
          </a:xfrm>
          <a:prstGeom prst="roundRect">
            <a:avLst>
              <a:gd name="adj" fmla="val 26034"/>
            </a:avLst>
          </a:prstGeom>
          <a:solidFill>
            <a:srgbClr val="1B1D2F"/>
          </a:solidFill>
          <a:ln/>
        </p:spPr>
      </p:sp>
      <p:sp>
        <p:nvSpPr>
          <p:cNvPr id="27" name="Shape 24"/>
          <p:cNvSpPr/>
          <p:nvPr/>
        </p:nvSpPr>
        <p:spPr>
          <a:xfrm>
            <a:off x="800100" y="3881438"/>
            <a:ext cx="838200" cy="209550"/>
          </a:xfrm>
          <a:prstGeom prst="roundRect">
            <a:avLst>
              <a:gd name="adj" fmla="val 96000"/>
            </a:avLst>
          </a:prstGeom>
          <a:solidFill>
            <a:srgbClr val="37250B"/>
          </a:solidFill>
          <a:ln/>
        </p:spPr>
      </p:sp>
      <p:sp>
        <p:nvSpPr>
          <p:cNvPr id="28" name="Text 25"/>
          <p:cNvSpPr/>
          <p:nvPr/>
        </p:nvSpPr>
        <p:spPr>
          <a:xfrm>
            <a:off x="800100" y="3921919"/>
            <a:ext cx="838200" cy="47625"/>
          </a:xfrm>
          <a:prstGeom prst="rect">
            <a:avLst/>
          </a:prstGeom>
          <a:noFill/>
          <a:ln/>
        </p:spPr>
        <p:txBody>
          <a:bodyPr wrap="square" lIns="0" tIns="0" rIns="0" bIns="0" rtlCol="0" anchor="t"/>
          <a:lstStyle/>
          <a:p>
            <a:pPr algn="ctr" indent="0" marL="0">
              <a:lnSpc>
                <a:spcPts val="862"/>
              </a:lnSpc>
              <a:buNone/>
            </a:pPr>
            <a:r>
              <a:rPr lang="en-US" sz="713" b="1" dirty="0">
                <a:solidFill>
                  <a:srgbClr val="F5A623">
                    <a:alpha val="99000"/>
                  </a:srgbClr>
                </a:solidFill>
                <a:latin typeface="Inter" pitchFamily="34" charset="0"/>
                <a:ea typeface="Inter" pitchFamily="34" charset="-122"/>
                <a:cs typeface="Inter" pitchFamily="34" charset="-120"/>
              </a:rPr>
              <a:t>Grupo 1 (Cursos)</a:t>
            </a:r>
            <a:endParaRPr lang="en-US" sz="713" dirty="0"/>
          </a:p>
        </p:txBody>
      </p:sp>
      <p:sp>
        <p:nvSpPr>
          <p:cNvPr id="29" name="Text 26"/>
          <p:cNvSpPr/>
          <p:nvPr/>
        </p:nvSpPr>
        <p:spPr>
          <a:xfrm>
            <a:off x="1790700" y="3829050"/>
            <a:ext cx="5619750" cy="47625"/>
          </a:xfrm>
          <a:prstGeom prst="rect">
            <a:avLst/>
          </a:prstGeom>
          <a:noFill/>
          <a:ln/>
        </p:spPr>
        <p:txBody>
          <a:bodyPr wrap="square" lIns="0" tIns="0" rIns="0" bIns="0" rtlCol="0" anchor="t"/>
          <a:lstStyle/>
          <a:p>
            <a:pPr algn="l" indent="0" marL="0">
              <a:lnSpc>
                <a:spcPts val="1211"/>
              </a:lnSpc>
              <a:buNone/>
            </a:pPr>
            <a:r>
              <a:rPr lang="en-US" sz="891" dirty="0">
                <a:solidFill>
                  <a:srgbClr val="FFFFFF">
                    <a:alpha val="99000"/>
                  </a:srgbClr>
                </a:solidFill>
                <a:latin typeface="Inter" pitchFamily="34" charset="0"/>
                <a:ea typeface="Inter" pitchFamily="34" charset="-122"/>
                <a:cs typeface="Inter" pitchFamily="34" charset="-120"/>
              </a:rPr>
              <a:t>Propiedad del template de roadmap, y confirmar que su consulta de cierre es una lectura rápida e idempotente, no una espera de la decisión del profesor.</a:t>
            </a:r>
            <a:endParaRPr lang="en-US" sz="891" dirty="0"/>
          </a:p>
        </p:txBody>
      </p:sp>
      <p:sp>
        <p:nvSpPr>
          <p:cNvPr id="30" name="Text 27"/>
          <p:cNvSpPr/>
          <p:nvPr/>
        </p:nvSpPr>
        <p:spPr>
          <a:xfrm>
            <a:off x="7572375" y="3914775"/>
            <a:ext cx="771525" cy="47625"/>
          </a:xfrm>
          <a:prstGeom prst="rect">
            <a:avLst/>
          </a:prstGeom>
          <a:noFill/>
          <a:ln/>
        </p:spPr>
        <p:txBody>
          <a:bodyPr wrap="square" lIns="0" tIns="0" rIns="0" bIns="0" rtlCol="0" anchor="t"/>
          <a:lstStyle/>
          <a:p>
            <a:pPr algn="r" indent="0" marL="0">
              <a:lnSpc>
                <a:spcPts val="776"/>
              </a:lnSpc>
              <a:buNone/>
            </a:pPr>
            <a:r>
              <a:rPr lang="en-US" sz="641" b="1" dirty="0">
                <a:solidFill>
                  <a:srgbClr val="9AA0B4">
                    <a:alpha val="99000"/>
                  </a:srgbClr>
                </a:solidFill>
                <a:latin typeface="Inter" pitchFamily="34" charset="0"/>
                <a:ea typeface="Inter" pitchFamily="34" charset="-122"/>
                <a:cs typeface="Inter" pitchFamily="34" charset="-120"/>
              </a:rPr>
              <a:t>SPRINT 1</a:t>
            </a:r>
            <a:endParaRPr lang="en-US" sz="641" dirty="0"/>
          </a:p>
        </p:txBody>
      </p:sp>
      <p:sp>
        <p:nvSpPr>
          <p:cNvPr id="31" name="Text 28"/>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32" name="Text 29"/>
          <p:cNvSpPr/>
          <p:nvPr/>
        </p:nvSpPr>
        <p:spPr>
          <a:xfrm>
            <a:off x="8286750" y="4705350"/>
            <a:ext cx="100013"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12</a:t>
            </a:r>
            <a:endParaRPr lang="en-US" sz="67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F1A"/>
        </a:solidFill>
      </p:bgPr>
    </p:bg>
    <p:spTree>
      <p:nvGrpSpPr>
        <p:cNvPr id="1" name=""/>
        <p:cNvGrpSpPr/>
        <p:nvPr/>
      </p:nvGrpSpPr>
      <p:grpSpPr>
        <a:xfrm>
          <a:off x="0" y="0"/>
          <a:ext cx="0" cy="0"/>
          <a:chOff x="0" y="0"/>
          <a:chExt cx="0" cy="0"/>
        </a:xfrm>
      </p:grpSpPr>
      <p:sp>
        <p:nvSpPr>
          <p:cNvPr id="3" name="Shape 0"/>
          <p:cNvSpPr/>
          <p:nvPr/>
        </p:nvSpPr>
        <p:spPr>
          <a:xfrm>
            <a:off x="476250" y="352425"/>
            <a:ext cx="28575" cy="495300"/>
          </a:xfrm>
          <a:prstGeom prst="roundRect">
            <a:avLst/>
          </a:prstGeom>
          <a:solidFill>
            <a:srgbClr val="6B5CE7"/>
          </a:solidFill>
          <a:ln/>
        </p:spPr>
      </p:sp>
      <p:sp>
        <p:nvSpPr>
          <p:cNvPr id="4" name="Text 1"/>
          <p:cNvSpPr/>
          <p:nvPr/>
        </p:nvSpPr>
        <p:spPr>
          <a:xfrm>
            <a:off x="666750" y="371475"/>
            <a:ext cx="1800225" cy="133350"/>
          </a:xfrm>
          <a:prstGeom prst="rect">
            <a:avLst/>
          </a:prstGeom>
          <a:noFill/>
          <a:ln/>
        </p:spPr>
        <p:txBody>
          <a:bodyPr wrap="square" lIns="0" tIns="0" rIns="0" bIns="0" rtlCol="0" anchor="t"/>
          <a:lstStyle/>
          <a:p>
            <a:pPr algn="l" indent="0" marL="0">
              <a:lnSpc>
                <a:spcPts val="992"/>
              </a:lnSpc>
              <a:buNone/>
            </a:pPr>
            <a:r>
              <a:rPr lang="en-US" sz="819" b="1" dirty="0">
                <a:solidFill>
                  <a:srgbClr val="4CD4D8">
                    <a:alpha val="99000"/>
                  </a:srgbClr>
                </a:solidFill>
                <a:latin typeface="Inter" pitchFamily="34" charset="0"/>
                <a:ea typeface="Inter" pitchFamily="34" charset="-122"/>
                <a:cs typeface="Inter" pitchFamily="34" charset="-120"/>
              </a:rPr>
              <a:t>PARA RESOLVER EN ESTA SESIÓN</a:t>
            </a:r>
            <a:endParaRPr lang="en-US" sz="819" dirty="0"/>
          </a:p>
        </p:txBody>
      </p:sp>
      <p:sp>
        <p:nvSpPr>
          <p:cNvPr id="5" name="Text 2"/>
          <p:cNvSpPr/>
          <p:nvPr/>
        </p:nvSpPr>
        <p:spPr>
          <a:xfrm>
            <a:off x="666750" y="542925"/>
            <a:ext cx="7715250" cy="47625"/>
          </a:xfrm>
          <a:prstGeom prst="rect">
            <a:avLst/>
          </a:prstGeom>
          <a:noFill/>
          <a:ln/>
        </p:spPr>
        <p:txBody>
          <a:bodyPr wrap="square" lIns="0" tIns="0" rIns="0" bIns="0" rtlCol="0" anchor="t"/>
          <a:lstStyle/>
          <a:p>
            <a:pPr algn="l" indent="0" marL="0">
              <a:lnSpc>
                <a:spcPts val="2351"/>
              </a:lnSpc>
              <a:buNone/>
            </a:pPr>
            <a:r>
              <a:rPr lang="en-US" sz="1995" b="1" dirty="0">
                <a:solidFill>
                  <a:srgbClr val="FFFFFF">
                    <a:alpha val="99000"/>
                  </a:srgbClr>
                </a:solidFill>
                <a:latin typeface="Inter" pitchFamily="34" charset="0"/>
                <a:ea typeface="Inter" pitchFamily="34" charset="-122"/>
                <a:cs typeface="Inter" pitchFamily="34" charset="-120"/>
              </a:rPr>
              <a:t>Seis puntos, con postura ya tomada</a:t>
            </a:r>
            <a:endParaRPr lang="en-US" sz="1995" dirty="0"/>
          </a:p>
        </p:txBody>
      </p:sp>
      <p:sp>
        <p:nvSpPr>
          <p:cNvPr id="6" name="Shape 3"/>
          <p:cNvSpPr/>
          <p:nvPr/>
        </p:nvSpPr>
        <p:spPr>
          <a:xfrm>
            <a:off x="666750" y="1266825"/>
            <a:ext cx="3810000" cy="904875"/>
          </a:xfrm>
          <a:prstGeom prst="roundRect">
            <a:avLst>
              <a:gd name="adj" fmla="val 16168"/>
            </a:avLst>
          </a:prstGeom>
          <a:solidFill>
            <a:srgbClr val="1B1D2F"/>
          </a:solidFill>
          <a:ln/>
        </p:spPr>
      </p:sp>
      <p:sp>
        <p:nvSpPr>
          <p:cNvPr id="7" name="Shape 4"/>
          <p:cNvSpPr/>
          <p:nvPr/>
        </p:nvSpPr>
        <p:spPr>
          <a:xfrm>
            <a:off x="800100" y="1400175"/>
            <a:ext cx="190500" cy="190500"/>
          </a:xfrm>
          <a:prstGeom prst="roundRect">
            <a:avLst>
              <a:gd name="adj" fmla="val 96000"/>
            </a:avLst>
          </a:prstGeom>
          <a:solidFill>
            <a:srgbClr val="262943"/>
          </a:solidFill>
          <a:ln/>
        </p:spPr>
      </p:sp>
      <p:sp>
        <p:nvSpPr>
          <p:cNvPr id="8" name="Text 5"/>
          <p:cNvSpPr/>
          <p:nvPr/>
        </p:nvSpPr>
        <p:spPr>
          <a:xfrm>
            <a:off x="800100" y="1443038"/>
            <a:ext cx="190500" cy="47625"/>
          </a:xfrm>
          <a:prstGeom prst="rect">
            <a:avLst/>
          </a:prstGeom>
          <a:noFill/>
          <a:ln/>
        </p:spPr>
        <p:txBody>
          <a:bodyPr wrap="square" lIns="0" tIns="0" rIns="0" bIns="0" rtlCol="0" anchor="t"/>
          <a:lstStyle/>
          <a:p>
            <a:pPr algn="ctr" indent="0" marL="0">
              <a:lnSpc>
                <a:spcPts val="862"/>
              </a:lnSpc>
              <a:buNone/>
            </a:pPr>
            <a:r>
              <a:rPr lang="en-US" sz="713" b="1" dirty="0">
                <a:solidFill>
                  <a:srgbClr val="F2545B">
                    <a:alpha val="99000"/>
                  </a:srgbClr>
                </a:solidFill>
                <a:latin typeface="Inter" pitchFamily="34" charset="0"/>
                <a:ea typeface="Inter" pitchFamily="34" charset="-122"/>
                <a:cs typeface="Inter" pitchFamily="34" charset="-120"/>
              </a:rPr>
              <a:t>1</a:t>
            </a:r>
            <a:endParaRPr lang="en-US" sz="713" dirty="0"/>
          </a:p>
        </p:txBody>
      </p:sp>
      <p:sp>
        <p:nvSpPr>
          <p:cNvPr id="9" name="Text 6"/>
          <p:cNvSpPr/>
          <p:nvPr/>
        </p:nvSpPr>
        <p:spPr>
          <a:xfrm>
            <a:off x="1066800" y="1419225"/>
            <a:ext cx="3238500" cy="47625"/>
          </a:xfrm>
          <a:prstGeom prst="rect">
            <a:avLst/>
          </a:prstGeom>
          <a:noFill/>
          <a:ln/>
        </p:spPr>
        <p:txBody>
          <a:bodyPr wrap="square" lIns="0" tIns="0" rIns="0" bIns="0" rtlCol="0" anchor="t"/>
          <a:lstStyle/>
          <a:p>
            <a:pPr algn="l" indent="0" marL="0">
              <a:lnSpc>
                <a:spcPts val="1140"/>
              </a:lnSpc>
              <a:buNone/>
            </a:pPr>
            <a:r>
              <a:rPr lang="en-US" sz="891" b="1" dirty="0">
                <a:solidFill>
                  <a:srgbClr val="FFFFFF">
                    <a:alpha val="99000"/>
                  </a:srgbClr>
                </a:solidFill>
                <a:latin typeface="Inter" pitchFamily="34" charset="0"/>
                <a:ea typeface="Inter" pitchFamily="34" charset="-122"/>
                <a:cs typeface="Inter" pitchFamily="34" charset="-120"/>
              </a:rPr>
              <a:t>¿El marketplace es producto o tooling?</a:t>
            </a:r>
            <a:endParaRPr lang="en-US" sz="891" dirty="0"/>
          </a:p>
        </p:txBody>
      </p:sp>
      <p:sp>
        <p:nvSpPr>
          <p:cNvPr id="10" name="Text 7"/>
          <p:cNvSpPr/>
          <p:nvPr/>
        </p:nvSpPr>
        <p:spPr>
          <a:xfrm>
            <a:off x="800100" y="1704975"/>
            <a:ext cx="354330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Cambia el dueño por completo. Va primero porque bloquea uno de los tres repartos.</a:t>
            </a:r>
            <a:endParaRPr lang="en-US" sz="713" dirty="0"/>
          </a:p>
        </p:txBody>
      </p:sp>
      <p:sp>
        <p:nvSpPr>
          <p:cNvPr id="11" name="Shape 8"/>
          <p:cNvSpPr/>
          <p:nvPr/>
        </p:nvSpPr>
        <p:spPr>
          <a:xfrm>
            <a:off x="4667250" y="1266825"/>
            <a:ext cx="3810000" cy="904875"/>
          </a:xfrm>
          <a:prstGeom prst="roundRect">
            <a:avLst>
              <a:gd name="adj" fmla="val 16168"/>
            </a:avLst>
          </a:prstGeom>
          <a:solidFill>
            <a:srgbClr val="1B1D2F"/>
          </a:solidFill>
          <a:ln/>
        </p:spPr>
      </p:sp>
      <p:sp>
        <p:nvSpPr>
          <p:cNvPr id="12" name="Shape 9"/>
          <p:cNvSpPr/>
          <p:nvPr/>
        </p:nvSpPr>
        <p:spPr>
          <a:xfrm>
            <a:off x="4800600" y="1400175"/>
            <a:ext cx="190500" cy="190500"/>
          </a:xfrm>
          <a:prstGeom prst="roundRect">
            <a:avLst>
              <a:gd name="adj" fmla="val 96000"/>
            </a:avLst>
          </a:prstGeom>
          <a:solidFill>
            <a:srgbClr val="262943"/>
          </a:solidFill>
          <a:ln/>
        </p:spPr>
      </p:sp>
      <p:sp>
        <p:nvSpPr>
          <p:cNvPr id="13" name="Text 10"/>
          <p:cNvSpPr/>
          <p:nvPr/>
        </p:nvSpPr>
        <p:spPr>
          <a:xfrm>
            <a:off x="4800600" y="1443038"/>
            <a:ext cx="190500" cy="47625"/>
          </a:xfrm>
          <a:prstGeom prst="rect">
            <a:avLst/>
          </a:prstGeom>
          <a:noFill/>
          <a:ln/>
        </p:spPr>
        <p:txBody>
          <a:bodyPr wrap="square" lIns="0" tIns="0" rIns="0" bIns="0" rtlCol="0" anchor="t"/>
          <a:lstStyle/>
          <a:p>
            <a:pPr algn="ctr" indent="0" marL="0">
              <a:lnSpc>
                <a:spcPts val="862"/>
              </a:lnSpc>
              <a:buNone/>
            </a:pPr>
            <a:r>
              <a:rPr lang="en-US" sz="713" b="1" dirty="0">
                <a:solidFill>
                  <a:srgbClr val="F5A623">
                    <a:alpha val="99000"/>
                  </a:srgbClr>
                </a:solidFill>
                <a:latin typeface="Inter" pitchFamily="34" charset="0"/>
                <a:ea typeface="Inter" pitchFamily="34" charset="-122"/>
                <a:cs typeface="Inter" pitchFamily="34" charset="-120"/>
              </a:rPr>
              <a:t>2</a:t>
            </a:r>
            <a:endParaRPr lang="en-US" sz="713" dirty="0"/>
          </a:p>
        </p:txBody>
      </p:sp>
      <p:sp>
        <p:nvSpPr>
          <p:cNvPr id="14" name="Text 11"/>
          <p:cNvSpPr/>
          <p:nvPr/>
        </p:nvSpPr>
        <p:spPr>
          <a:xfrm>
            <a:off x="5067300" y="1419225"/>
            <a:ext cx="3238500" cy="47625"/>
          </a:xfrm>
          <a:prstGeom prst="rect">
            <a:avLst/>
          </a:prstGeom>
          <a:noFill/>
          <a:ln/>
        </p:spPr>
        <p:txBody>
          <a:bodyPr wrap="square" lIns="0" tIns="0" rIns="0" bIns="0" rtlCol="0" anchor="t"/>
          <a:lstStyle/>
          <a:p>
            <a:pPr algn="l" indent="0" marL="0">
              <a:lnSpc>
                <a:spcPts val="1140"/>
              </a:lnSpc>
              <a:buNone/>
            </a:pPr>
            <a:r>
              <a:rPr lang="en-US" sz="891" b="1" dirty="0">
                <a:solidFill>
                  <a:srgbClr val="FFFFFF">
                    <a:alpha val="99000"/>
                  </a:srgbClr>
                </a:solidFill>
                <a:latin typeface="Inter" pitchFamily="34" charset="0"/>
                <a:ea typeface="Inter" pitchFamily="34" charset="-122"/>
                <a:cs typeface="Inter" pitchFamily="34" charset="-120"/>
              </a:rPr>
              <a:t>Desmatriculación a mitad de cuatrimestre</a:t>
            </a:r>
            <a:endParaRPr lang="en-US" sz="891" dirty="0"/>
          </a:p>
        </p:txBody>
      </p:sp>
      <p:sp>
        <p:nvSpPr>
          <p:cNvPr id="15" name="Text 12"/>
          <p:cNvSpPr/>
          <p:nvPr/>
        </p:nvSpPr>
        <p:spPr>
          <a:xfrm>
            <a:off x="4800600" y="1704975"/>
            <a:ext cx="354330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Postura: conservar el ledger y excluirlo del ranking desde la baja. Un alumno dado de baja cuenta para el umbral de 10 y desplaza los cortes P90/P10 de sus compañeros.</a:t>
            </a:r>
            <a:endParaRPr lang="en-US" sz="713" dirty="0"/>
          </a:p>
        </p:txBody>
      </p:sp>
      <p:sp>
        <p:nvSpPr>
          <p:cNvPr id="16" name="Shape 13"/>
          <p:cNvSpPr/>
          <p:nvPr/>
        </p:nvSpPr>
        <p:spPr>
          <a:xfrm>
            <a:off x="666750" y="2238375"/>
            <a:ext cx="3810000" cy="904875"/>
          </a:xfrm>
          <a:prstGeom prst="roundRect">
            <a:avLst>
              <a:gd name="adj" fmla="val 16168"/>
            </a:avLst>
          </a:prstGeom>
          <a:solidFill>
            <a:srgbClr val="1B1D2F"/>
          </a:solidFill>
          <a:ln/>
        </p:spPr>
      </p:sp>
      <p:sp>
        <p:nvSpPr>
          <p:cNvPr id="17" name="Shape 14"/>
          <p:cNvSpPr/>
          <p:nvPr/>
        </p:nvSpPr>
        <p:spPr>
          <a:xfrm>
            <a:off x="800100" y="2371725"/>
            <a:ext cx="190500" cy="190500"/>
          </a:xfrm>
          <a:prstGeom prst="roundRect">
            <a:avLst>
              <a:gd name="adj" fmla="val 96000"/>
            </a:avLst>
          </a:prstGeom>
          <a:solidFill>
            <a:srgbClr val="262943"/>
          </a:solidFill>
          <a:ln/>
        </p:spPr>
      </p:sp>
      <p:sp>
        <p:nvSpPr>
          <p:cNvPr id="18" name="Text 15"/>
          <p:cNvSpPr/>
          <p:nvPr/>
        </p:nvSpPr>
        <p:spPr>
          <a:xfrm>
            <a:off x="800100" y="2414588"/>
            <a:ext cx="190500" cy="47625"/>
          </a:xfrm>
          <a:prstGeom prst="rect">
            <a:avLst/>
          </a:prstGeom>
          <a:noFill/>
          <a:ln/>
        </p:spPr>
        <p:txBody>
          <a:bodyPr wrap="square" lIns="0" tIns="0" rIns="0" bIns="0" rtlCol="0" anchor="t"/>
          <a:lstStyle/>
          <a:p>
            <a:pPr algn="ctr" indent="0" marL="0">
              <a:lnSpc>
                <a:spcPts val="862"/>
              </a:lnSpc>
              <a:buNone/>
            </a:pPr>
            <a:r>
              <a:rPr lang="en-US" sz="713" b="1" dirty="0">
                <a:solidFill>
                  <a:srgbClr val="4CD4D8">
                    <a:alpha val="99000"/>
                  </a:srgbClr>
                </a:solidFill>
                <a:latin typeface="Inter" pitchFamily="34" charset="0"/>
                <a:ea typeface="Inter" pitchFamily="34" charset="-122"/>
                <a:cs typeface="Inter" pitchFamily="34" charset="-120"/>
              </a:rPr>
              <a:t>3</a:t>
            </a:r>
            <a:endParaRPr lang="en-US" sz="713" dirty="0"/>
          </a:p>
        </p:txBody>
      </p:sp>
      <p:sp>
        <p:nvSpPr>
          <p:cNvPr id="19" name="Text 16"/>
          <p:cNvSpPr/>
          <p:nvPr/>
        </p:nvSpPr>
        <p:spPr>
          <a:xfrm>
            <a:off x="1066800" y="2390775"/>
            <a:ext cx="3238500" cy="47625"/>
          </a:xfrm>
          <a:prstGeom prst="rect">
            <a:avLst/>
          </a:prstGeom>
          <a:noFill/>
          <a:ln/>
        </p:spPr>
        <p:txBody>
          <a:bodyPr wrap="square" lIns="0" tIns="0" rIns="0" bIns="0" rtlCol="0" anchor="t"/>
          <a:lstStyle/>
          <a:p>
            <a:pPr algn="l" indent="0" marL="0">
              <a:lnSpc>
                <a:spcPts val="1140"/>
              </a:lnSpc>
              <a:buNone/>
            </a:pPr>
            <a:r>
              <a:rPr lang="en-US" sz="891" b="1" dirty="0">
                <a:solidFill>
                  <a:srgbClr val="FFFFFF">
                    <a:alpha val="99000"/>
                  </a:srgbClr>
                </a:solidFill>
                <a:latin typeface="Inter" pitchFamily="34" charset="0"/>
                <a:ea typeface="Inter" pitchFamily="34" charset="-122"/>
                <a:cs typeface="Inter" pitchFamily="34" charset="-120"/>
              </a:rPr>
              <a:t>El rol responsable</a:t>
            </a:r>
            <a:endParaRPr lang="en-US" sz="891" dirty="0"/>
          </a:p>
        </p:txBody>
      </p:sp>
      <p:sp>
        <p:nvSpPr>
          <p:cNvPr id="20" name="Text 17"/>
          <p:cNvSpPr/>
          <p:nvPr/>
        </p:nvSpPr>
        <p:spPr>
          <a:xfrm>
            <a:off x="800100" y="2676525"/>
            <a:ext cx="354330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Aparece una sola vez, en el Grupo 07 (Usuarios) de la propuesta de arquitectura, y no está en el PRD. Bloquea nuestra matriz de autorización completa.</a:t>
            </a:r>
            <a:endParaRPr lang="en-US" sz="713" dirty="0"/>
          </a:p>
        </p:txBody>
      </p:sp>
      <p:sp>
        <p:nvSpPr>
          <p:cNvPr id="21" name="Shape 18"/>
          <p:cNvSpPr/>
          <p:nvPr/>
        </p:nvSpPr>
        <p:spPr>
          <a:xfrm>
            <a:off x="4667250" y="2238375"/>
            <a:ext cx="3810000" cy="904875"/>
          </a:xfrm>
          <a:prstGeom prst="roundRect">
            <a:avLst>
              <a:gd name="adj" fmla="val 16168"/>
            </a:avLst>
          </a:prstGeom>
          <a:solidFill>
            <a:srgbClr val="1B1D2F"/>
          </a:solidFill>
          <a:ln/>
        </p:spPr>
      </p:sp>
      <p:sp>
        <p:nvSpPr>
          <p:cNvPr id="22" name="Shape 19"/>
          <p:cNvSpPr/>
          <p:nvPr/>
        </p:nvSpPr>
        <p:spPr>
          <a:xfrm>
            <a:off x="4800600" y="2371725"/>
            <a:ext cx="190500" cy="190500"/>
          </a:xfrm>
          <a:prstGeom prst="roundRect">
            <a:avLst>
              <a:gd name="adj" fmla="val 96000"/>
            </a:avLst>
          </a:prstGeom>
          <a:solidFill>
            <a:srgbClr val="262943"/>
          </a:solidFill>
          <a:ln/>
        </p:spPr>
      </p:sp>
      <p:sp>
        <p:nvSpPr>
          <p:cNvPr id="23" name="Text 20"/>
          <p:cNvSpPr/>
          <p:nvPr/>
        </p:nvSpPr>
        <p:spPr>
          <a:xfrm>
            <a:off x="4800600" y="2414588"/>
            <a:ext cx="190500" cy="47625"/>
          </a:xfrm>
          <a:prstGeom prst="rect">
            <a:avLst/>
          </a:prstGeom>
          <a:noFill/>
          <a:ln/>
        </p:spPr>
        <p:txBody>
          <a:bodyPr wrap="square" lIns="0" tIns="0" rIns="0" bIns="0" rtlCol="0" anchor="t"/>
          <a:lstStyle/>
          <a:p>
            <a:pPr algn="ctr" indent="0" marL="0">
              <a:lnSpc>
                <a:spcPts val="862"/>
              </a:lnSpc>
              <a:buNone/>
            </a:pPr>
            <a:r>
              <a:rPr lang="en-US" sz="713" b="1" dirty="0">
                <a:solidFill>
                  <a:srgbClr val="4CD4D8">
                    <a:alpha val="99000"/>
                  </a:srgbClr>
                </a:solidFill>
                <a:latin typeface="Inter" pitchFamily="34" charset="0"/>
                <a:ea typeface="Inter" pitchFamily="34" charset="-122"/>
                <a:cs typeface="Inter" pitchFamily="34" charset="-120"/>
              </a:rPr>
              <a:t>4</a:t>
            </a:r>
            <a:endParaRPr lang="en-US" sz="713" dirty="0"/>
          </a:p>
        </p:txBody>
      </p:sp>
      <p:sp>
        <p:nvSpPr>
          <p:cNvPr id="24" name="Text 21"/>
          <p:cNvSpPr/>
          <p:nvPr/>
        </p:nvSpPr>
        <p:spPr>
          <a:xfrm>
            <a:off x="5067300" y="2390775"/>
            <a:ext cx="3238500" cy="47625"/>
          </a:xfrm>
          <a:prstGeom prst="rect">
            <a:avLst/>
          </a:prstGeom>
          <a:noFill/>
          <a:ln/>
        </p:spPr>
        <p:txBody>
          <a:bodyPr wrap="square" lIns="0" tIns="0" rIns="0" bIns="0" rtlCol="0" anchor="t"/>
          <a:lstStyle/>
          <a:p>
            <a:pPr algn="l" indent="0" marL="0">
              <a:lnSpc>
                <a:spcPts val="1140"/>
              </a:lnSpc>
              <a:buNone/>
            </a:pPr>
            <a:r>
              <a:rPr lang="en-US" sz="891" b="1" dirty="0">
                <a:solidFill>
                  <a:srgbClr val="FFFFFF">
                    <a:alpha val="99000"/>
                  </a:srgbClr>
                </a:solidFill>
                <a:latin typeface="Inter" pitchFamily="34" charset="0"/>
                <a:ea typeface="Inter" pitchFamily="34" charset="-122"/>
                <a:cs typeface="Inter" pitchFamily="34" charset="-120"/>
              </a:rPr>
              <a:t>Dónde se resuelve la autorización</a:t>
            </a:r>
            <a:endParaRPr lang="en-US" sz="891" dirty="0"/>
          </a:p>
        </p:txBody>
      </p:sp>
      <p:sp>
        <p:nvSpPr>
          <p:cNvPr id="25" name="Text 22"/>
          <p:cNvSpPr/>
          <p:nvPr/>
        </p:nvSpPr>
        <p:spPr>
          <a:xfrm>
            <a:off x="4800600" y="2676525"/>
            <a:ext cx="3543300" cy="47625"/>
          </a:xfrm>
          <a:prstGeom prst="rect">
            <a:avLst/>
          </a:prstGeom>
          <a:noFill/>
          <a:ln/>
        </p:spPr>
        <p:txBody>
          <a:bodyPr wrap="square" lIns="0" tIns="0" rIns="0" bIns="0" rtlCol="0" anchor="t"/>
          <a:lstStyle/>
          <a:p>
            <a:pPr algn="l" indent="0" marL="0">
              <a:lnSpc>
                <a:spcPts val="998"/>
              </a:lnSpc>
              <a:buNone/>
            </a:pPr>
            <a:r>
              <a:rPr lang="en-US" sz="713" dirty="0">
                <a:solidFill>
                  <a:srgbClr val="9AA0B4">
                    <a:alpha val="99000"/>
                  </a:srgbClr>
                </a:solidFill>
                <a:latin typeface="Inter" pitchFamily="34" charset="0"/>
                <a:ea typeface="Inter" pitchFamily="34" charset="-122"/>
                <a:cs typeface="Inter" pitchFamily="34" charset="-120"/>
              </a:rPr>
              <a:t>Validar no es autorizar (lámina 4.7). ¿Quién verifica que este profesor es profesor de esta cohorte? Impacta a los doce equipos.</a:t>
            </a:r>
            <a:endParaRPr lang="en-US" sz="713" dirty="0"/>
          </a:p>
        </p:txBody>
      </p:sp>
      <p:sp>
        <p:nvSpPr>
          <p:cNvPr id="26" name="Text 23"/>
          <p:cNvSpPr/>
          <p:nvPr/>
        </p:nvSpPr>
        <p:spPr>
          <a:xfrm>
            <a:off x="666750" y="4276725"/>
            <a:ext cx="7810500" cy="47625"/>
          </a:xfrm>
          <a:prstGeom prst="rect">
            <a:avLst/>
          </a:prstGeom>
          <a:noFill/>
          <a:ln/>
        </p:spPr>
        <p:txBody>
          <a:bodyPr wrap="square" lIns="0" tIns="0" rIns="0" bIns="0" rtlCol="0" anchor="t"/>
          <a:lstStyle/>
          <a:p>
            <a:pPr algn="l" indent="0" marL="0">
              <a:lnSpc>
                <a:spcPts val="1211"/>
              </a:lnSpc>
              <a:buNone/>
            </a:pPr>
            <a:r>
              <a:rPr lang="en-US" sz="891" dirty="0">
                <a:solidFill>
                  <a:srgbClr val="4CD4D8">
                    <a:alpha val="99000"/>
                  </a:srgbClr>
                </a:solidFill>
                <a:latin typeface="Inter" pitchFamily="34" charset="0"/>
                <a:ea typeface="Inter" pitchFamily="34" charset="-122"/>
                <a:cs typeface="Inter" pitchFamily="34" charset="-120"/>
              </a:rPr>
              <a:t>Las seis van con postura tomada, no como preguntas abiertas. Es lo que hace que se resuelvan en una sesión y no en tres.</a:t>
            </a:r>
            <a:endParaRPr lang="en-US" sz="891" dirty="0"/>
          </a:p>
        </p:txBody>
      </p:sp>
      <p:sp>
        <p:nvSpPr>
          <p:cNvPr id="27" name="Text 24"/>
          <p:cNvSpPr/>
          <p:nvPr/>
        </p:nvSpPr>
        <p:spPr>
          <a:xfrm>
            <a:off x="666750" y="4705350"/>
            <a:ext cx="1323975" cy="109538"/>
          </a:xfrm>
          <a:prstGeom prst="rect">
            <a:avLst/>
          </a:prstGeom>
          <a:noFill/>
          <a:ln/>
        </p:spPr>
        <p:txBody>
          <a:bodyPr wrap="square" lIns="0" tIns="0" rIns="0" bIns="0" rtlCol="0" anchor="t"/>
          <a:lstStyle/>
          <a:p>
            <a:pPr algn="l" indent="0" marL="0">
              <a:lnSpc>
                <a:spcPts val="819"/>
              </a:lnSpc>
              <a:buNone/>
            </a:pPr>
            <a:r>
              <a:rPr lang="en-US" sz="677" dirty="0">
                <a:solidFill>
                  <a:srgbClr val="9AA0B4">
                    <a:alpha val="99000"/>
                  </a:srgbClr>
                </a:solidFill>
                <a:latin typeface="Inter" pitchFamily="34" charset="0"/>
                <a:ea typeface="Inter" pitchFamily="34" charset="-122"/>
                <a:cs typeface="Inter" pitchFamily="34" charset="-120"/>
              </a:rPr>
              <a:t>Tema 10 · Roadmap y Progreso</a:t>
            </a:r>
            <a:endParaRPr lang="en-US" sz="677" dirty="0"/>
          </a:p>
        </p:txBody>
      </p:sp>
      <p:sp>
        <p:nvSpPr>
          <p:cNvPr id="28" name="Text 25"/>
          <p:cNvSpPr/>
          <p:nvPr/>
        </p:nvSpPr>
        <p:spPr>
          <a:xfrm>
            <a:off x="8286750" y="4705350"/>
            <a:ext cx="104775" cy="109538"/>
          </a:xfrm>
          <a:prstGeom prst="rect">
            <a:avLst/>
          </a:prstGeom>
          <a:noFill/>
          <a:ln/>
        </p:spPr>
        <p:txBody>
          <a:bodyPr wrap="square" lIns="0" tIns="0" rIns="0" bIns="0" rtlCol="0" anchor="t"/>
          <a:lstStyle/>
          <a:p>
            <a:pPr algn="l" indent="0" marL="0">
              <a:lnSpc>
                <a:spcPts val="819"/>
              </a:lnSpc>
              <a:buNone/>
            </a:pPr>
            <a:r>
              <a:rPr lang="en-US" sz="677" b="1" dirty="0">
                <a:solidFill>
                  <a:srgbClr val="9AA0B4">
                    <a:alpha val="99000"/>
                  </a:srgbClr>
                </a:solidFill>
                <a:latin typeface="Inter" pitchFamily="34" charset="0"/>
                <a:ea typeface="Inter" pitchFamily="34" charset="-122"/>
                <a:cs typeface="Inter" pitchFamily="34" charset="-120"/>
              </a:rPr>
              <a:t>13</a:t>
            </a:r>
            <a:endParaRPr lang="en-US" sz="677" dirty="0"/>
          </a:p>
        </p:txBody>
      </p:sp>
      <p:sp>
        <p:nvSpPr>
          <p:cNvPr id="29" name="Shape 26"/>
          <p:cNvSpPr/>
          <p:nvPr/>
        </p:nvSpPr>
        <p:spPr>
          <a:xfrm>
            <a:off x="666750" y="3209925"/>
            <a:ext cx="3810000" cy="904875"/>
          </a:xfrm>
          <a:prstGeom prst="roundRect">
            <a:avLst>
              <a:gd name="adj" fmla="val 16168"/>
            </a:avLst>
          </a:prstGeom>
          <a:solidFill>
            <a:srgbClr val="1B1D2F"/>
          </a:solidFill>
          <a:ln/>
        </p:spPr>
      </p:sp>
      <p:sp>
        <p:nvSpPr>
          <p:cNvPr id="30" name="Shape 27"/>
          <p:cNvSpPr/>
          <p:nvPr/>
        </p:nvSpPr>
        <p:spPr>
          <a:xfrm>
            <a:off x="800100" y="3343275"/>
            <a:ext cx="190500" cy="190500"/>
          </a:xfrm>
          <a:prstGeom prst="roundRect">
            <a:avLst>
              <a:gd name="adj" fmla="val 96000"/>
            </a:avLst>
          </a:prstGeom>
          <a:solidFill>
            <a:srgbClr val="262943"/>
          </a:solidFill>
          <a:ln/>
        </p:spPr>
      </p:sp>
      <p:sp>
        <p:nvSpPr>
          <p:cNvPr id="31" name="Text 28"/>
          <p:cNvSpPr/>
          <p:nvPr/>
        </p:nvSpPr>
        <p:spPr>
          <a:xfrm>
            <a:off x="800100" y="3386138"/>
            <a:ext cx="190500" cy="47625"/>
          </a:xfrm>
          <a:prstGeom prst="rect">
            <a:avLst/>
          </a:prstGeom>
          <a:noFill/>
          <a:ln/>
        </p:spPr>
        <p:txBody>
          <a:bodyPr wrap="square" lIns="0" tIns="0" rIns="0" bIns="0" rtlCol="0" anchor="t"/>
          <a:lstStyle/>
          <a:p>
            <a:pPr algn="ctr" indent="0" marL="0">
              <a:lnSpc>
                <a:spcPts val="862"/>
              </a:lnSpc>
              <a:buNone/>
            </a:pPr>
            <a:r>
              <a:rPr lang="en-US" sz="713" b="1" dirty="0">
                <a:solidFill>
                  <a:srgbClr val="4ADE80">
                    <a:alpha val="99000"/>
                  </a:srgbClr>
                </a:solidFill>
                <a:latin typeface="Inter" pitchFamily="34" charset="0"/>
                <a:ea typeface="Inter" pitchFamily="34" charset="-122"/>
                <a:cs typeface="Inter" pitchFamily="34" charset="-120"/>
              </a:rPr>
              <a:t>5</a:t>
            </a:r>
            <a:endParaRPr lang="en-US" sz="713" dirty="0"/>
          </a:p>
        </p:txBody>
      </p:sp>
      <p:sp>
        <p:nvSpPr>
          <p:cNvPr id="32" name="Text 29"/>
          <p:cNvSpPr/>
          <p:nvPr/>
        </p:nvSpPr>
        <p:spPr>
          <a:xfrm>
            <a:off x="1066800" y="3362325"/>
            <a:ext cx="3238500" cy="47625"/>
          </a:xfrm>
          <a:prstGeom prst="rect">
            <a:avLst/>
          </a:prstGeom>
          <a:noFill/>
          <a:ln/>
        </p:spPr>
        <p:txBody>
          <a:bodyPr wrap="square" lIns="0" tIns="0" rIns="0" bIns="0" rtlCol="0" anchor="t"/>
          <a:lstStyle/>
          <a:p>
            <a:pPr algn="l" indent="0" marL="0">
              <a:lnSpc>
                <a:spcPts val="1140"/>
              </a:lnSpc>
              <a:buNone/>
            </a:pPr>
            <a:r>
              <a:rPr lang="en-US" sz="891" b="1" dirty="0">
                <a:solidFill>
                  <a:srgbClr val="FFFFFF">
                    <a:alpha val="99000"/>
                  </a:srgbClr>
                </a:solidFill>
                <a:latin typeface="Inter" pitchFamily="34" charset="0"/>
                <a:ea typeface="Inter" pitchFamily="34" charset="-122"/>
                <a:cs typeface="Inter" pitchFamily="34" charset="-120"/>
              </a:rPr>
              <a:t>Balance de vidas: dos preguntas al PO</a:t>
            </a:r>
            <a:endParaRPr lang="en-US" sz="891" dirty="0"/>
          </a:p>
        </p:txBody>
      </p:sp>
      <p:sp>
        <p:nvSpPr>
          <p:cNvPr id="33" name="Text 30"/>
          <p:cNvSpPr/>
          <p:nvPr/>
        </p:nvSpPr>
        <p:spPr>
          <a:xfrm>
            <a:off x="800100" y="3648075"/>
            <a:ext cx="3543300"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El bucle 0 vidas → recuperación → mismo nodo → 0 vidas otra vez. Y si el consumo de vidas aplica también a los nodos opcionales: RF-DES-07 no distingue, pero penalizar la exploración es lo contrario de lo que busca la gamificación.</a:t>
            </a:r>
            <a:endParaRPr lang="en-US" sz="677" dirty="0"/>
          </a:p>
        </p:txBody>
      </p:sp>
      <p:sp>
        <p:nvSpPr>
          <p:cNvPr id="34" name="Shape 31"/>
          <p:cNvSpPr/>
          <p:nvPr/>
        </p:nvSpPr>
        <p:spPr>
          <a:xfrm>
            <a:off x="4667250" y="3209925"/>
            <a:ext cx="3810000" cy="904875"/>
          </a:xfrm>
          <a:prstGeom prst="roundRect">
            <a:avLst>
              <a:gd name="adj" fmla="val 16168"/>
            </a:avLst>
          </a:prstGeom>
          <a:solidFill>
            <a:srgbClr val="1B1D2F"/>
          </a:solidFill>
          <a:ln/>
        </p:spPr>
      </p:sp>
      <p:sp>
        <p:nvSpPr>
          <p:cNvPr id="35" name="Shape 32"/>
          <p:cNvSpPr/>
          <p:nvPr/>
        </p:nvSpPr>
        <p:spPr>
          <a:xfrm>
            <a:off x="4800600" y="3343275"/>
            <a:ext cx="190500" cy="190500"/>
          </a:xfrm>
          <a:prstGeom prst="roundRect">
            <a:avLst>
              <a:gd name="adj" fmla="val 96000"/>
            </a:avLst>
          </a:prstGeom>
          <a:solidFill>
            <a:srgbClr val="262943"/>
          </a:solidFill>
          <a:ln/>
        </p:spPr>
      </p:sp>
      <p:sp>
        <p:nvSpPr>
          <p:cNvPr id="36" name="Text 33"/>
          <p:cNvSpPr/>
          <p:nvPr/>
        </p:nvSpPr>
        <p:spPr>
          <a:xfrm>
            <a:off x="4800600" y="3386138"/>
            <a:ext cx="190500" cy="47625"/>
          </a:xfrm>
          <a:prstGeom prst="rect">
            <a:avLst/>
          </a:prstGeom>
          <a:noFill/>
          <a:ln/>
        </p:spPr>
        <p:txBody>
          <a:bodyPr wrap="square" lIns="0" tIns="0" rIns="0" bIns="0" rtlCol="0" anchor="t"/>
          <a:lstStyle/>
          <a:p>
            <a:pPr algn="ctr" indent="0" marL="0">
              <a:lnSpc>
                <a:spcPts val="862"/>
              </a:lnSpc>
              <a:buNone/>
            </a:pPr>
            <a:r>
              <a:rPr lang="en-US" sz="713" b="1" dirty="0">
                <a:solidFill>
                  <a:srgbClr val="F5A623">
                    <a:alpha val="99000"/>
                  </a:srgbClr>
                </a:solidFill>
                <a:latin typeface="Inter" pitchFamily="34" charset="0"/>
                <a:ea typeface="Inter" pitchFamily="34" charset="-122"/>
                <a:cs typeface="Inter" pitchFamily="34" charset="-120"/>
              </a:rPr>
              <a:t>6</a:t>
            </a:r>
            <a:endParaRPr lang="en-US" sz="713" dirty="0"/>
          </a:p>
        </p:txBody>
      </p:sp>
      <p:sp>
        <p:nvSpPr>
          <p:cNvPr id="37" name="Text 34"/>
          <p:cNvSpPr/>
          <p:nvPr/>
        </p:nvSpPr>
        <p:spPr>
          <a:xfrm>
            <a:off x="5067300" y="3362325"/>
            <a:ext cx="3238500" cy="47625"/>
          </a:xfrm>
          <a:prstGeom prst="rect">
            <a:avLst/>
          </a:prstGeom>
          <a:noFill/>
          <a:ln/>
        </p:spPr>
        <p:txBody>
          <a:bodyPr wrap="square" lIns="0" tIns="0" rIns="0" bIns="0" rtlCol="0" anchor="t"/>
          <a:lstStyle/>
          <a:p>
            <a:pPr algn="l" indent="0" marL="0">
              <a:lnSpc>
                <a:spcPts val="1140"/>
              </a:lnSpc>
              <a:buNone/>
            </a:pPr>
            <a:r>
              <a:rPr lang="en-US" sz="891" b="1" dirty="0">
                <a:solidFill>
                  <a:srgbClr val="FFFFFF">
                    <a:alpha val="99000"/>
                  </a:srgbClr>
                </a:solidFill>
                <a:latin typeface="Inter" pitchFamily="34" charset="0"/>
                <a:ea typeface="Inter" pitchFamily="34" charset="-122"/>
                <a:cs typeface="Inter" pitchFamily="34" charset="-120"/>
              </a:rPr>
              <a:t>Insignias y catálogos: ¿de quién son?</a:t>
            </a:r>
            <a:endParaRPr lang="en-US" sz="891" dirty="0"/>
          </a:p>
        </p:txBody>
      </p:sp>
      <p:sp>
        <p:nvSpPr>
          <p:cNvPr id="38" name="Text 35"/>
          <p:cNvSpPr/>
          <p:nvPr/>
        </p:nvSpPr>
        <p:spPr>
          <a:xfrm>
            <a:off x="4800600" y="3648075"/>
            <a:ext cx="3543300" cy="47625"/>
          </a:xfrm>
          <a:prstGeom prst="rect">
            <a:avLst/>
          </a:prstGeom>
          <a:noFill/>
          <a:ln/>
        </p:spPr>
        <p:txBody>
          <a:bodyPr wrap="square" lIns="0" tIns="0" rIns="0" bIns="0" rtlCol="0" anchor="t"/>
          <a:lstStyle/>
          <a:p>
            <a:pPr algn="l" indent="0" marL="0">
              <a:lnSpc>
                <a:spcPts val="926"/>
              </a:lnSpc>
              <a:buNone/>
            </a:pPr>
            <a:r>
              <a:rPr lang="en-US" sz="677" dirty="0">
                <a:solidFill>
                  <a:srgbClr val="9AA0B4">
                    <a:alpha val="99000"/>
                  </a:srgbClr>
                </a:solidFill>
                <a:latin typeface="Inter" pitchFamily="34" charset="0"/>
                <a:ea typeface="Inter" pitchFamily="34" charset="-122"/>
                <a:cs typeface="Inter" pitchFamily="34" charset="-120"/>
              </a:rPr>
              <a:t>Quién define la regla de otorgamiento de insignias y quién emite el evento. Y el dueño de los catálogos de templates de roadmap y de avatares, que rozan a Cursos, Identidad y Mercado a la vez.</a:t>
            </a:r>
            <a:endParaRPr lang="en-US" sz="67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2026-09-04T19:05:54Z</dcterms:created>
  <dcterms:modified xsi:type="dcterms:W3CDTF">2026-09-04T19:05:54Z</dcterms:modified>
</cp:coreProperties>
</file>